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345" r:id="rId3"/>
    <p:sldId id="346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2746"/>
  </p:normalViewPr>
  <p:slideViewPr>
    <p:cSldViewPr snapToGrid="0" snapToObjects="1">
      <p:cViewPr varScale="1">
        <p:scale>
          <a:sx n="101" d="100"/>
          <a:sy n="101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0E4E74-126E-4EA7-8DC8-4A5570DB4306}" type="doc">
      <dgm:prSet loTypeId="urn:microsoft.com/office/officeart/2005/8/layout/arrow5" loCatId="relationship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28EFA7-25ED-4A50-97E0-CF14E6795A5F}">
      <dgm:prSet/>
      <dgm:spPr/>
      <dgm:t>
        <a:bodyPr/>
        <a:lstStyle/>
        <a:p>
          <a:r>
            <a:rPr lang="en-US"/>
            <a:t>Every </a:t>
          </a:r>
          <a:r>
            <a:rPr lang="en-US" u="sng"/>
            <a:t>phenotype</a:t>
          </a:r>
          <a:r>
            <a:rPr lang="en-US"/>
            <a:t> is the product of an interaction between </a:t>
          </a:r>
          <a:r>
            <a:rPr lang="en-US" u="sng"/>
            <a:t>genotype</a:t>
          </a:r>
          <a:r>
            <a:rPr lang="en-US"/>
            <a:t> (genetic variant) and </a:t>
          </a:r>
          <a:r>
            <a:rPr lang="en-US" u="sng"/>
            <a:t>environment</a:t>
          </a:r>
          <a:endParaRPr lang="en-US"/>
        </a:p>
      </dgm:t>
    </dgm:pt>
    <dgm:pt modelId="{C1E6F308-68AF-475A-A426-B6C95513379C}" type="parTrans" cxnId="{9579F338-02DD-4F76-BEC9-23E980578C24}">
      <dgm:prSet/>
      <dgm:spPr/>
      <dgm:t>
        <a:bodyPr/>
        <a:lstStyle/>
        <a:p>
          <a:endParaRPr lang="en-US"/>
        </a:p>
      </dgm:t>
    </dgm:pt>
    <dgm:pt modelId="{1F986BD8-B6ED-4082-9C2A-A768933D45C7}" type="sibTrans" cxnId="{9579F338-02DD-4F76-BEC9-23E980578C24}">
      <dgm:prSet/>
      <dgm:spPr/>
      <dgm:t>
        <a:bodyPr/>
        <a:lstStyle/>
        <a:p>
          <a:endParaRPr lang="en-US"/>
        </a:p>
      </dgm:t>
    </dgm:pt>
    <dgm:pt modelId="{487C02C1-19AF-4A70-8E25-02AD9D62C1BD}">
      <dgm:prSet/>
      <dgm:spPr/>
      <dgm:t>
        <a:bodyPr/>
        <a:lstStyle/>
        <a:p>
          <a:r>
            <a:rPr lang="en-US" u="sng"/>
            <a:t>G x E = P</a:t>
          </a:r>
          <a:endParaRPr lang="en-US"/>
        </a:p>
      </dgm:t>
    </dgm:pt>
    <dgm:pt modelId="{9349D982-AFB4-4004-95DE-2C5CC8AFED98}" type="parTrans" cxnId="{17E50ED4-C411-4AD4-B6ED-5462BBFA01AC}">
      <dgm:prSet/>
      <dgm:spPr/>
      <dgm:t>
        <a:bodyPr/>
        <a:lstStyle/>
        <a:p>
          <a:endParaRPr lang="en-US"/>
        </a:p>
      </dgm:t>
    </dgm:pt>
    <dgm:pt modelId="{75F50BCE-1863-4D50-B5A3-ED57229A8565}" type="sibTrans" cxnId="{17E50ED4-C411-4AD4-B6ED-5462BBFA01AC}">
      <dgm:prSet/>
      <dgm:spPr/>
      <dgm:t>
        <a:bodyPr/>
        <a:lstStyle/>
        <a:p>
          <a:endParaRPr lang="en-US"/>
        </a:p>
      </dgm:t>
    </dgm:pt>
    <dgm:pt modelId="{505F4690-B631-634D-B6C3-AC246F4C243A}" type="pres">
      <dgm:prSet presAssocID="{1D0E4E74-126E-4EA7-8DC8-4A5570DB4306}" presName="diagram" presStyleCnt="0">
        <dgm:presLayoutVars>
          <dgm:dir/>
          <dgm:resizeHandles val="exact"/>
        </dgm:presLayoutVars>
      </dgm:prSet>
      <dgm:spPr/>
    </dgm:pt>
    <dgm:pt modelId="{7E27A1C4-4220-354B-988F-E3A653935A75}" type="pres">
      <dgm:prSet presAssocID="{D528EFA7-25ED-4A50-97E0-CF14E6795A5F}" presName="arrow" presStyleLbl="node1" presStyleIdx="0" presStyleCnt="2">
        <dgm:presLayoutVars>
          <dgm:bulletEnabled val="1"/>
        </dgm:presLayoutVars>
      </dgm:prSet>
      <dgm:spPr/>
    </dgm:pt>
    <dgm:pt modelId="{39EF722A-F2DA-C643-9335-54AF51D9AF69}" type="pres">
      <dgm:prSet presAssocID="{487C02C1-19AF-4A70-8E25-02AD9D62C1BD}" presName="arrow" presStyleLbl="node1" presStyleIdx="1" presStyleCnt="2">
        <dgm:presLayoutVars>
          <dgm:bulletEnabled val="1"/>
        </dgm:presLayoutVars>
      </dgm:prSet>
      <dgm:spPr/>
    </dgm:pt>
  </dgm:ptLst>
  <dgm:cxnLst>
    <dgm:cxn modelId="{3CA5AC22-9E08-E34F-AE9E-AD7A27069BD9}" type="presOf" srcId="{487C02C1-19AF-4A70-8E25-02AD9D62C1BD}" destId="{39EF722A-F2DA-C643-9335-54AF51D9AF69}" srcOrd="0" destOrd="0" presId="urn:microsoft.com/office/officeart/2005/8/layout/arrow5"/>
    <dgm:cxn modelId="{9579F338-02DD-4F76-BEC9-23E980578C24}" srcId="{1D0E4E74-126E-4EA7-8DC8-4A5570DB4306}" destId="{D528EFA7-25ED-4A50-97E0-CF14E6795A5F}" srcOrd="0" destOrd="0" parTransId="{C1E6F308-68AF-475A-A426-B6C95513379C}" sibTransId="{1F986BD8-B6ED-4082-9C2A-A768933D45C7}"/>
    <dgm:cxn modelId="{5A9CE4C7-8F8A-9B44-964B-644A2138B69B}" type="presOf" srcId="{1D0E4E74-126E-4EA7-8DC8-4A5570DB4306}" destId="{505F4690-B631-634D-B6C3-AC246F4C243A}" srcOrd="0" destOrd="0" presId="urn:microsoft.com/office/officeart/2005/8/layout/arrow5"/>
    <dgm:cxn modelId="{17E50ED4-C411-4AD4-B6ED-5462BBFA01AC}" srcId="{1D0E4E74-126E-4EA7-8DC8-4A5570DB4306}" destId="{487C02C1-19AF-4A70-8E25-02AD9D62C1BD}" srcOrd="1" destOrd="0" parTransId="{9349D982-AFB4-4004-95DE-2C5CC8AFED98}" sibTransId="{75F50BCE-1863-4D50-B5A3-ED57229A8565}"/>
    <dgm:cxn modelId="{4F86ADD9-321F-EC41-AB44-FD58AEDF658C}" type="presOf" srcId="{D528EFA7-25ED-4A50-97E0-CF14E6795A5F}" destId="{7E27A1C4-4220-354B-988F-E3A653935A75}" srcOrd="0" destOrd="0" presId="urn:microsoft.com/office/officeart/2005/8/layout/arrow5"/>
    <dgm:cxn modelId="{09665A4D-0824-074E-BA21-3827C0AF2F7E}" type="presParOf" srcId="{505F4690-B631-634D-B6C3-AC246F4C243A}" destId="{7E27A1C4-4220-354B-988F-E3A653935A75}" srcOrd="0" destOrd="0" presId="urn:microsoft.com/office/officeart/2005/8/layout/arrow5"/>
    <dgm:cxn modelId="{AED5FAE3-7132-FB42-B5A5-D56F1529C7E2}" type="presParOf" srcId="{505F4690-B631-634D-B6C3-AC246F4C243A}" destId="{39EF722A-F2DA-C643-9335-54AF51D9AF69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46AE8C-9C03-4B26-B815-7B579803991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DC18B48-DE29-44D1-9DFA-8BF11318FB32}">
      <dgm:prSet/>
      <dgm:spPr/>
      <dgm:t>
        <a:bodyPr/>
        <a:lstStyle/>
        <a:p>
          <a:r>
            <a:rPr lang="en-US" dirty="0"/>
            <a:t>Gene</a:t>
          </a:r>
        </a:p>
      </dgm:t>
    </dgm:pt>
    <dgm:pt modelId="{78886C39-EDED-47C1-9DD3-3BD3F58CD081}" type="parTrans" cxnId="{87EF8345-2919-482E-8737-151D847827D8}">
      <dgm:prSet/>
      <dgm:spPr/>
      <dgm:t>
        <a:bodyPr/>
        <a:lstStyle/>
        <a:p>
          <a:endParaRPr lang="en-US"/>
        </a:p>
      </dgm:t>
    </dgm:pt>
    <dgm:pt modelId="{DA79B498-8D9A-4F0E-A03B-96A188FBBB88}" type="sibTrans" cxnId="{87EF8345-2919-482E-8737-151D847827D8}">
      <dgm:prSet/>
      <dgm:spPr/>
      <dgm:t>
        <a:bodyPr/>
        <a:lstStyle/>
        <a:p>
          <a:endParaRPr lang="en-US"/>
        </a:p>
      </dgm:t>
    </dgm:pt>
    <dgm:pt modelId="{A7ECEE62-F15C-4348-883C-C43618A61DC0}">
      <dgm:prSet/>
      <dgm:spPr/>
      <dgm:t>
        <a:bodyPr/>
        <a:lstStyle/>
        <a:p>
          <a:r>
            <a:rPr lang="en-US"/>
            <a:t>Somatic cell lineage</a:t>
          </a:r>
        </a:p>
      </dgm:t>
    </dgm:pt>
    <dgm:pt modelId="{14FF55E6-2151-4357-8182-BDD5353382C3}" type="parTrans" cxnId="{ED9315E8-AAC8-4C76-8CE7-DED65D6C6BBC}">
      <dgm:prSet/>
      <dgm:spPr/>
      <dgm:t>
        <a:bodyPr/>
        <a:lstStyle/>
        <a:p>
          <a:endParaRPr lang="en-US"/>
        </a:p>
      </dgm:t>
    </dgm:pt>
    <dgm:pt modelId="{C7F9FBFD-F02C-44F9-9B28-41EC6EF2B1F7}" type="sibTrans" cxnId="{ED9315E8-AAC8-4C76-8CE7-DED65D6C6BBC}">
      <dgm:prSet/>
      <dgm:spPr/>
      <dgm:t>
        <a:bodyPr/>
        <a:lstStyle/>
        <a:p>
          <a:endParaRPr lang="en-US"/>
        </a:p>
      </dgm:t>
    </dgm:pt>
    <dgm:pt modelId="{E1276228-00D3-4472-B947-7BBB7D34F231}">
      <dgm:prSet/>
      <dgm:spPr/>
      <dgm:t>
        <a:bodyPr/>
        <a:lstStyle/>
        <a:p>
          <a:r>
            <a:rPr lang="en-US"/>
            <a:t>Individual organism</a:t>
          </a:r>
        </a:p>
      </dgm:t>
    </dgm:pt>
    <dgm:pt modelId="{2DAFA38A-744C-4838-A468-F370F8EC1ABA}" type="parTrans" cxnId="{7D6AB177-783E-4827-91F9-889578B8101C}">
      <dgm:prSet/>
      <dgm:spPr/>
      <dgm:t>
        <a:bodyPr/>
        <a:lstStyle/>
        <a:p>
          <a:endParaRPr lang="en-US"/>
        </a:p>
      </dgm:t>
    </dgm:pt>
    <dgm:pt modelId="{4469718D-06A4-4137-A3FB-977243010A68}" type="sibTrans" cxnId="{7D6AB177-783E-4827-91F9-889578B8101C}">
      <dgm:prSet/>
      <dgm:spPr/>
      <dgm:t>
        <a:bodyPr/>
        <a:lstStyle/>
        <a:p>
          <a:endParaRPr lang="en-US"/>
        </a:p>
      </dgm:t>
    </dgm:pt>
    <dgm:pt modelId="{13DFD86E-8661-4DE3-B3F8-6BD0B723B7F9}">
      <dgm:prSet/>
      <dgm:spPr/>
      <dgm:t>
        <a:bodyPr/>
        <a:lstStyle/>
        <a:p>
          <a:r>
            <a:rPr lang="en-US"/>
            <a:t>Group</a:t>
          </a:r>
        </a:p>
      </dgm:t>
    </dgm:pt>
    <dgm:pt modelId="{632D27B1-8A18-4F7C-B8B4-A26FBDC845F5}" type="parTrans" cxnId="{CF93F117-147E-490C-8406-E7EA7C69B5E7}">
      <dgm:prSet/>
      <dgm:spPr/>
      <dgm:t>
        <a:bodyPr/>
        <a:lstStyle/>
        <a:p>
          <a:endParaRPr lang="en-US"/>
        </a:p>
      </dgm:t>
    </dgm:pt>
    <dgm:pt modelId="{1E9DA751-8210-406D-80F1-78013FF3CC38}" type="sibTrans" cxnId="{CF93F117-147E-490C-8406-E7EA7C69B5E7}">
      <dgm:prSet/>
      <dgm:spPr/>
      <dgm:t>
        <a:bodyPr/>
        <a:lstStyle/>
        <a:p>
          <a:endParaRPr lang="en-US"/>
        </a:p>
      </dgm:t>
    </dgm:pt>
    <dgm:pt modelId="{47318713-872D-41BB-BAE8-F6A164CB3A1A}">
      <dgm:prSet/>
      <dgm:spPr/>
      <dgm:t>
        <a:bodyPr/>
        <a:lstStyle/>
        <a:p>
          <a:r>
            <a:rPr lang="en-US"/>
            <a:t>Species</a:t>
          </a:r>
        </a:p>
      </dgm:t>
    </dgm:pt>
    <dgm:pt modelId="{B9837969-F809-4396-8F2E-DF5B2F4B6DBD}" type="parTrans" cxnId="{9E0E016D-E3B9-4B22-924E-F1F4CDD19352}">
      <dgm:prSet/>
      <dgm:spPr/>
      <dgm:t>
        <a:bodyPr/>
        <a:lstStyle/>
        <a:p>
          <a:endParaRPr lang="en-US"/>
        </a:p>
      </dgm:t>
    </dgm:pt>
    <dgm:pt modelId="{9D3D59DE-CB1E-4378-B945-FBF08F489CDB}" type="sibTrans" cxnId="{9E0E016D-E3B9-4B22-924E-F1F4CDD19352}">
      <dgm:prSet/>
      <dgm:spPr/>
      <dgm:t>
        <a:bodyPr/>
        <a:lstStyle/>
        <a:p>
          <a:endParaRPr lang="en-US"/>
        </a:p>
      </dgm:t>
    </dgm:pt>
    <dgm:pt modelId="{838A4622-ED54-734E-A140-BFB7A0E895EC}" type="pres">
      <dgm:prSet presAssocID="{D246AE8C-9C03-4B26-B815-7B579803991E}" presName="vert0" presStyleCnt="0">
        <dgm:presLayoutVars>
          <dgm:dir/>
          <dgm:animOne val="branch"/>
          <dgm:animLvl val="lvl"/>
        </dgm:presLayoutVars>
      </dgm:prSet>
      <dgm:spPr/>
    </dgm:pt>
    <dgm:pt modelId="{D73D27E6-E6BA-294B-B08D-0B3EF8D1F29A}" type="pres">
      <dgm:prSet presAssocID="{FDC18B48-DE29-44D1-9DFA-8BF11318FB32}" presName="thickLine" presStyleLbl="alignNode1" presStyleIdx="0" presStyleCnt="5"/>
      <dgm:spPr/>
    </dgm:pt>
    <dgm:pt modelId="{8AEF4059-347B-6E40-A19A-9798C5EAE578}" type="pres">
      <dgm:prSet presAssocID="{FDC18B48-DE29-44D1-9DFA-8BF11318FB32}" presName="horz1" presStyleCnt="0"/>
      <dgm:spPr/>
    </dgm:pt>
    <dgm:pt modelId="{0481AB04-FE35-CC41-8EE0-5FF937F05A31}" type="pres">
      <dgm:prSet presAssocID="{FDC18B48-DE29-44D1-9DFA-8BF11318FB32}" presName="tx1" presStyleLbl="revTx" presStyleIdx="0" presStyleCnt="5"/>
      <dgm:spPr/>
    </dgm:pt>
    <dgm:pt modelId="{53140B0F-4413-7145-8B9C-402085D7FE78}" type="pres">
      <dgm:prSet presAssocID="{FDC18B48-DE29-44D1-9DFA-8BF11318FB32}" presName="vert1" presStyleCnt="0"/>
      <dgm:spPr/>
    </dgm:pt>
    <dgm:pt modelId="{7D153C1D-EE88-3049-B6CA-545F0B9B1CB6}" type="pres">
      <dgm:prSet presAssocID="{A7ECEE62-F15C-4348-883C-C43618A61DC0}" presName="thickLine" presStyleLbl="alignNode1" presStyleIdx="1" presStyleCnt="5"/>
      <dgm:spPr/>
    </dgm:pt>
    <dgm:pt modelId="{E547E717-7E0D-6B4D-A60F-71B7F364075E}" type="pres">
      <dgm:prSet presAssocID="{A7ECEE62-F15C-4348-883C-C43618A61DC0}" presName="horz1" presStyleCnt="0"/>
      <dgm:spPr/>
    </dgm:pt>
    <dgm:pt modelId="{91DA96FF-9C75-364B-BBE5-E54E1F177275}" type="pres">
      <dgm:prSet presAssocID="{A7ECEE62-F15C-4348-883C-C43618A61DC0}" presName="tx1" presStyleLbl="revTx" presStyleIdx="1" presStyleCnt="5"/>
      <dgm:spPr/>
    </dgm:pt>
    <dgm:pt modelId="{36D998F1-024D-ED45-83B3-D5F7EC704B65}" type="pres">
      <dgm:prSet presAssocID="{A7ECEE62-F15C-4348-883C-C43618A61DC0}" presName="vert1" presStyleCnt="0"/>
      <dgm:spPr/>
    </dgm:pt>
    <dgm:pt modelId="{4B8A4C76-7F9B-A64A-8406-15714C8C8264}" type="pres">
      <dgm:prSet presAssocID="{E1276228-00D3-4472-B947-7BBB7D34F231}" presName="thickLine" presStyleLbl="alignNode1" presStyleIdx="2" presStyleCnt="5"/>
      <dgm:spPr/>
    </dgm:pt>
    <dgm:pt modelId="{C7EA5DB1-7000-8541-8FF8-FE2029AEEAD0}" type="pres">
      <dgm:prSet presAssocID="{E1276228-00D3-4472-B947-7BBB7D34F231}" presName="horz1" presStyleCnt="0"/>
      <dgm:spPr/>
    </dgm:pt>
    <dgm:pt modelId="{D87B3182-1275-5445-950D-D2E30D5D2A11}" type="pres">
      <dgm:prSet presAssocID="{E1276228-00D3-4472-B947-7BBB7D34F231}" presName="tx1" presStyleLbl="revTx" presStyleIdx="2" presStyleCnt="5"/>
      <dgm:spPr/>
    </dgm:pt>
    <dgm:pt modelId="{63C2F58E-5D5C-9F45-86E9-BA0AB4EFDA3F}" type="pres">
      <dgm:prSet presAssocID="{E1276228-00D3-4472-B947-7BBB7D34F231}" presName="vert1" presStyleCnt="0"/>
      <dgm:spPr/>
    </dgm:pt>
    <dgm:pt modelId="{7CA5AB6C-1CF8-0340-887A-52F5B2276AD3}" type="pres">
      <dgm:prSet presAssocID="{13DFD86E-8661-4DE3-B3F8-6BD0B723B7F9}" presName="thickLine" presStyleLbl="alignNode1" presStyleIdx="3" presStyleCnt="5"/>
      <dgm:spPr/>
    </dgm:pt>
    <dgm:pt modelId="{452796A4-3C48-084A-9097-AF7DAFC59599}" type="pres">
      <dgm:prSet presAssocID="{13DFD86E-8661-4DE3-B3F8-6BD0B723B7F9}" presName="horz1" presStyleCnt="0"/>
      <dgm:spPr/>
    </dgm:pt>
    <dgm:pt modelId="{33D2D369-19C7-B84F-9494-1C0863F1CFBB}" type="pres">
      <dgm:prSet presAssocID="{13DFD86E-8661-4DE3-B3F8-6BD0B723B7F9}" presName="tx1" presStyleLbl="revTx" presStyleIdx="3" presStyleCnt="5"/>
      <dgm:spPr/>
    </dgm:pt>
    <dgm:pt modelId="{4B2DBF45-E3CE-7744-A528-9C18DE972BDB}" type="pres">
      <dgm:prSet presAssocID="{13DFD86E-8661-4DE3-B3F8-6BD0B723B7F9}" presName="vert1" presStyleCnt="0"/>
      <dgm:spPr/>
    </dgm:pt>
    <dgm:pt modelId="{AE42E9FF-C6B3-1A4A-B3F2-A3B4CE3ECE86}" type="pres">
      <dgm:prSet presAssocID="{47318713-872D-41BB-BAE8-F6A164CB3A1A}" presName="thickLine" presStyleLbl="alignNode1" presStyleIdx="4" presStyleCnt="5"/>
      <dgm:spPr/>
    </dgm:pt>
    <dgm:pt modelId="{0F912370-DB3F-694C-813E-F08BBECD8F99}" type="pres">
      <dgm:prSet presAssocID="{47318713-872D-41BB-BAE8-F6A164CB3A1A}" presName="horz1" presStyleCnt="0"/>
      <dgm:spPr/>
    </dgm:pt>
    <dgm:pt modelId="{7822E7C4-4098-9441-8F4E-1EAFF5FA0148}" type="pres">
      <dgm:prSet presAssocID="{47318713-872D-41BB-BAE8-F6A164CB3A1A}" presName="tx1" presStyleLbl="revTx" presStyleIdx="4" presStyleCnt="5"/>
      <dgm:spPr/>
    </dgm:pt>
    <dgm:pt modelId="{E3ADD023-E55A-9640-99B5-CCD2C3ADFB02}" type="pres">
      <dgm:prSet presAssocID="{47318713-872D-41BB-BAE8-F6A164CB3A1A}" presName="vert1" presStyleCnt="0"/>
      <dgm:spPr/>
    </dgm:pt>
  </dgm:ptLst>
  <dgm:cxnLst>
    <dgm:cxn modelId="{D4A45412-74F6-6E41-BF98-7CC9A745A463}" type="presOf" srcId="{FDC18B48-DE29-44D1-9DFA-8BF11318FB32}" destId="{0481AB04-FE35-CC41-8EE0-5FF937F05A31}" srcOrd="0" destOrd="0" presId="urn:microsoft.com/office/officeart/2008/layout/LinedList"/>
    <dgm:cxn modelId="{CF93F117-147E-490C-8406-E7EA7C69B5E7}" srcId="{D246AE8C-9C03-4B26-B815-7B579803991E}" destId="{13DFD86E-8661-4DE3-B3F8-6BD0B723B7F9}" srcOrd="3" destOrd="0" parTransId="{632D27B1-8A18-4F7C-B8B4-A26FBDC845F5}" sibTransId="{1E9DA751-8210-406D-80F1-78013FF3CC38}"/>
    <dgm:cxn modelId="{C743D637-7AB3-4640-A75F-1E98100741B3}" type="presOf" srcId="{E1276228-00D3-4472-B947-7BBB7D34F231}" destId="{D87B3182-1275-5445-950D-D2E30D5D2A11}" srcOrd="0" destOrd="0" presId="urn:microsoft.com/office/officeart/2008/layout/LinedList"/>
    <dgm:cxn modelId="{87EF8345-2919-482E-8737-151D847827D8}" srcId="{D246AE8C-9C03-4B26-B815-7B579803991E}" destId="{FDC18B48-DE29-44D1-9DFA-8BF11318FB32}" srcOrd="0" destOrd="0" parTransId="{78886C39-EDED-47C1-9DD3-3BD3F58CD081}" sibTransId="{DA79B498-8D9A-4F0E-A03B-96A188FBBB88}"/>
    <dgm:cxn modelId="{77C91E54-9B8E-A942-945B-43533B3987BB}" type="presOf" srcId="{47318713-872D-41BB-BAE8-F6A164CB3A1A}" destId="{7822E7C4-4098-9441-8F4E-1EAFF5FA0148}" srcOrd="0" destOrd="0" presId="urn:microsoft.com/office/officeart/2008/layout/LinedList"/>
    <dgm:cxn modelId="{D73B4C65-067A-9D42-A689-C9212B608E2A}" type="presOf" srcId="{13DFD86E-8661-4DE3-B3F8-6BD0B723B7F9}" destId="{33D2D369-19C7-B84F-9494-1C0863F1CFBB}" srcOrd="0" destOrd="0" presId="urn:microsoft.com/office/officeart/2008/layout/LinedList"/>
    <dgm:cxn modelId="{9E0E016D-E3B9-4B22-924E-F1F4CDD19352}" srcId="{D246AE8C-9C03-4B26-B815-7B579803991E}" destId="{47318713-872D-41BB-BAE8-F6A164CB3A1A}" srcOrd="4" destOrd="0" parTransId="{B9837969-F809-4396-8F2E-DF5B2F4B6DBD}" sibTransId="{9D3D59DE-CB1E-4378-B945-FBF08F489CDB}"/>
    <dgm:cxn modelId="{7D6AB177-783E-4827-91F9-889578B8101C}" srcId="{D246AE8C-9C03-4B26-B815-7B579803991E}" destId="{E1276228-00D3-4472-B947-7BBB7D34F231}" srcOrd="2" destOrd="0" parTransId="{2DAFA38A-744C-4838-A468-F370F8EC1ABA}" sibTransId="{4469718D-06A4-4137-A3FB-977243010A68}"/>
    <dgm:cxn modelId="{1EEDDEAA-1E2B-5D49-9522-7BB92201212F}" type="presOf" srcId="{A7ECEE62-F15C-4348-883C-C43618A61DC0}" destId="{91DA96FF-9C75-364B-BBE5-E54E1F177275}" srcOrd="0" destOrd="0" presId="urn:microsoft.com/office/officeart/2008/layout/LinedList"/>
    <dgm:cxn modelId="{A24B76E3-BAD8-6A49-B62D-D08EAE8E8FD8}" type="presOf" srcId="{D246AE8C-9C03-4B26-B815-7B579803991E}" destId="{838A4622-ED54-734E-A140-BFB7A0E895EC}" srcOrd="0" destOrd="0" presId="urn:microsoft.com/office/officeart/2008/layout/LinedList"/>
    <dgm:cxn modelId="{ED9315E8-AAC8-4C76-8CE7-DED65D6C6BBC}" srcId="{D246AE8C-9C03-4B26-B815-7B579803991E}" destId="{A7ECEE62-F15C-4348-883C-C43618A61DC0}" srcOrd="1" destOrd="0" parTransId="{14FF55E6-2151-4357-8182-BDD5353382C3}" sibTransId="{C7F9FBFD-F02C-44F9-9B28-41EC6EF2B1F7}"/>
    <dgm:cxn modelId="{3B6B42DC-FC2C-F94C-8FAA-6DD845C07C8D}" type="presParOf" srcId="{838A4622-ED54-734E-A140-BFB7A0E895EC}" destId="{D73D27E6-E6BA-294B-B08D-0B3EF8D1F29A}" srcOrd="0" destOrd="0" presId="urn:microsoft.com/office/officeart/2008/layout/LinedList"/>
    <dgm:cxn modelId="{C6AF717D-C9A1-1049-A4B7-A1B70E49B506}" type="presParOf" srcId="{838A4622-ED54-734E-A140-BFB7A0E895EC}" destId="{8AEF4059-347B-6E40-A19A-9798C5EAE578}" srcOrd="1" destOrd="0" presId="urn:microsoft.com/office/officeart/2008/layout/LinedList"/>
    <dgm:cxn modelId="{500F369A-6968-F44A-94A3-5A777451E178}" type="presParOf" srcId="{8AEF4059-347B-6E40-A19A-9798C5EAE578}" destId="{0481AB04-FE35-CC41-8EE0-5FF937F05A31}" srcOrd="0" destOrd="0" presId="urn:microsoft.com/office/officeart/2008/layout/LinedList"/>
    <dgm:cxn modelId="{707266AC-2925-A745-ADB8-C685C3930392}" type="presParOf" srcId="{8AEF4059-347B-6E40-A19A-9798C5EAE578}" destId="{53140B0F-4413-7145-8B9C-402085D7FE78}" srcOrd="1" destOrd="0" presId="urn:microsoft.com/office/officeart/2008/layout/LinedList"/>
    <dgm:cxn modelId="{AED76126-A1A6-824D-AE49-EBFFCF1CBB90}" type="presParOf" srcId="{838A4622-ED54-734E-A140-BFB7A0E895EC}" destId="{7D153C1D-EE88-3049-B6CA-545F0B9B1CB6}" srcOrd="2" destOrd="0" presId="urn:microsoft.com/office/officeart/2008/layout/LinedList"/>
    <dgm:cxn modelId="{02478375-67C9-4B47-95FA-D85F02A8975C}" type="presParOf" srcId="{838A4622-ED54-734E-A140-BFB7A0E895EC}" destId="{E547E717-7E0D-6B4D-A60F-71B7F364075E}" srcOrd="3" destOrd="0" presId="urn:microsoft.com/office/officeart/2008/layout/LinedList"/>
    <dgm:cxn modelId="{7BC904A2-70D5-054A-A72F-8E91BE20925C}" type="presParOf" srcId="{E547E717-7E0D-6B4D-A60F-71B7F364075E}" destId="{91DA96FF-9C75-364B-BBE5-E54E1F177275}" srcOrd="0" destOrd="0" presId="urn:microsoft.com/office/officeart/2008/layout/LinedList"/>
    <dgm:cxn modelId="{BAFB9AE8-43E9-9A40-91D4-B24E1D3CDF76}" type="presParOf" srcId="{E547E717-7E0D-6B4D-A60F-71B7F364075E}" destId="{36D998F1-024D-ED45-83B3-D5F7EC704B65}" srcOrd="1" destOrd="0" presId="urn:microsoft.com/office/officeart/2008/layout/LinedList"/>
    <dgm:cxn modelId="{4B7F2676-B987-3147-BDCA-54642AB92B2F}" type="presParOf" srcId="{838A4622-ED54-734E-A140-BFB7A0E895EC}" destId="{4B8A4C76-7F9B-A64A-8406-15714C8C8264}" srcOrd="4" destOrd="0" presId="urn:microsoft.com/office/officeart/2008/layout/LinedList"/>
    <dgm:cxn modelId="{DF96397F-5BF8-444B-8E85-1CB6B886A909}" type="presParOf" srcId="{838A4622-ED54-734E-A140-BFB7A0E895EC}" destId="{C7EA5DB1-7000-8541-8FF8-FE2029AEEAD0}" srcOrd="5" destOrd="0" presId="urn:microsoft.com/office/officeart/2008/layout/LinedList"/>
    <dgm:cxn modelId="{390C01CE-304E-F448-935D-55AE52ACBDC6}" type="presParOf" srcId="{C7EA5DB1-7000-8541-8FF8-FE2029AEEAD0}" destId="{D87B3182-1275-5445-950D-D2E30D5D2A11}" srcOrd="0" destOrd="0" presId="urn:microsoft.com/office/officeart/2008/layout/LinedList"/>
    <dgm:cxn modelId="{FDAA0279-99B7-B343-9AF9-8DA67E701890}" type="presParOf" srcId="{C7EA5DB1-7000-8541-8FF8-FE2029AEEAD0}" destId="{63C2F58E-5D5C-9F45-86E9-BA0AB4EFDA3F}" srcOrd="1" destOrd="0" presId="urn:microsoft.com/office/officeart/2008/layout/LinedList"/>
    <dgm:cxn modelId="{3C05928B-6C89-4F4D-B806-1C3F1203F05C}" type="presParOf" srcId="{838A4622-ED54-734E-A140-BFB7A0E895EC}" destId="{7CA5AB6C-1CF8-0340-887A-52F5B2276AD3}" srcOrd="6" destOrd="0" presId="urn:microsoft.com/office/officeart/2008/layout/LinedList"/>
    <dgm:cxn modelId="{EF4DE518-6071-1A42-A160-77595CB48CF6}" type="presParOf" srcId="{838A4622-ED54-734E-A140-BFB7A0E895EC}" destId="{452796A4-3C48-084A-9097-AF7DAFC59599}" srcOrd="7" destOrd="0" presId="urn:microsoft.com/office/officeart/2008/layout/LinedList"/>
    <dgm:cxn modelId="{AB466B7B-7692-004C-A393-499DC4350435}" type="presParOf" srcId="{452796A4-3C48-084A-9097-AF7DAFC59599}" destId="{33D2D369-19C7-B84F-9494-1C0863F1CFBB}" srcOrd="0" destOrd="0" presId="urn:microsoft.com/office/officeart/2008/layout/LinedList"/>
    <dgm:cxn modelId="{7376EDB6-9912-5042-B6FD-C9CC9197E787}" type="presParOf" srcId="{452796A4-3C48-084A-9097-AF7DAFC59599}" destId="{4B2DBF45-E3CE-7744-A528-9C18DE972BDB}" srcOrd="1" destOrd="0" presId="urn:microsoft.com/office/officeart/2008/layout/LinedList"/>
    <dgm:cxn modelId="{DF0D67A5-ECD3-BF46-99D3-CB379CB37D78}" type="presParOf" srcId="{838A4622-ED54-734E-A140-BFB7A0E895EC}" destId="{AE42E9FF-C6B3-1A4A-B3F2-A3B4CE3ECE86}" srcOrd="8" destOrd="0" presId="urn:microsoft.com/office/officeart/2008/layout/LinedList"/>
    <dgm:cxn modelId="{2F28612D-B1E0-6144-A868-6FDD2D59BCDD}" type="presParOf" srcId="{838A4622-ED54-734E-A140-BFB7A0E895EC}" destId="{0F912370-DB3F-694C-813E-F08BBECD8F99}" srcOrd="9" destOrd="0" presId="urn:microsoft.com/office/officeart/2008/layout/LinedList"/>
    <dgm:cxn modelId="{1EFB0B24-1177-5548-80AB-E8C722F455DD}" type="presParOf" srcId="{0F912370-DB3F-694C-813E-F08BBECD8F99}" destId="{7822E7C4-4098-9441-8F4E-1EAFF5FA0148}" srcOrd="0" destOrd="0" presId="urn:microsoft.com/office/officeart/2008/layout/LinedList"/>
    <dgm:cxn modelId="{70B51A1A-3306-9345-A227-003B04CD5238}" type="presParOf" srcId="{0F912370-DB3F-694C-813E-F08BBECD8F99}" destId="{E3ADD023-E55A-9640-99B5-CCD2C3ADFB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1A177E-1FF9-437B-AE51-A780E788C55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28AB01-4510-4FEE-8E19-D25C91E3693C}">
      <dgm:prSet/>
      <dgm:spPr/>
      <dgm:t>
        <a:bodyPr/>
        <a:lstStyle/>
        <a:p>
          <a:r>
            <a:rPr lang="en-US" u="sng" dirty="0"/>
            <a:t>Teleology</a:t>
          </a:r>
          <a:r>
            <a:rPr lang="en-US" u="none" dirty="0"/>
            <a:t>:</a:t>
          </a:r>
          <a:r>
            <a:rPr lang="en-US" b="1" u="none" dirty="0"/>
            <a:t> </a:t>
          </a:r>
          <a:r>
            <a:rPr lang="en-US" b="0" i="0" u="none" dirty="0"/>
            <a:t>believing that if some feature of an organism performs a function then it has been chosen to achieve some goal or purpose.</a:t>
          </a:r>
          <a:endParaRPr lang="en-US" u="sng" dirty="0"/>
        </a:p>
      </dgm:t>
    </dgm:pt>
    <dgm:pt modelId="{74C89FA6-47F4-4973-A800-18B456FB10DA}" type="parTrans" cxnId="{5D220BFC-4680-43EB-B253-744D19DF2BD3}">
      <dgm:prSet/>
      <dgm:spPr/>
      <dgm:t>
        <a:bodyPr/>
        <a:lstStyle/>
        <a:p>
          <a:endParaRPr lang="en-US"/>
        </a:p>
      </dgm:t>
    </dgm:pt>
    <dgm:pt modelId="{F667A459-6D6D-4C2B-9F13-E20A8A9D05CF}" type="sibTrans" cxnId="{5D220BFC-4680-43EB-B253-744D19DF2BD3}">
      <dgm:prSet/>
      <dgm:spPr/>
      <dgm:t>
        <a:bodyPr/>
        <a:lstStyle/>
        <a:p>
          <a:endParaRPr lang="en-US"/>
        </a:p>
      </dgm:t>
    </dgm:pt>
    <dgm:pt modelId="{199C771E-1A66-4A7D-BBB2-118AC2AFA8BB}">
      <dgm:prSet/>
      <dgm:spPr/>
      <dgm:t>
        <a:bodyPr/>
        <a:lstStyle/>
        <a:p>
          <a:r>
            <a:rPr lang="en-US" dirty="0"/>
            <a:t>Every feature is not an adaptation.</a:t>
          </a:r>
        </a:p>
      </dgm:t>
    </dgm:pt>
    <dgm:pt modelId="{85D77E69-CF8B-486D-B8DD-AFE472761CD3}" type="parTrans" cxnId="{BCDE347A-8CE3-461A-9D7E-FD1A8D61FF6B}">
      <dgm:prSet/>
      <dgm:spPr/>
      <dgm:t>
        <a:bodyPr/>
        <a:lstStyle/>
        <a:p>
          <a:endParaRPr lang="en-US"/>
        </a:p>
      </dgm:t>
    </dgm:pt>
    <dgm:pt modelId="{D1BABDD1-7244-4418-AD6F-68530D184AF3}" type="sibTrans" cxnId="{BCDE347A-8CE3-461A-9D7E-FD1A8D61FF6B}">
      <dgm:prSet/>
      <dgm:spPr/>
      <dgm:t>
        <a:bodyPr/>
        <a:lstStyle/>
        <a:p>
          <a:endParaRPr lang="en-US"/>
        </a:p>
      </dgm:t>
    </dgm:pt>
    <dgm:pt modelId="{12C8D766-3C4E-C040-B4BA-52B8CCA7A218}" type="pres">
      <dgm:prSet presAssocID="{891A177E-1FF9-437B-AE51-A780E788C550}" presName="vert0" presStyleCnt="0">
        <dgm:presLayoutVars>
          <dgm:dir/>
          <dgm:animOne val="branch"/>
          <dgm:animLvl val="lvl"/>
        </dgm:presLayoutVars>
      </dgm:prSet>
      <dgm:spPr/>
    </dgm:pt>
    <dgm:pt modelId="{A2752DB6-E957-CF42-BCD6-8FF41958D2B6}" type="pres">
      <dgm:prSet presAssocID="{E928AB01-4510-4FEE-8E19-D25C91E3693C}" presName="thickLine" presStyleLbl="alignNode1" presStyleIdx="0" presStyleCnt="2"/>
      <dgm:spPr/>
    </dgm:pt>
    <dgm:pt modelId="{2CF4C1EA-9445-8D48-9EF9-9A4CC5190FE5}" type="pres">
      <dgm:prSet presAssocID="{E928AB01-4510-4FEE-8E19-D25C91E3693C}" presName="horz1" presStyleCnt="0"/>
      <dgm:spPr/>
    </dgm:pt>
    <dgm:pt modelId="{67CCB5A0-23F6-BB47-918D-7B751DBA63E3}" type="pres">
      <dgm:prSet presAssocID="{E928AB01-4510-4FEE-8E19-D25C91E3693C}" presName="tx1" presStyleLbl="revTx" presStyleIdx="0" presStyleCnt="2"/>
      <dgm:spPr/>
    </dgm:pt>
    <dgm:pt modelId="{BC465C65-29AB-1B48-AEEF-D414A9382B17}" type="pres">
      <dgm:prSet presAssocID="{E928AB01-4510-4FEE-8E19-D25C91E3693C}" presName="vert1" presStyleCnt="0"/>
      <dgm:spPr/>
    </dgm:pt>
    <dgm:pt modelId="{3C80543A-9248-3948-9C3E-5712A83C6C1B}" type="pres">
      <dgm:prSet presAssocID="{199C771E-1A66-4A7D-BBB2-118AC2AFA8BB}" presName="thickLine" presStyleLbl="alignNode1" presStyleIdx="1" presStyleCnt="2"/>
      <dgm:spPr/>
    </dgm:pt>
    <dgm:pt modelId="{0607866C-9F53-F84A-A79D-F2C8A7B93BEB}" type="pres">
      <dgm:prSet presAssocID="{199C771E-1A66-4A7D-BBB2-118AC2AFA8BB}" presName="horz1" presStyleCnt="0"/>
      <dgm:spPr/>
    </dgm:pt>
    <dgm:pt modelId="{D9297BB9-FA84-6F49-9C66-2111174E30CE}" type="pres">
      <dgm:prSet presAssocID="{199C771E-1A66-4A7D-BBB2-118AC2AFA8BB}" presName="tx1" presStyleLbl="revTx" presStyleIdx="1" presStyleCnt="2"/>
      <dgm:spPr/>
    </dgm:pt>
    <dgm:pt modelId="{2A29D0E7-67DB-404C-AE87-94994B310AB3}" type="pres">
      <dgm:prSet presAssocID="{199C771E-1A66-4A7D-BBB2-118AC2AFA8BB}" presName="vert1" presStyleCnt="0"/>
      <dgm:spPr/>
    </dgm:pt>
  </dgm:ptLst>
  <dgm:cxnLst>
    <dgm:cxn modelId="{8CD3FB22-C7E0-0947-A114-0D0DF8D51685}" type="presOf" srcId="{199C771E-1A66-4A7D-BBB2-118AC2AFA8BB}" destId="{D9297BB9-FA84-6F49-9C66-2111174E30CE}" srcOrd="0" destOrd="0" presId="urn:microsoft.com/office/officeart/2008/layout/LinedList"/>
    <dgm:cxn modelId="{BCDE347A-8CE3-461A-9D7E-FD1A8D61FF6B}" srcId="{891A177E-1FF9-437B-AE51-A780E788C550}" destId="{199C771E-1A66-4A7D-BBB2-118AC2AFA8BB}" srcOrd="1" destOrd="0" parTransId="{85D77E69-CF8B-486D-B8DD-AFE472761CD3}" sibTransId="{D1BABDD1-7244-4418-AD6F-68530D184AF3}"/>
    <dgm:cxn modelId="{B3C4A5A6-7AA5-0945-B633-E458341CBB91}" type="presOf" srcId="{891A177E-1FF9-437B-AE51-A780E788C550}" destId="{12C8D766-3C4E-C040-B4BA-52B8CCA7A218}" srcOrd="0" destOrd="0" presId="urn:microsoft.com/office/officeart/2008/layout/LinedList"/>
    <dgm:cxn modelId="{200607D7-414E-9B48-ABAF-15A71700721A}" type="presOf" srcId="{E928AB01-4510-4FEE-8E19-D25C91E3693C}" destId="{67CCB5A0-23F6-BB47-918D-7B751DBA63E3}" srcOrd="0" destOrd="0" presId="urn:microsoft.com/office/officeart/2008/layout/LinedList"/>
    <dgm:cxn modelId="{5D220BFC-4680-43EB-B253-744D19DF2BD3}" srcId="{891A177E-1FF9-437B-AE51-A780E788C550}" destId="{E928AB01-4510-4FEE-8E19-D25C91E3693C}" srcOrd="0" destOrd="0" parTransId="{74C89FA6-47F4-4973-A800-18B456FB10DA}" sibTransId="{F667A459-6D6D-4C2B-9F13-E20A8A9D05CF}"/>
    <dgm:cxn modelId="{EB82032A-A84C-2D41-9935-F94956F84E83}" type="presParOf" srcId="{12C8D766-3C4E-C040-B4BA-52B8CCA7A218}" destId="{A2752DB6-E957-CF42-BCD6-8FF41958D2B6}" srcOrd="0" destOrd="0" presId="urn:microsoft.com/office/officeart/2008/layout/LinedList"/>
    <dgm:cxn modelId="{F9AEFA6C-F3B5-1A4A-9C21-424DF0D01DC3}" type="presParOf" srcId="{12C8D766-3C4E-C040-B4BA-52B8CCA7A218}" destId="{2CF4C1EA-9445-8D48-9EF9-9A4CC5190FE5}" srcOrd="1" destOrd="0" presId="urn:microsoft.com/office/officeart/2008/layout/LinedList"/>
    <dgm:cxn modelId="{BEDD29AF-E6DC-7C42-8941-688B860FD9E0}" type="presParOf" srcId="{2CF4C1EA-9445-8D48-9EF9-9A4CC5190FE5}" destId="{67CCB5A0-23F6-BB47-918D-7B751DBA63E3}" srcOrd="0" destOrd="0" presId="urn:microsoft.com/office/officeart/2008/layout/LinedList"/>
    <dgm:cxn modelId="{428A48AB-EE53-B54B-ACC9-16A72D6ED4A0}" type="presParOf" srcId="{2CF4C1EA-9445-8D48-9EF9-9A4CC5190FE5}" destId="{BC465C65-29AB-1B48-AEEF-D414A9382B17}" srcOrd="1" destOrd="0" presId="urn:microsoft.com/office/officeart/2008/layout/LinedList"/>
    <dgm:cxn modelId="{BF39B3BB-5750-724A-BF2B-57B554C8B01D}" type="presParOf" srcId="{12C8D766-3C4E-C040-B4BA-52B8CCA7A218}" destId="{3C80543A-9248-3948-9C3E-5712A83C6C1B}" srcOrd="2" destOrd="0" presId="urn:microsoft.com/office/officeart/2008/layout/LinedList"/>
    <dgm:cxn modelId="{CC07C3B9-22C9-3344-8FB7-4CB0518D4D09}" type="presParOf" srcId="{12C8D766-3C4E-C040-B4BA-52B8CCA7A218}" destId="{0607866C-9F53-F84A-A79D-F2C8A7B93BEB}" srcOrd="3" destOrd="0" presId="urn:microsoft.com/office/officeart/2008/layout/LinedList"/>
    <dgm:cxn modelId="{C26B93D1-9B27-274C-89A0-A2F111DF0717}" type="presParOf" srcId="{0607866C-9F53-F84A-A79D-F2C8A7B93BEB}" destId="{D9297BB9-FA84-6F49-9C66-2111174E30CE}" srcOrd="0" destOrd="0" presId="urn:microsoft.com/office/officeart/2008/layout/LinedList"/>
    <dgm:cxn modelId="{248D9B9D-6F3B-7145-B8F5-F21C5E9CE4A0}" type="presParOf" srcId="{0607866C-9F53-F84A-A79D-F2C8A7B93BEB}" destId="{2A29D0E7-67DB-404C-AE87-94994B310A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7A1C4-4220-354B-988F-E3A653935A75}">
      <dsp:nvSpPr>
        <dsp:cNvPr id="0" name=""/>
        <dsp:cNvSpPr/>
      </dsp:nvSpPr>
      <dsp:spPr>
        <a:xfrm rot="16200000">
          <a:off x="340" y="434554"/>
          <a:ext cx="2989659" cy="298965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Every </a:t>
          </a:r>
          <a:r>
            <a:rPr lang="en-US" sz="1700" u="sng" kern="1200"/>
            <a:t>phenotype</a:t>
          </a:r>
          <a:r>
            <a:rPr lang="en-US" sz="1700" kern="1200"/>
            <a:t> is the product of an interaction between </a:t>
          </a:r>
          <a:r>
            <a:rPr lang="en-US" sz="1700" u="sng" kern="1200"/>
            <a:t>genotype</a:t>
          </a:r>
          <a:r>
            <a:rPr lang="en-US" sz="1700" kern="1200"/>
            <a:t> (genetic variant) and </a:t>
          </a:r>
          <a:r>
            <a:rPr lang="en-US" sz="1700" u="sng" kern="1200"/>
            <a:t>environment</a:t>
          </a:r>
          <a:endParaRPr lang="en-US" sz="1700" kern="1200"/>
        </a:p>
      </dsp:txBody>
      <dsp:txXfrm rot="5400000">
        <a:off x="340" y="1181969"/>
        <a:ext cx="2466469" cy="1494829"/>
      </dsp:txXfrm>
    </dsp:sp>
    <dsp:sp modelId="{39EF722A-F2DA-C643-9335-54AF51D9AF69}">
      <dsp:nvSpPr>
        <dsp:cNvPr id="0" name=""/>
        <dsp:cNvSpPr/>
      </dsp:nvSpPr>
      <dsp:spPr>
        <a:xfrm rot="5400000">
          <a:off x="3182200" y="434554"/>
          <a:ext cx="2989659" cy="298965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G x E = P</a:t>
          </a:r>
          <a:endParaRPr lang="en-US" sz="1700" kern="1200"/>
        </a:p>
      </dsp:txBody>
      <dsp:txXfrm rot="-5400000">
        <a:off x="3705390" y="1181969"/>
        <a:ext cx="2466469" cy="1494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D27E6-E6BA-294B-B08D-0B3EF8D1F29A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1AB04-FE35-CC41-8EE0-5FF937F05A31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Gene</a:t>
          </a:r>
        </a:p>
      </dsp:txBody>
      <dsp:txXfrm>
        <a:off x="0" y="675"/>
        <a:ext cx="6900512" cy="1106957"/>
      </dsp:txXfrm>
    </dsp:sp>
    <dsp:sp modelId="{7D153C1D-EE88-3049-B6CA-545F0B9B1CB6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A96FF-9C75-364B-BBE5-E54E1F177275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Somatic cell lineage</a:t>
          </a:r>
        </a:p>
      </dsp:txBody>
      <dsp:txXfrm>
        <a:off x="0" y="1107633"/>
        <a:ext cx="6900512" cy="1106957"/>
      </dsp:txXfrm>
    </dsp:sp>
    <dsp:sp modelId="{4B8A4C76-7F9B-A64A-8406-15714C8C8264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B3182-1275-5445-950D-D2E30D5D2A11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Individual organism</a:t>
          </a:r>
        </a:p>
      </dsp:txBody>
      <dsp:txXfrm>
        <a:off x="0" y="2214591"/>
        <a:ext cx="6900512" cy="1106957"/>
      </dsp:txXfrm>
    </dsp:sp>
    <dsp:sp modelId="{7CA5AB6C-1CF8-0340-887A-52F5B2276AD3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2D369-19C7-B84F-9494-1C0863F1CFBB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Group</a:t>
          </a:r>
        </a:p>
      </dsp:txBody>
      <dsp:txXfrm>
        <a:off x="0" y="3321549"/>
        <a:ext cx="6900512" cy="1106957"/>
      </dsp:txXfrm>
    </dsp:sp>
    <dsp:sp modelId="{AE42E9FF-C6B3-1A4A-B3F2-A3B4CE3ECE86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2E7C4-4098-9441-8F4E-1EAFF5FA0148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Species</a:t>
          </a:r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52DB6-E957-CF42-BCD6-8FF41958D2B6}">
      <dsp:nvSpPr>
        <dsp:cNvPr id="0" name=""/>
        <dsp:cNvSpPr/>
      </dsp:nvSpPr>
      <dsp:spPr>
        <a:xfrm>
          <a:off x="0" y="0"/>
          <a:ext cx="689118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CB5A0-23F6-BB47-918D-7B751DBA63E3}">
      <dsp:nvSpPr>
        <dsp:cNvPr id="0" name=""/>
        <dsp:cNvSpPr/>
      </dsp:nvSpPr>
      <dsp:spPr>
        <a:xfrm>
          <a:off x="0" y="0"/>
          <a:ext cx="6891187" cy="2196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sng" kern="1200" dirty="0"/>
            <a:t>Teleology</a:t>
          </a:r>
          <a:r>
            <a:rPr lang="en-US" sz="3400" u="none" kern="1200" dirty="0"/>
            <a:t>:</a:t>
          </a:r>
          <a:r>
            <a:rPr lang="en-US" sz="3400" b="1" u="none" kern="1200" dirty="0"/>
            <a:t> </a:t>
          </a:r>
          <a:r>
            <a:rPr lang="en-US" sz="3400" b="0" i="0" u="none" kern="1200" dirty="0"/>
            <a:t>believing that if some feature of an organism performs a function then it has been chosen to achieve some goal or purpose.</a:t>
          </a:r>
          <a:endParaRPr lang="en-US" sz="3400" u="sng" kern="1200" dirty="0"/>
        </a:p>
      </dsp:txBody>
      <dsp:txXfrm>
        <a:off x="0" y="0"/>
        <a:ext cx="6891187" cy="2196990"/>
      </dsp:txXfrm>
    </dsp:sp>
    <dsp:sp modelId="{3C80543A-9248-3948-9C3E-5712A83C6C1B}">
      <dsp:nvSpPr>
        <dsp:cNvPr id="0" name=""/>
        <dsp:cNvSpPr/>
      </dsp:nvSpPr>
      <dsp:spPr>
        <a:xfrm>
          <a:off x="0" y="2196990"/>
          <a:ext cx="6891187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97BB9-FA84-6F49-9C66-2111174E30CE}">
      <dsp:nvSpPr>
        <dsp:cNvPr id="0" name=""/>
        <dsp:cNvSpPr/>
      </dsp:nvSpPr>
      <dsp:spPr>
        <a:xfrm>
          <a:off x="0" y="2196990"/>
          <a:ext cx="6891187" cy="2196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Every feature is not an adaptation.</a:t>
          </a:r>
        </a:p>
      </dsp:txBody>
      <dsp:txXfrm>
        <a:off x="0" y="2196990"/>
        <a:ext cx="6891187" cy="2196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7A8F1-8F25-AE43-BA9F-31972ED47F77}" type="datetimeFigureOut">
              <a:rPr lang="en-US" smtClean="0"/>
              <a:t>6/20/21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3B70C-A279-A243-82FA-505B200F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59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50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(observable behavioral, morphological or physiological traits),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B70C-A279-A243-82FA-505B200FCA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43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5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54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54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(evolution doesn’t design a body from scratch, but by tinkering with available &amp; existing raw materials)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89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97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93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Gene flow - </a:t>
            </a:r>
            <a:r>
              <a:rPr lang="en-US" sz="1200" dirty="0"/>
              <a:t>Exchange of genes between populations, either by </a:t>
            </a:r>
            <a:r>
              <a:rPr lang="en-US" sz="1200" dirty="0" err="1"/>
              <a:t>matings</a:t>
            </a:r>
            <a:r>
              <a:rPr lang="en-US" sz="1200" dirty="0"/>
              <a:t> or by migrations</a:t>
            </a:r>
          </a:p>
          <a:p>
            <a:pPr eaLnBrk="1" hangingPunct="1"/>
            <a:r>
              <a:rPr lang="en-US" sz="1200" dirty="0"/>
              <a:t>Humans have been mobile over our species’ evolutionary history and transportation technologies have facilitated gene flow</a:t>
            </a:r>
          </a:p>
          <a:p>
            <a:pPr eaLnBrk="1" hangingPunct="1"/>
            <a:endParaRPr lang="en-US" sz="1200" dirty="0"/>
          </a:p>
          <a:p>
            <a:pPr eaLnBrk="1" hangingPunct="1"/>
            <a:r>
              <a:rPr lang="en-US" sz="1200" dirty="0"/>
              <a:t>Genetic drift - </a:t>
            </a:r>
            <a:r>
              <a:rPr lang="en-US" sz="2400" dirty="0"/>
              <a:t>Random change in allele frequencies due to the process of sampling alleles</a:t>
            </a:r>
          </a:p>
          <a:p>
            <a:pPr eaLnBrk="1" hangingPunct="1"/>
            <a:r>
              <a:rPr lang="en-US" sz="2400" dirty="0"/>
              <a:t>Effects depend on population size</a:t>
            </a:r>
          </a:p>
          <a:p>
            <a:pPr lvl="1"/>
            <a:r>
              <a:rPr lang="en-US" dirty="0"/>
              <a:t>In relatively </a:t>
            </a:r>
            <a:r>
              <a:rPr lang="en-US" i="1" u="sng" dirty="0"/>
              <a:t>small, isolated populations</a:t>
            </a:r>
            <a:r>
              <a:rPr lang="en-US" dirty="0"/>
              <a:t>, like may have occurred during much of human evolutionary history, genetic drift significantly contributes to evolution as it results in a greater </a:t>
            </a:r>
            <a:r>
              <a:rPr lang="en-US" u="sng" dirty="0"/>
              <a:t>proportion</a:t>
            </a:r>
            <a:r>
              <a:rPr lang="en-US" dirty="0"/>
              <a:t> of change among the population compared to a larger, more mobile population.</a:t>
            </a:r>
          </a:p>
          <a:p>
            <a:pPr eaLnBrk="1" hangingPunct="1"/>
            <a:r>
              <a:rPr lang="en-US" sz="2400" dirty="0"/>
              <a:t>Also has the effect of decreasing within-population variation, in turn affecting fixation of alleles</a:t>
            </a:r>
          </a:p>
          <a:p>
            <a:pPr eaLnBrk="1" hangingPunct="1"/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41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0678D-7C8C-E549-BCE0-98621F3EC6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85EB-18B2-B945-8DED-CE65F62A7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2AB63-F9DC-7C45-A6FD-683549628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FE151-DAC9-3148-9711-27F5B1E8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B8D97-B3E8-3649-BBC8-C4CE5CF6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110D-EB01-3F40-8532-3C1752F3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2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2C1D-0AB9-3842-BF22-024A3BC2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9227-FA6C-DF47-99AF-E10D4592D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46FE-D362-DA4A-AF27-BC5550EC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D12E9-00B7-F641-BB6C-C10227EB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2E19E-AE97-C74C-9E42-B728283B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F8C-C358-D34D-8845-C4BB0D27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6A3C-A096-E541-8F59-B23AAFE8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F282-D3E8-AC4B-BA6D-CC8D8C07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9A43-34DA-344F-BDE8-5C67FBB3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419B-2E17-B943-86ED-BD20B5A2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8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E5CE-29D1-4346-B0DD-774E2F2B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35A6-5262-CC42-A98D-5C6768DF1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7F4BD-B19B-2847-AD10-00C401C1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3560B-7CB5-8348-9A54-B16239DE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0F978-4FD3-414F-8638-BF694089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59377-EC17-5048-A6F7-08875D88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4CFE-F94B-7E4A-B94E-56971699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01F9-221F-B447-B6F9-DD1E8E536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2D8D3-32D8-2342-9A0F-CBEB96D0F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D49C6-426D-D943-9189-F06039A23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6B244-A79A-5640-AEE8-2E48111F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2454D-1542-5E45-99FB-29D04D55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8AEB8-D5D4-2049-AFE0-A8216CDA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C75E0-56B3-214B-8DFB-0B1A44A2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C533-AD74-3542-A9CA-EE88956B5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08AAC-7A17-8B4A-9AD8-15F1492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E6626-B205-6641-A08B-0C62FF8C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6C202-FB44-7045-A5C9-E0CE54AE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4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2473A-9660-F847-8B34-AFB0D58A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7B616-9111-E04B-999E-9AA80B39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905BB-D14C-A74F-8E6E-84A5BFA5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F99F-0E55-F741-B7B1-293D494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5F680-A41D-3E48-857D-4AAFAACA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78FA0-6645-0E4D-B0E9-323C04BF4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5E85D-66EA-034B-9408-9D0B5012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C36CA-C9AD-D845-BCCE-62AE1474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DC0B7-614B-E84F-8F97-2A3B4DB05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2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6005-300B-3B4F-BB89-124C9A2E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FA6CD-6DDC-7247-935A-7A944B247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4C8E-248B-254F-8440-79E6A7B11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A40DA-0840-6D44-A5A2-92F38F4C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4CBDB-7514-D34F-A62A-BD236D98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FA301-6BA3-D548-83D7-D69602BC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8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453F-309E-664D-A8A9-40E39C2E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B0D00-CD29-D444-845E-E86CD2A92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0CD96-5A9C-B64B-B597-9F37E9F0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236BD-C048-BC40-BF6D-58CAE79E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4B82F-E183-AC4D-843C-FE1898F1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0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0A3FA-3826-1146-A0F1-683A65D58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C3E6A-028A-094C-8478-F70DCC52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B68C-7F4B-BD4D-9849-00592192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8E14F-6F37-9646-8A14-1E4BC838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5362E-7EAC-264B-9A47-4E7E001B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364B5-B859-1945-8BE1-763B3051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69859-E5DA-D740-9298-A79741FD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36700-484E-7248-90A1-CE412AA9A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7B3C-DFFD-2446-8D46-DA66883AA72E}" type="datetimeFigureOut">
              <a:rPr lang="en-US" smtClean="0"/>
              <a:t>6/20/21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B6434-457E-B648-9959-0A1290091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1FAB8-9846-3349-AD27-8C6D5905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936AC-D264-7C42-B16A-217C608C2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zTcmE-pMLU?feature=oembed" TargetMode="Externa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upload.wikimedia.org/wikipedia/commons/0/0f/Gray242.p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5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ANTH 3380: Evolutionary Medicine and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/>
              <a:t>Chapter 2</a:t>
            </a:r>
          </a:p>
          <a:p>
            <a:pPr algn="l"/>
            <a:r>
              <a:rPr lang="en-US"/>
              <a:t>Evolutionary theory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A1629899-9262-4330-B37C-708B2DBD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1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Selection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3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783080"/>
          </a:xfrm>
        </p:spPr>
        <p:txBody>
          <a:bodyPr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Evolution by Natural Selection</a:t>
            </a:r>
          </a:p>
        </p:txBody>
      </p:sp>
      <p:sp>
        <p:nvSpPr>
          <p:cNvPr id="75" name="sketch line">
            <a:extLst>
              <a:ext uri="{FF2B5EF4-FFF2-40B4-BE49-F238E27FC236}">
                <a16:creationId xmlns:a16="http://schemas.microsoft.com/office/drawing/2014/main" id="{62677C27-4325-4BE2-B2C9-B721DA9E3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2362200"/>
            <a:ext cx="4056549" cy="18288"/>
          </a:xfrm>
          <a:custGeom>
            <a:avLst/>
            <a:gdLst>
              <a:gd name="connsiteX0" fmla="*/ 0 w 4056549"/>
              <a:gd name="connsiteY0" fmla="*/ 0 h 18288"/>
              <a:gd name="connsiteX1" fmla="*/ 676092 w 4056549"/>
              <a:gd name="connsiteY1" fmla="*/ 0 h 18288"/>
              <a:gd name="connsiteX2" fmla="*/ 1271052 w 4056549"/>
              <a:gd name="connsiteY2" fmla="*/ 0 h 18288"/>
              <a:gd name="connsiteX3" fmla="*/ 1947144 w 4056549"/>
              <a:gd name="connsiteY3" fmla="*/ 0 h 18288"/>
              <a:gd name="connsiteX4" fmla="*/ 2501539 w 4056549"/>
              <a:gd name="connsiteY4" fmla="*/ 0 h 18288"/>
              <a:gd name="connsiteX5" fmla="*/ 3137065 w 4056549"/>
              <a:gd name="connsiteY5" fmla="*/ 0 h 18288"/>
              <a:gd name="connsiteX6" fmla="*/ 4056549 w 4056549"/>
              <a:gd name="connsiteY6" fmla="*/ 0 h 18288"/>
              <a:gd name="connsiteX7" fmla="*/ 4056549 w 4056549"/>
              <a:gd name="connsiteY7" fmla="*/ 18288 h 18288"/>
              <a:gd name="connsiteX8" fmla="*/ 3380458 w 4056549"/>
              <a:gd name="connsiteY8" fmla="*/ 18288 h 18288"/>
              <a:gd name="connsiteX9" fmla="*/ 2663801 w 4056549"/>
              <a:gd name="connsiteY9" fmla="*/ 18288 h 18288"/>
              <a:gd name="connsiteX10" fmla="*/ 2068840 w 4056549"/>
              <a:gd name="connsiteY10" fmla="*/ 18288 h 18288"/>
              <a:gd name="connsiteX11" fmla="*/ 1311618 w 4056549"/>
              <a:gd name="connsiteY11" fmla="*/ 18288 h 18288"/>
              <a:gd name="connsiteX12" fmla="*/ 716657 w 4056549"/>
              <a:gd name="connsiteY12" fmla="*/ 18288 h 18288"/>
              <a:gd name="connsiteX13" fmla="*/ 0 w 4056549"/>
              <a:gd name="connsiteY13" fmla="*/ 18288 h 18288"/>
              <a:gd name="connsiteX14" fmla="*/ 0 w 4056549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1" y="2706624"/>
            <a:ext cx="6241568" cy="3483864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Foundational contribution by </a:t>
            </a:r>
            <a:r>
              <a:rPr lang="en-US" sz="2200" u="sng">
                <a:solidFill>
                  <a:srgbClr val="FFFFFF"/>
                </a:solidFill>
              </a:rPr>
              <a:t>Charles Darwin</a:t>
            </a:r>
            <a:r>
              <a:rPr lang="en-US" sz="2200">
                <a:solidFill>
                  <a:srgbClr val="FFFFFF"/>
                </a:solidFill>
              </a:rPr>
              <a:t> and </a:t>
            </a:r>
            <a:r>
              <a:rPr lang="en-US" sz="2200" u="sng">
                <a:solidFill>
                  <a:srgbClr val="FFFFFF"/>
                </a:solidFill>
              </a:rPr>
              <a:t>Alfred Russel Wallace</a:t>
            </a:r>
          </a:p>
          <a:p>
            <a:pPr lvl="1"/>
            <a:r>
              <a:rPr lang="en-US" sz="2200">
                <a:solidFill>
                  <a:srgbClr val="FFFFFF"/>
                </a:solidFill>
              </a:rPr>
              <a:t>Quite different upbringings </a:t>
            </a:r>
          </a:p>
          <a:p>
            <a:pPr lvl="1"/>
            <a:r>
              <a:rPr lang="en-US" sz="2200">
                <a:solidFill>
                  <a:srgbClr val="FFFFFF"/>
                </a:solidFill>
              </a:rPr>
              <a:t>But some similar influences (Malthus, Lyell, international travel, collecting creatures)</a:t>
            </a:r>
          </a:p>
          <a:p>
            <a:pPr lvl="1"/>
            <a:endParaRPr lang="en-US" sz="2200">
              <a:solidFill>
                <a:srgbClr val="FFFFFF"/>
              </a:solidFill>
            </a:endParaRPr>
          </a:p>
        </p:txBody>
      </p:sp>
      <p:pic>
        <p:nvPicPr>
          <p:cNvPr id="4" name="Picture 9" descr="Charles_Darwin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789796" y="329183"/>
            <a:ext cx="2103232" cy="2861541"/>
          </a:xfrm>
          <a:prstGeom prst="rect">
            <a:avLst/>
          </a:prstGeom>
          <a:noFill/>
        </p:spPr>
      </p:pic>
      <p:pic>
        <p:nvPicPr>
          <p:cNvPr id="21506" name="Picture 2" descr="http://upload.wikimedia.org/wikipedia/commons/thumb/3/30/PSM_V11_D140_Alfred_Russel_Wallace.jpg/220px-PSM_V11_D140_Alfred_Russel_Wallace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684171" y="3429000"/>
            <a:ext cx="2314481" cy="28615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339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Great Moments in the History of the Universe: Publication of Darwin’s (1859) </a:t>
            </a:r>
            <a:r>
              <a:rPr lang="en-US" sz="28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Origin of Species</a:t>
            </a:r>
          </a:p>
        </p:txBody>
      </p:sp>
      <p:pic>
        <p:nvPicPr>
          <p:cNvPr id="23555" name="Picture 5" descr="chp_darwin_origin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441357" y="643466"/>
            <a:ext cx="3452618" cy="5568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295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Natural Selection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Consists of </a:t>
            </a:r>
            <a:r>
              <a:rPr lang="en-US" u="sng" dirty="0"/>
              <a:t>multiple necessary and sufficient conditions</a:t>
            </a:r>
            <a:r>
              <a:rPr lang="en-US" dirty="0"/>
              <a:t>:</a:t>
            </a:r>
          </a:p>
          <a:p>
            <a:pPr lvl="1" eaLnBrk="1" hangingPunct="1"/>
            <a:r>
              <a:rPr lang="en-US" sz="3200" dirty="0"/>
              <a:t>Variation in a trait exists</a:t>
            </a:r>
          </a:p>
          <a:p>
            <a:pPr lvl="1" eaLnBrk="1" hangingPunct="1"/>
            <a:r>
              <a:rPr lang="en-US" sz="3200" dirty="0"/>
              <a:t>That variation is heritable</a:t>
            </a:r>
          </a:p>
          <a:p>
            <a:pPr lvl="1" eaLnBrk="1" hangingPunct="1"/>
            <a:r>
              <a:rPr lang="en-US" sz="3200" dirty="0"/>
              <a:t>That variation is linked to differential survival and reproductive success</a:t>
            </a:r>
          </a:p>
        </p:txBody>
      </p:sp>
    </p:spTree>
    <p:extLst>
      <p:ext uri="{BB962C8B-B14F-4D97-AF65-F5344CB8AC3E}">
        <p14:creationId xmlns:p14="http://schemas.microsoft.com/office/powerpoint/2010/main" val="161924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/>
              <a:t>Natural Selection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The </a:t>
            </a:r>
            <a:r>
              <a:rPr lang="en-US" sz="1800" u="sng" dirty="0"/>
              <a:t>only natural process capable of giving rise to adaptations</a:t>
            </a:r>
            <a:r>
              <a:rPr lang="en-US" sz="1800" dirty="0"/>
              <a:t>.</a:t>
            </a:r>
          </a:p>
          <a:p>
            <a:r>
              <a:rPr lang="en-US" sz="1800" dirty="0"/>
              <a:t>Examples of adaptations: Leafy sea dragon, Rafflesia flower, and Darwin’s hawk moth</a:t>
            </a:r>
          </a:p>
        </p:txBody>
      </p:sp>
      <p:pic>
        <p:nvPicPr>
          <p:cNvPr id="2050" name="Picture 2" descr="http://tokyoandbeyond.typepad.com/.a/6a00d83510570d69e20134858df2f4970c-320wi"/>
          <p:cNvPicPr>
            <a:picLocks noChangeAspect="1" noChangeArrowheads="1"/>
          </p:cNvPicPr>
          <p:nvPr/>
        </p:nvPicPr>
        <p:blipFill rotWithShape="1">
          <a:blip r:embed="rId3" cstate="print"/>
          <a:srcRect t="10017" r="-2" b="15752"/>
          <a:stretch/>
        </p:blipFill>
        <p:spPr bwMode="auto">
          <a:xfrm>
            <a:off x="713705" y="2606462"/>
            <a:ext cx="3272606" cy="3639312"/>
          </a:xfrm>
          <a:prstGeom prst="rect">
            <a:avLst/>
          </a:prstGeom>
          <a:noFill/>
        </p:spPr>
      </p:pic>
      <p:pic>
        <p:nvPicPr>
          <p:cNvPr id="2054" name="Picture 6" descr="http://3.bp.blogspot.com/_IOUdGp5QqFs/S89pjNtNt-I/AAAAAAAABFE/9YXPsj-ZGHQ/s1600/rafflesia-arnoldi.jpg"/>
          <p:cNvPicPr>
            <a:picLocks noChangeAspect="1" noChangeArrowheads="1"/>
          </p:cNvPicPr>
          <p:nvPr/>
        </p:nvPicPr>
        <p:blipFill rotWithShape="1">
          <a:blip r:embed="rId4" cstate="print"/>
          <a:srcRect t="16317" r="-2" b="1592"/>
          <a:stretch/>
        </p:blipFill>
        <p:spPr bwMode="auto">
          <a:xfrm>
            <a:off x="4460075" y="2606462"/>
            <a:ext cx="3359496" cy="3639312"/>
          </a:xfrm>
          <a:prstGeom prst="rect">
            <a:avLst/>
          </a:prstGeom>
          <a:noFill/>
        </p:spPr>
      </p:pic>
      <p:pic>
        <p:nvPicPr>
          <p:cNvPr id="7" name="Picture 6" descr="A close up of a bug&#10;&#10;Description automatically generated with low confidence">
            <a:extLst>
              <a:ext uri="{FF2B5EF4-FFF2-40B4-BE49-F238E27FC236}">
                <a16:creationId xmlns:a16="http://schemas.microsoft.com/office/drawing/2014/main" id="{511B7922-B551-9840-BCB9-6852C95D8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15" y="2969936"/>
            <a:ext cx="3584448" cy="291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604" name="Picture 5" descr="polar-bear"/>
          <p:cNvPicPr>
            <a:picLocks noChangeAspect="1" noChangeArrowheads="1"/>
          </p:cNvPicPr>
          <p:nvPr/>
        </p:nvPicPr>
        <p:blipFill rotWithShape="1">
          <a:blip r:embed="rId3" cstate="print"/>
          <a:srcRect l="26163" r="21038"/>
          <a:stretch/>
        </p:blipFill>
        <p:spPr bwMode="auto"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</p:spPr>
      </p:pic>
      <p:pic>
        <p:nvPicPr>
          <p:cNvPr id="25605" name="Picture 7" descr="kodiak_bear"/>
          <p:cNvPicPr>
            <a:picLocks noChangeAspect="1" noChangeArrowheads="1"/>
          </p:cNvPicPr>
          <p:nvPr/>
        </p:nvPicPr>
        <p:blipFill rotWithShape="1">
          <a:blip r:embed="rId4" cstate="print"/>
          <a:srcRect r="-1" b="10330"/>
          <a:stretch/>
        </p:blipFill>
        <p:spPr bwMode="auto"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  <a:noFill/>
        </p:spPr>
      </p:pic>
      <p:sp useBgFill="1">
        <p:nvSpPr>
          <p:cNvPr id="76" name="Freeform: Shape 75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8" name="Freeform: Shape 77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48056" y="681038"/>
            <a:ext cx="2804504" cy="132556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2800"/>
              <a:t>Natural Selection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56" y="2258171"/>
            <a:ext cx="2804504" cy="391879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Selection acts on </a:t>
            </a:r>
            <a:r>
              <a:rPr lang="en-US" sz="2400" u="sng" dirty="0"/>
              <a:t>phenotypes,</a:t>
            </a:r>
            <a:r>
              <a:rPr lang="en-US" sz="2400" dirty="0"/>
              <a:t> in turn changing frequency of heritable units (such as genes).</a:t>
            </a:r>
          </a:p>
        </p:txBody>
      </p:sp>
    </p:spTree>
    <p:extLst>
      <p:ext uri="{BB962C8B-B14F-4D97-AF65-F5344CB8AC3E}">
        <p14:creationId xmlns:p14="http://schemas.microsoft.com/office/powerpoint/2010/main" val="119041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5069940" y="365124"/>
            <a:ext cx="6172200" cy="1828800"/>
          </a:xfrm>
        </p:spPr>
        <p:txBody>
          <a:bodyPr>
            <a:normAutofit/>
          </a:bodyPr>
          <a:lstStyle/>
          <a:p>
            <a:r>
              <a:rPr lang="en-US"/>
              <a:t>Genotype and Phenotype</a:t>
            </a:r>
          </a:p>
        </p:txBody>
      </p:sp>
      <p:pic>
        <p:nvPicPr>
          <p:cNvPr id="26630" name="Picture 26629">
            <a:extLst>
              <a:ext uri="{FF2B5EF4-FFF2-40B4-BE49-F238E27FC236}">
                <a16:creationId xmlns:a16="http://schemas.microsoft.com/office/drawing/2014/main" id="{1DF3F790-A336-49C5-B3B9-99985FBBE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48" r="28192" b="-1"/>
          <a:stretch/>
        </p:blipFill>
        <p:spPr>
          <a:xfrm>
            <a:off x="20" y="10"/>
            <a:ext cx="4639713" cy="6857990"/>
          </a:xfrm>
          <a:prstGeom prst="rect">
            <a:avLst/>
          </a:prstGeom>
        </p:spPr>
      </p:pic>
      <p:graphicFrame>
        <p:nvGraphicFramePr>
          <p:cNvPr id="26629" name="Content Placeholder 2">
            <a:extLst>
              <a:ext uri="{FF2B5EF4-FFF2-40B4-BE49-F238E27FC236}">
                <a16:creationId xmlns:a16="http://schemas.microsoft.com/office/drawing/2014/main" id="{9AE9720F-9F75-4ECD-935D-EFB609AFD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693797"/>
              </p:ext>
            </p:extLst>
          </p:nvPr>
        </p:nvGraphicFramePr>
        <p:xfrm>
          <a:off x="5069940" y="2322576"/>
          <a:ext cx="6172200" cy="3858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7494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4" name="Rectangle 72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5400"/>
              <a:t>Environment</a:t>
            </a:r>
          </a:p>
        </p:txBody>
      </p:sp>
      <p:pic>
        <p:nvPicPr>
          <p:cNvPr id="27652" name="Picture 4" descr="scan000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808558" y="640080"/>
            <a:ext cx="5103724" cy="5577840"/>
          </a:xfrm>
          <a:prstGeom prst="rect">
            <a:avLst/>
          </a:prstGeom>
          <a:noFill/>
        </p:spPr>
      </p:pic>
      <p:sp>
        <p:nvSpPr>
          <p:cNvPr id="27655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eaLnBrk="1" hangingPunct="1"/>
            <a:r>
              <a:rPr lang="en-US" sz="2200"/>
              <a:t>In this class, we mean the </a:t>
            </a:r>
            <a:r>
              <a:rPr lang="en-US" sz="2200" u="sng"/>
              <a:t>environment writ large</a:t>
            </a:r>
            <a:r>
              <a:rPr lang="en-US" sz="2200"/>
              <a:t>:</a:t>
            </a:r>
          </a:p>
          <a:p>
            <a:pPr lvl="1" eaLnBrk="1" hangingPunct="1"/>
            <a:r>
              <a:rPr lang="en-US" sz="2200"/>
              <a:t>Solar radiation, temperature, nutrition, energy expenditure, predators, family members, social allies and competitors,  sociopolitical structures at the local, national and international levels  </a:t>
            </a:r>
          </a:p>
        </p:txBody>
      </p:sp>
    </p:spTree>
    <p:extLst>
      <p:ext uri="{BB962C8B-B14F-4D97-AF65-F5344CB8AC3E}">
        <p14:creationId xmlns:p14="http://schemas.microsoft.com/office/powerpoint/2010/main" val="42280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4200"/>
              <a:t>From Genotype to Phenotype: Evo-Devo</a:t>
            </a:r>
          </a:p>
        </p:txBody>
      </p:sp>
      <p:pic>
        <p:nvPicPr>
          <p:cNvPr id="28676" name="Picture 5" descr="endless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408176" y="640080"/>
            <a:ext cx="3904488" cy="5577840"/>
          </a:xfrm>
          <a:prstGeom prst="rect">
            <a:avLst/>
          </a:prstGeom>
          <a:noFill/>
        </p:spPr>
      </p:pic>
      <p:sp>
        <p:nvSpPr>
          <p:cNvPr id="7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>
              <a:spcBef>
                <a:spcPts val="0"/>
              </a:spcBef>
              <a:spcAft>
                <a:spcPts val="600"/>
              </a:spcAft>
            </a:pPr>
            <a:r>
              <a:rPr lang="en-US" sz="2200"/>
              <a:t>“Because human evolution is largely a matter of the evolution of the size, shape, and fine-scale anatomy of structures, and of timing in development…</a:t>
            </a:r>
          </a:p>
          <a:p>
            <a:pPr mar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/>
              <a:t>I believe that the weight of genetic evidence is telling us that the evolution of primates, great apes, and humans is due to </a:t>
            </a:r>
            <a:r>
              <a:rPr lang="en-US" sz="2200" u="sng"/>
              <a:t>changes more in the control of genes than in the proteins the genes encode </a:t>
            </a:r>
            <a:r>
              <a:rPr lang="en-US" sz="2200"/>
              <a:t>(Carroll 2005: p.270).”</a:t>
            </a:r>
          </a:p>
        </p:txBody>
      </p:sp>
    </p:spTree>
    <p:extLst>
      <p:ext uri="{BB962C8B-B14F-4D97-AF65-F5344CB8AC3E}">
        <p14:creationId xmlns:p14="http://schemas.microsoft.com/office/powerpoint/2010/main" val="1439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dirty="0"/>
              <a:t>Levels of Selection:</a:t>
            </a:r>
            <a:br>
              <a:rPr lang="en-US" sz="5400" dirty="0"/>
            </a:br>
            <a:br>
              <a:rPr lang="en-US" sz="5400" dirty="0"/>
            </a:br>
            <a:r>
              <a:rPr lang="en-US" sz="3200" dirty="0"/>
              <a:t>At which level does selection act?</a:t>
            </a:r>
            <a:endParaRPr lang="en-US" sz="5400" dirty="0"/>
          </a:p>
        </p:txBody>
      </p:sp>
      <p:sp>
        <p:nvSpPr>
          <p:cNvPr id="7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701" name="Content Placeholder 2">
            <a:extLst>
              <a:ext uri="{FF2B5EF4-FFF2-40B4-BE49-F238E27FC236}">
                <a16:creationId xmlns:a16="http://schemas.microsoft.com/office/drawing/2014/main" id="{7D3F2340-A8BC-425C-BEC6-6BA854F9F0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6555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197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49" name="Rectangle 7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4200"/>
              <a:t>Sexual Selection (yet another type of selection)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3" r="21587" b="-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75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/>
              <a:t>Refers to competition within or between the sexes over mating</a:t>
            </a:r>
          </a:p>
          <a:p>
            <a:r>
              <a:rPr lang="en-US" sz="2200"/>
              <a:t>Darwin emphasized </a:t>
            </a:r>
            <a:r>
              <a:rPr lang="en-US" sz="2200" u="sng"/>
              <a:t>male-male competition </a:t>
            </a:r>
            <a:r>
              <a:rPr lang="en-US" sz="2200"/>
              <a:t>and </a:t>
            </a:r>
            <a:r>
              <a:rPr lang="en-US" sz="2200" u="sng"/>
              <a:t>female choice</a:t>
            </a:r>
          </a:p>
          <a:p>
            <a:r>
              <a:rPr lang="en-US" sz="2200"/>
              <a:t>Consequences: many </a:t>
            </a:r>
            <a:r>
              <a:rPr lang="en-US" sz="2200" u="sng"/>
              <a:t>sexual dimorphisms</a:t>
            </a:r>
            <a:r>
              <a:rPr lang="en-US" sz="2200"/>
              <a:t>, reproductive benefits at expense to longevity</a:t>
            </a:r>
          </a:p>
        </p:txBody>
      </p:sp>
    </p:spTree>
    <p:extLst>
      <p:ext uri="{BB962C8B-B14F-4D97-AF65-F5344CB8AC3E}">
        <p14:creationId xmlns:p14="http://schemas.microsoft.com/office/powerpoint/2010/main" val="1783128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US" sz="4000"/>
              <a:t>Sexual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en-US" sz="2400"/>
              <a:t>In the event extraterrestrial life forms ever encounter the Pioneer spacecraft, here’s what they’d see of human dimorphisms depicted on it: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http://upload.wikimedia.org/wikipedia/commons/thumb/9/93/Human.svg/200px-Human.svg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797832" y="2105470"/>
            <a:ext cx="2692328" cy="32173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274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Freeform: Shape 7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/>
              <a:t>Artificial Selection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2400" dirty="0"/>
              <a:t>Humans can serve as the selective agents operating on other species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6386" name="Picture 2" descr="http://www.strangescience.net/pics/ev_pigeons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850292" y="3814763"/>
            <a:ext cx="1742336" cy="2474118"/>
          </a:xfrm>
          <a:prstGeom prst="rect">
            <a:avLst/>
          </a:prstGeom>
          <a:noFill/>
        </p:spPr>
      </p:pic>
      <p:pic>
        <p:nvPicPr>
          <p:cNvPr id="4" name="Online Media 3" descr="Belyaev Experiment: Docile Foxes">
            <a:hlinkClick r:id="" action="ppaction://media"/>
            <a:extLst>
              <a:ext uri="{FF2B5EF4-FFF2-40B4-BE49-F238E27FC236}">
                <a16:creationId xmlns:a16="http://schemas.microsoft.com/office/drawing/2014/main" id="{924DD3F0-6C5B-9347-A21A-84EC873AC7D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25731" y="1601586"/>
            <a:ext cx="5218619" cy="391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4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9" name="Freeform: Shape 138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/>
              <a:t>Constraints on Adaptationism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2000" dirty="0"/>
              <a:t>Is every trait an adaptation?</a:t>
            </a:r>
          </a:p>
          <a:p>
            <a:endParaRPr lang="en-US" sz="2000" dirty="0"/>
          </a:p>
          <a:p>
            <a:r>
              <a:rPr lang="en-US" sz="2000" u="sng" dirty="0"/>
              <a:t>No—there are various constraints </a:t>
            </a:r>
            <a:r>
              <a:rPr lang="en-US" sz="2000" dirty="0"/>
              <a:t>on adaptations arising.</a:t>
            </a:r>
          </a:p>
          <a:p>
            <a:pPr lvl="1"/>
            <a:r>
              <a:rPr lang="en-US" sz="2000" u="sng" dirty="0"/>
              <a:t>Mismatches</a:t>
            </a:r>
            <a:r>
              <a:rPr lang="en-US" sz="2000" dirty="0"/>
              <a:t> between the environment in which a trait evolved and where it’s expressed today</a:t>
            </a:r>
          </a:p>
          <a:p>
            <a:pPr lvl="1"/>
            <a:r>
              <a:rPr lang="en-US" sz="2000" dirty="0"/>
              <a:t>Example: Humans, vitamin C, and scurvy</a:t>
            </a:r>
          </a:p>
        </p:txBody>
      </p:sp>
      <p:pic>
        <p:nvPicPr>
          <p:cNvPr id="20482" name="Picture 2" descr="http://s2.thisnext.com/media/250x250/Pirate-Scurvy-T-Shirt_968BB6FD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813627" y="517600"/>
            <a:ext cx="2743200" cy="274320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44FA22-3EEA-0E4D-9C0D-6D8E26A27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207" y="3429000"/>
            <a:ext cx="28280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22" name="Picture 10" descr="http://cdn.c.photoshelter.com/img-get/I0000FRp0VPwQBZU/s/850/680/65-01-RollR-01.jpg"/>
          <p:cNvPicPr>
            <a:picLocks noChangeAspect="1" noChangeArrowheads="1"/>
          </p:cNvPicPr>
          <p:nvPr/>
        </p:nvPicPr>
        <p:blipFill rotWithShape="1">
          <a:blip r:embed="rId2" cstate="print"/>
          <a:srcRect l="4747" t="1020" r="13932" b="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Constraints on Adaptationism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u="sng" dirty="0"/>
              <a:t>Physical and other constraints</a:t>
            </a:r>
            <a:r>
              <a:rPr lang="en-US" sz="2000" dirty="0"/>
              <a:t> (e.g. oxygen, gravity)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Largest insects lived long ago in more oxygen-rich atmosphere (3 foot-long dragonflies!); larger-boned marine creatures (e.g., female gray whales) thanks to water’s buoyancy.</a:t>
            </a:r>
          </a:p>
        </p:txBody>
      </p:sp>
      <p:sp>
        <p:nvSpPr>
          <p:cNvPr id="13314" name="AutoShape 2" descr="data:image/jpeg;base64,/9j/4AAQSkZJRgABAQAAAQABAAD/2wCEAAkGBhQSEBQUExIWFRUWGBwVGBgYFxweHBwfGRwcGh4bHR4dHCYeGBojHxwcHy8gIycpLSwsGh4xNTAqNSYsLCkBCQoKDgwOGg8PGiwkHyQpKSwsLCwsLCwsLCksLCwsLCksKSwsLCwsLCwsLCwsLCksLCwpLCwsLCwsLCwsLCwsLP/AABEIALUBFwMBIgACEQEDEQH/xAAbAAACAgMBAAAAAAAAAAAAAAAEBQMGAAECB//EAEkQAAIBAgQDBQQHBAkCBAcAAAECEQMhAAQSMQVBUQYTImFxMoGRoRRCUrHB0fAHYpLhFSMkM1NygtLxosJDY7LiFiVkc5PD0//EABgBAAMBAQAAAAAAAAAAAAAAAAABAgME/8QAJhEAAgICAgIBBAMBAAAAAAAAAAECERIhAzFBYVETIjLwgZGhcf/aAAwDAQACEQMRAD8A9JnGYCKvqA7zcE+yORA/HG6i1ACe8Fv3P540IDMawMUqfbX+D/3YjovUafElmK+yeRj7WAA2cZgMvU1BZS4J2PKPPzx071AJ8B/iwgCcZgfVU6J8T+WOUr1DPhXcj2jyMfZwAFY1gY13Bui7T7f8sabNMBJQch7Y5mOnngGFTjWB+/b/AA/+pcc0s6WEimY/zL+eADM3nNFSiv8AiOU+CO//AG/PBWK92kreFKpRwcu6VRBXYsFaYN5XUPfhu+e07ow5fV/PAAVjJwN9N/ce29h+eMXOSJ0P/DgEEYycDjOD7L/wnGmzq9G/hP5YBhE41OFfFO0VKgktM8gQR7z5YT0P2g0ilRiLqCVQTLRG1oggz7sJtIZa2qRucVDjnbDxtSpvpAjxi5PMxuIj4zuMJeMdtnrKAihBvZp2kXMfH0xUM9nix39SP15YnK9IC7ZH9pHdtpqzUEwWnxDpyhj1v7+WLzkOJU6y6qTh16g/ojHgZjngjh3Ga2VfVRq6CYDcwYIsQQZHPFID32cZOPMKv7SKlZQgiiZu6mSR0AOx9/T0wuznbzM6o702GmR4ZjnYROJyA9fnGTjz3sv26qHRRqFarMwUGYYA9eR0wSdjbnvi+fSV5EfHFismxmI+/GMNYYKAkxrHIqY3rwCN4zHJfEZrYYE2MxAaxxmADozqDTsCPjB/DAHHePLl6RZz5KoEknpAvHU8sFBROKv28pu2VqFRqhwpYAEqttp2EwLHn64YLvZYOB8c+kZdK1hIlo2Uj2hJAiPPHfBuJitSDpsxJgi4MwQRJg/mMKsrw1TlFR6QvSElSAZ0C4gTqnnOB+ydMGhr7s3YgMYkhbXkzY6sTe0h0qstBc6gegI+MfljdSqSIthPncyKfiukAk6jYxePa39PngihnJIW6sbxfbqDsRiiQ9s7Bi09OeIKWbIBsNyfiZwBtXqX+pTPzqD8MTFyYj4kfonABriOZJp1D/5bj5YGqcVy6gqHQNqBYIJuDeTYE26zjeccKjM7SApaItYE7f8AOKGeJOAumofZYn1EdR54TQ0y/wBTtFQ0nTUOqLStp9zYh4dximgOqqrGIEoxG7ETHr+udD4zxOqtQBajKNCmBtJ3xnAeKVXrIruWUgyCB0npiKdFWi28Tp1MwhWnmlUkjUVou3hWTBAXaYOHmar0mUhme957qoPObL92KNwzO1iit3jAkvtK2BAHskTsb4ly3ahqlQ0vpDsRIK6qn1d97csCixtoufDyQpZ3/vLhlpVdJsAIlcZS4pTFVaZr01ULBBFTXI2sVAjFTftclGqBVrV7QTpLfI9f1fFly/7V+GlAj97HPXrY9ZJJwNMaVhGc4pEGm1IgQWlm1E7EBdF+VhhZleKVkZu/rUmYz3SqrAwZ3GmTy5dcLuHdvzUD6UpAqxBXSQYkgH2pA2MjBtXtWzjxUKLHqdc/+qxwVInQDneGCteqzPN2cyNMEgKBAIFx9U+uF3E+xiwHonWDbxVCBYzzAJ20kecgiLuX7U2CvSokdGVfxWTjg8fpEj+xUBBkEIwv5GMLFhoq1XsjmSI1UwL7tFt7wtvuxFluwlZgSa+XgdHJ/ARi41ONq0FqCnl7b8/8uB0zFIgr3Aibjv6w89lb9TgSaDRW8r2DIaatVSsbJM/FliPdgbM9jvET9IWJtqpn5wcXb6RSiBRpi0CamYP/AHY5WvTAUijRL8ye+I+BJnD2FFIpdk/F46yMp+yGBB5GDTII8pE9RgduytWfDUpW2JZh967/ABxf6tSgVJOXDObytSoo9yxaLc7+WF5yqsZ0CmALAszX9wt6zhioqOWylXLVVeV1BhDSGBk3Eeki/wBrF1PbBWF8uu42Ydf8mFee4GKgUd4QVIbVp6cgNUtPnHLADZR1JFrbSdx1gTHxxSYqLO/bCkInL79GH5YHyvbmi1TSaDgAHmCeUcx54qXEqbhNZiFvv6fG+FmUrkksDzA9fLDA9PpdqssSZFQC0WPTybBWR43Qr1u6pMbKzFmLKoCgEycecZipoSfwtfDXsbx/LUqtRszRasDopogCkBnO8kiDaLdb8sKVoaPQeEd3m2ZKFWWVdRu4Am3MYg4lm0oO1Ni7MvtFWMAxJAm+LD2V+jjLmvRywy1Nh3gA0y6hdQcxtIJEb48y4zmmZajn2qmpvUmSY64iLbG0kWWlxZbT3h6wwH4GMZin9qcnUqUVFJC5DyQOkMPfvjMUBaOIdtaKjTQdaz3JCmVUDdmbpy9SMVlu1+ZcOtWnS0uRCw07iLgnTsLnFfyCgJVCJURmAR7qBAJaCdPhBIvA5YnrdyBFT2QbANGqeZOnwj3SPliMmVSLPV7Y1fEgproUaCYcD7Mg6bAeYHL3dZftb9GoooVdOnV9f6zG9gRczz5Yq1bjbimtKmzBQCPCfDpYyN/EDY9Cd/M95ztBMhQIQhe9aTOmwEDy23wvuHos2Z7StWTT4FkMrBrECN4IsPMxgfM9pXpwlQ+GJWNwZAEE3HxHwxVcrnIqhnWiVnUUqhgpMi3hkk3+tbyx1xSkWcNWGpmkseZOmYULEQbREW5AjBb+QpfBaKHadmaW3KaNZjUI1FSFBgmWJNxyG+8rdqyo0oWaLEuPHcgSSBB+E9dr0huJQQFplSYUX9mOe42i09fjF9MVZXVUN5LFvugSAeuDYaL9mO1qlSGZGYqUC+Zi8THx64U5tkBpKtMCFLEQLWXwsYkgkSZkgNbphPTzFN1VQ51QJCDYGDAgRyuSZ9cc8RCgKsVPDzG8Wm0b79MLvsaePRbe0faTL0qCLkx3tZvbdx7AG6qm2onncgDrtWsr2kzCmWpahufCdjznceuA+DZRHqBu8IGqYiSABNwJN49PPlibhmfD1air4lmU1RPQ3iLQPScVdaJassa8VV0puotpJNwIliZuRbCfhGUQZtqgqyTq8ED607EMZjC/+kELSURdrammPcI26xywRT4ihcEo+grE8iQd4HK0b4pMlotlSrHocQmojCbGLG23qNx78V49o6a+Fah5eFlJHlflgvJVqVaqk94CSFimJYyYCraJJgXtfFMQRnMmhlvYcwNa2PtA77HYb47oPUWzaag+0PCfeD4T7iPTBHB+DtUJ8bCmGgtEiZBKgxFtptM7YzP8P7kz9U7MJHxAO+KsKZIrSOY9cL+P5ao9HTRnVqBs2m15vI8sbzebCimFcBtUkaxfeAwOymd55GdhjsV3Oz0/4T/vthWDVA3ZvKVqSVO+1E2IltRgAzFz5YI4tx4ZdlXui+oapBA8ue+2JKisR4VLMP6whLToudyYEXjyOF2cK1WXvcmztECSJje18Ahg3GD9HWstIkkxoMki5H1VY8unPBPDs41SnqZNBkiIbl/mVT8sLqOZdFC08vURRYKACN553xZ+xTCvXIq0WAVZGvYmenP0w2BHRyNRk16YQfXay+4nf3Y39E/fT4n7yIwL+07tGauZ7hDCUfDY2L8/h7I9D1xSKlZ/tt8Thq2hF6qJpMER+vnhdnHhvdiqrn3Ug62sepw4zfFgTsQYFmBBvI25THXCl0NA1HiYzFKoDTgLpMM6gHnEgiNo3G+O8pw3IEAGqA1pgttYkD+umY1bC0jkL7zRNOlIoqSy6gug+IAxMKLeRPPA/D8rQbKNUcxVpOGYNAkMugi51G8bdNrWzqxs3V4VTqsVTMqiQtq1RENxq+swJHMWm49S+4Jwvh4qFNalwVYFsymgshbTpIaTci15vjOBdncpmcvUqPnSKiB8w6ogL6SFUkAsRJ0mxmNU2sQr/s+XzCvlVqV1SnqL1VWkEOxLQvIEeIndrbYajboTdHqiZjRl1y9Mf1YTuo38IGkCesCCb4GfKLoIqIujnqgAfligp24rVJDV6WXWLGmms7Aj2jYQdwCfLCOvwjMZvvKgqvVRFmWcNO5JnVCBRFjB6DfHRcONGWMpdlvz2eyqVNGVatWq8koAv63HQSbTtjMef5PLmkAzMtrN/XaQSSYMgybfccZhPm9D+mF5IF2IdpINzq3ZrkhVO0A77QLYjrZM1KzIpaOZNgBymDa3nfDDs9wRaYJq3+tHnBAEje022v5YV8d4kQW0jRrJDCB12NyJ9PjjhTt0jrrVsnrqaQ8LB29kaSDHUbXPL0OM/o86e8cg6b6FiAN4k7knfCzLVx3TPU0iDbSuksSCbkROGWTyNWszq1TTTU7oPaI/7QfcbYd12JKyBctqJfUUCXeD4ojYeGxJtfrzAxNkO05FPRoV3BOmeXvO5+/C7OVRSp1KYcMXKlrQbbDpbp54H4UxKnSJYEAfibnYD78WurJegqpnK1ZouW5g2A67CI3AviPN5AaRqa/kLSbR6Y4zpdSrajBn09Rywbw3JsfDrZRU9oFZIAlj5AQP5YHKtiUbIeHVagPd02Mk6QALkkxCjcmSPgMPcvwZKFZjmqiv3K95UVHJlpAWkZEEkxMTYHA9LjdHLu7UToeCimCSoaxZZEB4m89euAMpn1INOmup61qju0wszyg/vGw9+IyvZeNaDKHEXzWaICAvWIVVWAB0HkoEyff54ftwGhRqLT1tUbdk8S0yZBhSPE6zIixMnocDcEyC03Dq7SARIREmYkWBgEWPODvhJx/jrJmmFJtNgC0eK+4BiwPON/vhSydIpxxVyLHneMZQUSlNJcnSyBSqpHQkeK8RfaPej4Pm0p16WsjQWGuQunmdogn1wJk6deoQTqVZ9sA872J3JjrjjiWXIqMKYDCmt2kGJ3LGwLQOnXfFquiX8l0VKLaqtLK00NIx39cSkj2RTVTFQ3sWnl6YT8K4upq1XZn1absgC8wtgNvaiOmFOc7SVlpCl4QtKAoW8mLsSG3Mk+8bXxEmbqIq9xTOsgqzqhk3kxbrz6AeeIUGXki8cP4mUp1XcVKNGCyhiJZuQCxaTcmAB88bTtPRq0Q1Twgr4wJlblRcAgSVaDvYdcUbMGpRC9+FcvBBY6tO1o2nqPIYA4jx16pEtCrsotfqY3bz5bCBit9Jk3XY6z/GKbu6kA0xZHElhpvOojUQbz7sW3heSopRpd6QHJMuDuATYsG0i0eIkbQL4oHC88vdhNPiJYeESWB9ATpEbbfPBfE1rrTUOwVQui7XaOYESIHhuJgYlp9WCaLfxvtFQp1qaUAj+ArKmwLeE6oHit59fXFer8c8YR2bSpuVXSxBHmxP/OK7w7JVZR1SQz6UiCWO3hXdoON5pHJLLDeIISpHtHYb3nadrYpKnQm9Fsz/ABaqr1O6Dd0plXZhGk+yWJsWO8SDfbE2S4zmKTa+/NJRc6VVnciSSoNlXVa/zwCeDLQywqVmNQSdKBoQvJUnqY03J3BGxNltbiYzDFqxdqhOjTTAJYbyFiwnp0wZNhikPckiZgFlVi5YktUIv9YsYNtwIi5IA3kRJwrvKq06brUqRLQQqA/ZlQRYbmYHXAfC822WqhaesM5Gnv1UaOpgE6jtZvhfBvDePfRjVqGqtSrWBEEKulQxlizSBLD2ALgDywspJ9lYprolq9k4qGkayPU0yFpAkknkNUT6j1th7/8ACgLn6UbACHFRF1EctN48r3xUcpx05erUriqMxXdWAgsVplvrMWUBzawW2Ey16uYrqjsxd2vqkm4nbla/LDcpvySlFeC98X7YLQstEmCO7PeDQAsAahSeHNt3k4hqZTXRWrVp0lWuySCzDwEzqMljfwkQZvOKtl3emsUn8T2NMQ2oDqACCMMeI8NetlKTuzarjSSCCS9jIJAEEADaByg4jryadoKynCMs71FoVWVgml6hgJpMAgAmSDEbxA3OGfBuF5bu3KVUNJGLVP60d5UgW39hfM2AWYJOF2U4Xl1yuhjUpuQNdQSZ3lo5UwNQAgEyJ3xLwzs1lwTVSs1RYlajKoVR1E2J/eI9BzCcm/IlH0cVeKVq76KFNSiQQuhe7SLjxOLH94nU198E8Q4iZrU3KrQnX3asNVQ+cEHu7aiJBNvMYWcWq169QZWiSadO5JYESd2d7mSbR0AEWwwq/s+VaAZ6rCTdiwFtzpWDFttR5gkDCteR0zjJ8Laqs/R0DbqQiooHRlcS5gnkYtfGYXZvjzMgIfwI3d011E2VR4jzcxAlvtHyjeHUvAaAOL5wCGFRSwg6RqPu2Cge/AuT4a9eoKtQTTDhSBfVz0qBy6sTAxZUyMhTlqaDWASXamsSNrsXMekeR3xDxLgua06aSlpJJNLSBvzgi8QJ540TpUQ1fYr4sypUeo1RpY+xIHyUkYMy+bWhkzUDai+w1SA0WUW3G5wt4r2WzCQe5dp5gTt5ATjrgfZ2uq1KzhqKUwJ161JJ6ALLWnpuL4KVBk7AaeRidaMzvp7sAHxMxkxa8bRhrwnI6g3gh2kQl2A2m2wn3Yaoyw9SgjGpVC0AxUgrraGM3CALpAA9STzK44yUHSmlGqVtqVFIUACASwksecWxLbfQ1SKXk8i715GpgrXbcc7/ABw94jkglBiBDaYkGN+XvHxxnF8xVkJQo93qG4ABi2xmFgk+fnhbw7heZFamj0XZS0hWBKkwb8xuR8cN29sE0tEfAuy7VvHVlKQEg7F/JZ5eeOeLZ+krlaFNQBaYvzB2j093OcMMxwbNmuTCu9NjIpuDpJvczb48vLBXCuA0kTvKqF3U6mU7CDtA9q+84WSu2xekQ5qlmqqI6SiQPExgMYkEWJNhvETzwqo5UI0BUqVm28YIBuZAMBbDdpPphh2h4zVrgMtIrRnSpZQSSB5/ht1xFwzhP93rphHXVUM69bKokGI0ovIliIgnDWkDabO86tasVp6lpkS9SSQiAcybmALczPrgPP8ACUpqD/W1dQBVlUohnmJBJHIG04fZLNDvSqAFmJZzbqYQAG4A33GIeJpTDIrvJY3ZmMrz1DSJLWgLYeyBG+JjOnVFON7FOS4TXDAtSkICQKmwgTJuABF79MEUc/XqNIenAuVDqJA5WkxYz5YfcXrO9CpTV10qgDMzbEjYkT4z7PmS3nFIywqhhTRgdZHsySCbfG2KTy2yWsR7WD1P/D1tuD4Tv1J2Hl88K8xw1ZZqjU+V0aQpkyDAhniLLPK4nDjg1AsTpB0AaBYiTvaDeNyfzGIPoGms9FA9RyRrqEf3c9TeBBkm3s4SdOhtWgHh2frpIoUSfDCsVuBNyOV/fsOmIs3la7lTVlncwibsZvsLL6G/liyZYMrugNPQqwjufG7xYtqaWiT5bRhFXautcKXqeE+0iwdr6CJkkH54pNNiadEnBaLU6izWQMpamEmdBdWUksLL6idsC5Gois1P2mZgASogEGARqkzfyw0bhuTy6q1bvjVbxBJiLyNQgGdjcjc2wsIWNdHLu0Ge8czfl0UXMxuYvhiHfE+MLSpqopKxXwguJJG59L3nzwBkuIvVliO5pxBNNdOrooIF7X6x64ZZp6dHLh2CmpUQSd+UmJtN4sMS1sp3GUp997dZhad2bmfJB05xiFSRbtsgyYpLTi6ahq0gsKjreGdt1SbxubbSGwvzIpuyqqhEXdyJdifszJvG5+62CavCqVFr5tVG5kTuN4FwRPzwNl3pl1JL38SAi7CSFbTN9yQJ5g7bv2hegPMUyzhakUKa7DSed5jd2PNj5eQw1TgNJUFTXAAgs/7x5La5ki564j4xwbvmqVA4RaaSQQSTH2osu+0k+WI8vlxWpLRpFqjswGpiQq6dzoAFgDMknbrGC76Cq7QPxPPIGIonuww0tpYXHQwNjEkajgzP8ZSKSFqgCoAlObKOTMRcuQNogA+eCKvZZ9Xe03SnSorEkkk6blibLqO/hJAtfC+jxil371qlOAFAVRBJJJOoXiYG/KcDSEmx9wp2rrrZl0jwsCtpIuxBkQNwsGTHXCjivFmqVhl0YhNQQSAADMFgq+FT53O8EYzO8bZqIYTTRi0LuzbiS3mZHnB2tI3ZihGbiqukIpd2YexaQTa0yB78JJbY27dDfI8XGViUimlwRBJnmR18z1GFHaHtTVzJJLkUxss2jz64DzubetUqJTVmDMYAvaYF+nywTwbgbM6SktJ8LQUMCdX7wXmOukc8NRS2wcm9IWZCnUfU4tTEBmMBZ5CTbUem+Mxae19AUspRpAACZgdYmT5kzjMNPLZLWOi41uxVTkybfvflhbn+zNampMGJ9pQ1vfAjHpf0x/sC/kP0MLc7w5aohkMeTkYvAnM8wzLV12qOPRyPxwZwniWYUMWZ2/zO3yvbFwPY7LkklKg9HBHzGJafZiitgKl/NcLB0PLYjy/amLFG9mSdRPuuJwZR7Tqfqtid+x9Ezd9o3xCOyCj2XPyxL42VmgL+ksoX1Gh4rX0gm231vLDHL57LuVcKAwsDpuJ5WwG3Y9hdX+OID2fzAmPk+F9NhkiwV6auIM+7l8vf+owtyPZ2jSLaWc6iWOppEnnEBZ92FP0XNI8EVLe8fEWONPl8yGsasehwsF0OxxxLg/fGe/ZLgjSqyI2gtJEb2i5wvpdjaYqa2r1a0iGWo8BhaA0CWUEAxtYY2Grkgf1g+OIM3mcyrgB2jzAj/wBOEoroGd1OwVA1C4q1Kc8k0gCdwJBOD81w1KWUZKGUo1KgACd4qOTJGp3L2Lb/ACAtYLTxaqNyDfmB/LBVDtEuzi/kP54HFS8iYj4f2VrMpFanTBDSmrSaayDJFKnCl9rtbYHbB2Z4WKCK2VyjtWVw2pyu4UiQFYIFMxEXnykOm4pS31R6jHDcapD68+gb8sDjYaFOYp5uuKCvSFGnqHfaHHeMNUsRyQbwAefuxLR4MqUyEy5W2pvGpaozEmCxafDMXIHOTthiO0VLqfh+f6GM/wDialH1tp25db8vPbCxZSoqHaHhlMqpzBYVSfBSo6TAkDQWjxHzUQD1wGCUKrl8pUT95WLySIkEgoptGoGbb4vi9o6JPPeNv0fz5TiHi2eWtl2CVWpEg+ICTHdu2n2huF62kHBTCr8lQyvBZL1atLvqrQEpA6tG/jqRE7QLxckzysWWyC1X7s+wgl106US8RdYP8RmOe+CuylcUsslN5Vqcg6o6sZBDEQIPP6pw0pLSBZlVQWPiIFyeckemM5Qkw6KXxWvTqNTp5bun8Z1qV3CbydJAQgTqn3Wx1xbU1Wn3qp3VAk6iQiOwWyqGhnQG0xeOQxdV0DZR8MCZnhGXqks9JXJ5tJ/HFJSQzzfL5upnc0DWXVTBhtKhFAMwGIFhbncgH1Bfa5aiMtRE0K4IDHSKjIQOU60BMwAB4dPXF9fgeWKBDRQotwsGATufW+OczwOmwAVaagbTSVtuVzYYbbu0LF0UXs/lAuVmuagWox7umo1VKkgDwruF/eNrjfmryPDqtF2dQUKhhFQhWGoEA326XjHpWX4JUWf7VUuIslMR6eExGw5DEXEOyNKsiq71CFiIKjYaR9TeMSm7fse9ehVX4ZX+gJRW9VlUMWO2s7ljsASBig5LKO9UUhLB2CEqpMwZtIBAt5W3x6/w3hhomA5NMABVZi0Af5re/CrifZJqtQutVaV9QIVyw+NXSPQKBhwlJN2KSsB4jlBSpstMKKq+ySlkUKP7sQdRMRq6CJjevUKPd1HqVGOlx/WSTJnloXxCI3JBGLB2g7Lqv9fWr1XAktGhZ03MSefRQcAcJ4AmfV6nfNIqkd2FCjTuNtzBFx1OBXXY7VhtbMgUNVNQKSpcRAllO/M2MczsfPCnhubqd9RBq0qSiahLmEaBdFi7WPP8sWStn+7T6NQcd9/dqxV9N/ackiNUyZki0xyxTOJ0nWsuVIZqpIIcgtrLDkriQDy25HnOCLz7DS6A+OcWWqQAzNpgSbAwCJi+N4tPDP2eUTUDOXYDUHpBgSCCVEtTDAbTEzt78xa5OOOrIacts9GptUiQw+H8sd968bgYIq9natyKXsjr917nAP0dydMMP9OOu0YUyVKtT7Q9SJx2WqdR/DiJMlBu4t+6ZHltgxMmrD+8g7QQ4Pwi+FaHTB2Ln6wxoCoPrT7v54nqcOGm1SpPKVgH37jEdPIVDtrPvJ/ngTTA5asw3j9e/EZrOdtMb4mqZGopB0kHqdU/MYKFWto06VYHfUl7iDNlsRhNjAqoKkTDSAwIIIIPnHrjJPl8sS5DLFaFQ16vdmkTp7wKVMm7Ag6oa3hsQwYwdWK5n+07QVp6f82mT7htzG/UWwJ2DQ8qVdIlioHnhRmu1NNLAhj5D9eQ/wCDisZhWqGXdj91+g25j4r1kQfRVHKPf62J6RY+S1PKABvm+2DNZQo9BP3+7pz9cJ63EWcyel5/L3e++0kDioFXcfGxte9vDteNpeLquNDTE7RO9trEmLi42G0BRcSksZ1PoPP0kkzfaDJ8juZxzoPmPLnyFwJ5kCL3OkajOnTNG2/zsATtYafCWOwIVRAQkcHMCPK1ttxYdbifOCY9o1ChnJXnbawnluDzAXmN+UapBPBrsLAmSZ6X2BjmdxvI2BBlcbOaXe/uifO/I8p2WRsKa6hatWd/yBt8gdvKmh2BuAYc+wsL+m1+nlvuIO+l4nGv6RJB2MiDvfVyveGgAsfE2whQcQ1WBBg+8+g3t08bDzRBa2IalQbReSDNz5z1J5gXb2RCicUIPPE+pkAkyPOCT5SqO3lqXGk4m6vZyOsMQLC9ugMqB0XzwuNWQfMG8jnAJ6GeZ/0rOJDU1BidiW5bSajX8wCJ6YKCy05btGxBBN+RBnaN5+/BycVfRM3n9csUtNa+yszO1zf0PWLEWOD+H8V6klTJ0zsR8QDtiXD4KUl5LPS4s0+yTfEx4zB9gn0P8sLMrmEYAqrEGD7Q/wBlvTHdUjWsg7Nz9P3cYts0SQwbj4B9g7Tv/LG6PaFTyI9cC0qq/wCHPq5/LHNOun+EB/qc/eMIBp/TKDk3WyziZOIg8t+oOBFzgCWpKbc5/KcCNx1g0dwnu1dfTD/6LfgK7RtqydcBQ3gNvvjnMThN+z9f7ICrXFRlYESLGRFwQYbfz9IK47xx/ozAU9JaF1ABok3MMIIiRHnhd2a4yUL0oUw7NIULAMCIVQGiN8PWIt2W+b2MeQVfyx552vy7jiRrTZO5qc9tSp8NQj34t47REcgInn64XZ7Mmu0s7rrptR8LGFuH1ztqm0bx85jpjasc0OFsGK067UVuYp0Egz1kEk+ZOMwFV4+1FVBXVACzJuQLnaDPljMYy4rev3/Cj1GnxKD7H/V+hgWrmXIIV2SW1WIn022wGC5P8xz92JO4aPb+U/ljvpHPslqMWiSZHO34CPgMavESR5gwccCm32h8MYKbfaO/QbYdIRLSqMswzX6mfvx39KcfXbAjh+Tfr4YFqCr9o+6P9uAClcQ7Y1v6VBq1qlPLLrXQW8J06lLQN/EJBMbRNrv+H5jOZ6mKuTq0BT1EMXRmgADmjEFpJtvt1sh472QOY4hRSm2lqoY1CwHhRTL1OhmSI5n1xdc5mQKqUaOtaSSdNJejMddxpZmZZMiPdibo0aQk7TJoZO8qFjAaALAgaz8tI6nV6YT5fLE2HKBPKQFE/FG/g9JC4nw/NFTVKVDSpFRrIgW0oIgQbU0BgkW3uMBtmnpeBvENAhkOoQeci0gBRH/lkWg4ZJYqPDpsB9gegZipn3NS+WI6vDgTMknSGO0SQ9Uj0Kpt++cG8L4mKo1CFJY2Mf4uWuY2iwv08sRcPzPdUpY/ZsQZIWnRpkKOZI70D0875tsuhfV4INtRLezYc5FMH/8AIKrf6QYsJF4lwQozFLoCQJ/cKoLCbam94T94yzzTaQNR/wAzC+y92x8yIzDDz09cL83WLDSRPIrNhEjTv9Z2qieQXVPhwthoUdzNgbQN72uwkcwAO9I5llGOHoEkDr7zc/Mk2PUzPhWMHvSHUG5BMW33I6FhMfYokYhrJt8PFJ62PukEc/HzcYokWVacc/OfdP3X5WvKiAYmF7/q/p+G99MiCVXO/WffvPxm9uckbJITKzSQCQBJtsNpPIDlO3L0YiNvWP1Px58738USIWp/8et7T+O92MgDB1LhNRzAUn02HO/n+twRg2pwMrIM8wRe5G4tub8r3vgySGosrdaRsf11n052IkXExiOmWmIna0W8rWt5W63w6znCShE2kWtYjeQLTE2FhNyZwnzA0n7JB3+6PvLXvikxUTZDOlTOuDYGZiJ1EnmSSBaNxh+iU6yghQlQRKja5gC8clSPfhPTz61QFqxqBs4X5H6vyWN74kpEiIuQZCg79Cxm+KQhjS4k+XZKmnwzpqIbX21D872jFjq8SoMQ694pgjcRePfyxWKjd5TaSDtf/LBPqMTPWif1fEyryNX4G9Tiiav7x1tF5H3SMbo+KIqBidoqAnCVtLc8QplwRBFvXGLS8GibLS2SqNaD8cEVuCVAqmHM8pPXpGKrk6tWjHc16iRcCQRc7QbEb/HFjyn7RK6ACrTp1r7gaGj5qT7hgx9jtm+I8JfuHJBGnxCeo2wu4JkXaXMyWOx9MXEdqMrmqLUzqRqgK6CsmeQBWQSbRhd2aVUy9dFBFQF9GoRfSStzYXjfBj7FfoSvVV8y1FNXhUSWJBJI8VjykmIm0YW8UZqdXQJ2Eep/lhV2qzbVszIUd5ZQUMm8QJG5EgYcsO9NGrocllUtAtMQfnONeTixp2KM7DGpEooIa3kfwxmLNSUFPYYesD7zjMZ4hkP6OeQ/+KT/AKf/AG4m+nIPrt8D/txyhvel8sdM6j6mNzI6TPodmPwP5Xxts4g+t9+B+9Q/+GfcP0MQ5nOLTR2FInSpMRvAmL4LBIYGuulnLAKt2M2G5udtgT7sKuFdsMnmJ0VlkHTDypPKQDuD5Y8/4t29NTuu+phQQ6BAWCBWkGoT9ZiRpHQJPMDCLsjQSvW7lagSSSGI8jFvUD+LEZF4pHsHEayBiUC62AQt+7uF32kkn0E7DEvCaYFSk1KoBVfpci1tVouNxykk74p/As7XrNQDFWWpTNNjJtUSrUC3i5ZSPXw88WjhGSfvKRphQ6tqljaeQMGV2NtzOHaJpl/z3DA9Mr4SGEPrE6hEbCBJ9Ix5Hxnhoy9cBGFOi5KtS22IUsPDINwCTcbcseqjjgpoGrAjVAtBAJA8MzJvO/Q+WFvF8pks2oLFHLGA9IyZjnp9qAZg8sSUeK8YerQrsq1AUkwNeuxGkyd5IAt5DmAcTp2k1DTBDEhiZHtCTMxAuzP01MTYKExbeNdlculPVQJcgkO2oQCASw0BQVI9YERhFw3uNZWuBEEAqYMx5AzeP1bFUmFsVVeKAX13mRBEACLAHoVB/wBCTYEtI7sKetlK07AMZC2ECJ9qBYdeftvptXG+zGW4cyZl3WprgUKbjmYl2G2hZ1RsSQOkVbtN2pp12A1Fytka0C51VCTcGPCqbD2ryMKgJEokqpkEvJVQGM6YJExACrp8VxuSfGcDd2XE6gIAa4vB2YiRpXaCSLCxspAWezCMGRCgIuCu+kDwaybFAfEQR4mvucVVs5Un2ibzBMyftGd28/dgxYrLzQ4MhqBDXQ6wdOnxTy5bWEmPCALmLC1cG4PlFSDV1mSCFIMxfqZIBPsyBPIkk+SZXiVVWVg0mCDP1rz4vtR52sMPcrxIuJaQX3vM3+Y8jiZQb8jUqPUkzOUpKe5qNTBsdLRJ2tYybR4Z25YUZjidHVJqM9Q+cta97gKB1LGJ2xReIHxBgRItN2ItyA3MW6DpgDuWV5Ekm8GCSOU/VRcSuNfJWbLrxXi9N05A3OpLGSInUCiavMKZxR80NR0QDyDAQY89r+Z+eHFCm2mXjV5GfvFvcMDZ3T6xv4iem4JxpGokNtldr5FkaDywXlq5ggMT06W9/wCGJMyogXn1I2922ADmNP5fr9XxViobZrOMtFmT2o36XvHzvgfJ1itPxNqJMkzO8YVZzNsUtIXYj54k4DxLu2IKU3B21pqg+Q8/TkMQ1ZadDkZmSDP87g/h88FnJ1q6OuXViyjUdIJsPTmdh1wdwrieZdgtKhRv/wDTU4HmTosPOcNuO5nOUaaMzoAVqKe5BVQYBUmIBaA0HGc/tNONZOirZcsKYDSWG8i/vx1T1GwVvgcN+w9bNhqYh3y7VjWYgn2kRlMmecqSDvAjni3dr+OUFyz0q9Qr3ibJdhte8ReN98S5DcaPOs++jLGooDPqM81CjSLRYtJvOwjDDs5xerUZAjkglQ2oFlGqAdXPSNp6KYxVM1naYyQoq9Q1O+LkT4CrKACL+1a89B0w34HwBzkO/SuKZaoyhZIZguiYA9ob72tvimlFZMF9zpfBHw3hRWvSZfEBVQHTuWDAmF84ty9MWTg3bFaOYo5RqZVYCMzSGV2vBHSW0nbrjngWTAqoquO9NYrTYqSikqkPBgk8lB2kk7AY44zwAZvMgFe7qvUAcqIuBp22sbn340cvqL0iVFw/k9BqAdMawXwrNCrQpVABLopN+cX59ZxmOY0MenOy/FZ/DGLlXIiUA/y/mMGDKjq38TY6+ijq38R/PHacti/+iDyePRVH3YSdr6Qp5St/aAjqFIvDeI2A0jVLQQIPXkDi3LlhG5+J/PFY7dcPoLQLugao7JRRiuphJOw3kAtEXviaRcW70eMcWy1RyCQSYB8Rv4vEDfeQZ9+LR+zfhoTM0WZfGdXP91o8uU4V59TGskwwEDppJSPcFA9MXvs52eOX4hlqbT4st309GKww25Eke8YpwUYqiXJyk7GlDgFCg1V2zPcKW16FaSCRaPCNhygna9owLxbt5lqR0oXqNYtVhVdo6/f7sWPOPprKplkMhzsfLTyPvGFtfs5SrOrAlZhfYpkzz+p545ZcdyujWMlRWR+0oh7lqlI70ySv/Ur3PqD5RgvMftEotNXL1O5qWBpVKSD+GoohxbnB8rYtuU/Zim5dyI9kLTBv5lT92CR+z1u5aiqoqMQxZtLPIHUItsNccfKE2eent0XbS9NfFAnSs7nYnltz64tHCuDq1I1q4pCjTBeo40AyFBj2eRJIjrGCuL9hKeWRXau7FT4VAQCxm3hkYW5XiC1aRyrUFdXMbeIEx4gfqwROxw3CPhCTKXxzt5VzNUnucu1NfDSWrRVyqg2BJ8rmIvOEz9qXuPomT92WX5Ri5drf2cNlAj0yKisoMEDUs+guNr4qdfhDqTKgf6f5YMI/AAjdqDzyuUnf+4H4HHQ7WCBOSyW3+CZPmYfE78Kabx8P5YHGUPT5DDxj8Cpmx2tQ75LKe6mw/wD2WxJl+0gIg5XLiOitYfx4ynw8kiJn0wzyvBus/LBjH9YbBl7UpYfQ6BjnFX8KkYkqdpVM/wBipGd/73/+mLLkOF5dRL09U7yZ87RthjSyeT/wqfoQfxnEOK/WyijUeM2gZRfjU/34gqZ8NE5GmTJkl6wN/Sr+GPSU4ZliJWjTj/KDjf8AROX/AMGkf9C/lhOv2ykjzdFpkXyVIDp3tf8A3nDLhPZ/LVPbRF9DVn4l4+WLsOHZf/BpfwL+WOlyFHlSpfwL+WGq9/2FHn3avJU6IejRXwvRFSZJko7g7now26YV/suX/wCYKbQKbkz6R95GPQe1HDUbLkgKumfZUXkTFo+yPhgL9nWWQU6raF1a9M6RMQDE7xP3YpPTBrotfe/vD9e/HOdoI+Xqa1DwCQJifCxjpyPMYk1jyx0XXRBFiyi28mYjr0jEwishttLRVv2d1gMs6zEVJuftAfKB9+KL+0D+sq/SJI11KlLuzugpBAJ8zqnpi9diVC1M2sWFSBPkXH5Y47d9m6NWg1b2XBUGDAYmRMR7QA36C+wxckoz0SncNnjtJNRjFp7O5winoZhpUkiTtqvA998A0uAL3iAObsBy5nGq+XNNmQqQVJBEcuvpHTByQXJFxDjk4PIv1Gv3OUqZhNDVKRWqoaSpDaYmCDK6FNjvY2JGKtQ/aBXq5xKjCkGaoJOkwCxgk+I2vi/VaYfgZVFBJyvXosnfzBx5twzspmFzOUJot4ytQyLQHEmx2C6Sf82FxpRVD5G5Oz1/hqijRp0hVU6FCyCL9Teec4zEhVZ9hfhjMZ6KdliRf0cdmnGNI1h6Ee//AIxyBvPT/jHYcpsHFf484+m5OdqQq1zYnkFWwFvFsfLD+kvnz5/8YTf0alHMmooI71Sp6QDImPfhMqLKNluGCq2UoxAaqzNInwqxcgcxYkfDFy4tnGHFMnBMGnWUgKYuAQZiPq7YQrQCZhagdlZNQ5EAtpU+1PIR92HmWzBfM0mZgSocCRygTEYiMnVMvkSvQ2zNHUxN7743lVCvS8mnEwedjyn9XxLpv6QPfimjMff03TQGWUfr1xXuK9tIMI3XoR8vzxLXpgi5OEeb4ZJsx9+IoqwPiufqVwBqgDlED7r/AM8Lcplip1BrjDapkiu0H5cx+WBRRYdPjidlaIMxn6hdWZiwACwbfngHirB12jBubpm1187jAWaNsIoBdQRBnf8ACMCjJqOU4P0iPaHz/LEb+o+f5YABhCkELt1nBNHiZE+H78RMt7Efr3Y5Vev3jCoBinFpGw9wxz9IYzAH692BUrxtONsZvfBQWTvVrj2VI+F7/wAsQ/S6xJkspnkZ+V/vxFWUmwxqjknnfFohhaZiqtyZHOTH34Y5OszbkfEYFynDX5Ej/Ufzw+yeQbmMWkSL+0uZC5YJImpqFok6UZvvAmMM+yHD6dHJ0johqiio5gmSRY3mLRthD2o4aDnMsHMKFaABvIYGG5E2BkbYsfZlHOWQEFVWUTUQxKqYViRAuBiU/uZb/BBz91zX5YrPa3R/Zig06cwhb0vHzj44tL5Unm3u/wCMIe02SASmGltVVQJ63IPujbFS6FB7Aex2hcjRmCzBnJIO7MTvgTtsoOXDQPCwG/W3mMFdneCTRSpS1AONWmSQJ8jIB9McdqOF1foxEm70xy5uANh1IxDuuiqTl2UZ+C1VenT7ti7IKgGkgw159BtPli55rhwObV2CsSxkWNvo6DSRyHliD6O44pVLGStJeQPtRbaOR+OD6VYBmIMFjLWIkgRJhheAPhiJWaRpA9dAuTrUFPhQ6J6Aur6fPTMe71wTqP04dKeXgD/M8fh92JKpBUhtJU7yD+L4h+h0S4HdywWwESB5DePliaHY3Lk3Kn4fljMA0+EA7Aj+Ef8AbjMPBk5If0iRcGMabOPIE4zGY6qOckGfYdOu2OHqmrCtb0/W2MxmJkNFX4/kjRqU116wx1HwgdYBI39cScKqf2xB9W8D1xmMxLLZdUjaPLEhN/njMZimZguZqGNz7o/LCqo5+038X8sZjMSMgNc+fx9MRWPX4+uMxmEM4fJA8zgOtRUz7X8Q/wBuMxmJC2BNlwBz+P8ALEbURbf44zGYGUjkIP0TjRQdPmfzxmMwIZItJfsjBFKgv2f18MZjMMkKp5VOh+OGWWyikbYzGYZI0p5JRyGJqdMchtjMZihCHttlwadNualo96H8sNezlScpR/8AtqPgMZjMQvyZo/wQxnCrj9DUtI9Kqn78ZjMWyF2BdjK5NFk5U2Kj+JsT9q6erK1BqInSLR9tb7TjMZhPopfkVurlW/phgKrzoGo+E6gqLYjTF+sYTV8+/fMQYv8AgMZjMZs0j3/A7p1m7otIkLO3P47YjoZx9aDwwRJgEH3GbfPGYzGlIgcpm2mAzj/VjMZjMJomz//Z"/>
          <p:cNvSpPr>
            <a:spLocks noChangeAspect="1" noChangeArrowheads="1"/>
          </p:cNvSpPr>
          <p:nvPr/>
        </p:nvSpPr>
        <p:spPr bwMode="auto">
          <a:xfrm>
            <a:off x="1587501" y="-836613"/>
            <a:ext cx="2657475" cy="17240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6" name="AutoShape 4" descr="data:image/jpeg;base64,/9j/4AAQSkZJRgABAQAAAQABAAD/2wCEAAkGBhQSEBQUExIWFRUWGBwVGBgYFxweHBwfGRwcGh4bHR4dHCYeGBojHxwcHy8gIycpLSwsGh4xNTAqNSYsLCkBCQoKDgwOGg8PGiwkHyQpKSwsLCwsLCwsLCksLCwsLCksKSwsLCwsLCwsLCwsLCksLCwpLCwsLCwsLCwsLCwsLP/AABEIALUBFwMBIgACEQEDEQH/xAAbAAACAgMBAAAAAAAAAAAAAAAEBQMGAAECB//EAEkQAAIBAgQDBQQHBAkCBAcAAAECEQMhAAQSMQVBUQYTImFxMoGRoRRCUrHB0fAHYpLhFSMkM1NygtLxosJDY7LiFiVkc5PD0//EABgBAAMBAQAAAAAAAAAAAAAAAAABAgME/8QAJhEAAgICAgIBBAMBAAAAAAAAAAECERIhAzFBYVETIjLwgZGhcf/aAAwDAQACEQMRAD8A9JnGYCKvqA7zcE+yORA/HG6i1ACe8Fv3P540IDMawMUqfbX+D/3YjovUafElmK+yeRj7WAA2cZgMvU1BZS4J2PKPPzx071AJ8B/iwgCcZgfVU6J8T+WOUr1DPhXcj2jyMfZwAFY1gY13Bui7T7f8sabNMBJQch7Y5mOnngGFTjWB+/b/AA/+pcc0s6WEimY/zL+eADM3nNFSiv8AiOU+CO//AG/PBWK92kreFKpRwcu6VRBXYsFaYN5XUPfhu+e07ow5fV/PAAVjJwN9N/ce29h+eMXOSJ0P/DgEEYycDjOD7L/wnGmzq9G/hP5YBhE41OFfFO0VKgktM8gQR7z5YT0P2g0ilRiLqCVQTLRG1oggz7sJtIZa2qRucVDjnbDxtSpvpAjxi5PMxuIj4zuMJeMdtnrKAihBvZp2kXMfH0xUM9nix39SP15YnK9IC7ZH9pHdtpqzUEwWnxDpyhj1v7+WLzkOJU6y6qTh16g/ojHgZjngjh3Ga2VfVRq6CYDcwYIsQQZHPFID32cZOPMKv7SKlZQgiiZu6mSR0AOx9/T0wuznbzM6o702GmR4ZjnYROJyA9fnGTjz3sv26qHRRqFarMwUGYYA9eR0wSdjbnvi+fSV5EfHFismxmI+/GMNYYKAkxrHIqY3rwCN4zHJfEZrYYE2MxAaxxmADozqDTsCPjB/DAHHePLl6RZz5KoEknpAvHU8sFBROKv28pu2VqFRqhwpYAEqttp2EwLHn64YLvZYOB8c+kZdK1hIlo2Uj2hJAiPPHfBuJitSDpsxJgi4MwQRJg/mMKsrw1TlFR6QvSElSAZ0C4gTqnnOB+ydMGhr7s3YgMYkhbXkzY6sTe0h0qstBc6gegI+MfljdSqSIthPncyKfiukAk6jYxePa39PngihnJIW6sbxfbqDsRiiQ9s7Bi09OeIKWbIBsNyfiZwBtXqX+pTPzqD8MTFyYj4kfonABriOZJp1D/5bj5YGqcVy6gqHQNqBYIJuDeTYE26zjeccKjM7SApaItYE7f8AOKGeJOAumofZYn1EdR54TQ0y/wBTtFQ0nTUOqLStp9zYh4dximgOqqrGIEoxG7ETHr+udD4zxOqtQBajKNCmBtJ3xnAeKVXrIruWUgyCB0npiKdFWi28Tp1MwhWnmlUkjUVou3hWTBAXaYOHmar0mUhme957qoPObL92KNwzO1iit3jAkvtK2BAHskTsb4ly3ahqlQ0vpDsRIK6qn1d97csCixtoufDyQpZ3/vLhlpVdJsAIlcZS4pTFVaZr01ULBBFTXI2sVAjFTftclGqBVrV7QTpLfI9f1fFly/7V+GlAj97HPXrY9ZJJwNMaVhGc4pEGm1IgQWlm1E7EBdF+VhhZleKVkZu/rUmYz3SqrAwZ3GmTy5dcLuHdvzUD6UpAqxBXSQYkgH2pA2MjBtXtWzjxUKLHqdc/+qxwVInQDneGCteqzPN2cyNMEgKBAIFx9U+uF3E+xiwHonWDbxVCBYzzAJ20kecgiLuX7U2CvSokdGVfxWTjg8fpEj+xUBBkEIwv5GMLFhoq1XsjmSI1UwL7tFt7wtvuxFluwlZgSa+XgdHJ/ARi41ONq0FqCnl7b8/8uB0zFIgr3Aibjv6w89lb9TgSaDRW8r2DIaatVSsbJM/FliPdgbM9jvET9IWJtqpn5wcXb6RSiBRpi0CamYP/AHY5WvTAUijRL8ye+I+BJnD2FFIpdk/F46yMp+yGBB5GDTII8pE9RgduytWfDUpW2JZh967/ABxf6tSgVJOXDObytSoo9yxaLc7+WF5yqsZ0CmALAszX9wt6zhioqOWylXLVVeV1BhDSGBk3Eeki/wBrF1PbBWF8uu42Ydf8mFee4GKgUd4QVIbVp6cgNUtPnHLADZR1JFrbSdx1gTHxxSYqLO/bCkInL79GH5YHyvbmi1TSaDgAHmCeUcx54qXEqbhNZiFvv6fG+FmUrkksDzA9fLDA9PpdqssSZFQC0WPTybBWR43Qr1u6pMbKzFmLKoCgEycecZipoSfwtfDXsbx/LUqtRszRasDopogCkBnO8kiDaLdb8sKVoaPQeEd3m2ZKFWWVdRu4Am3MYg4lm0oO1Ni7MvtFWMAxJAm+LD2V+jjLmvRywy1Nh3gA0y6hdQcxtIJEb48y4zmmZajn2qmpvUmSY64iLbG0kWWlxZbT3h6wwH4GMZin9qcnUqUVFJC5DyQOkMPfvjMUBaOIdtaKjTQdaz3JCmVUDdmbpy9SMVlu1+ZcOtWnS0uRCw07iLgnTsLnFfyCgJVCJURmAR7qBAJaCdPhBIvA5YnrdyBFT2QbANGqeZOnwj3SPliMmVSLPV7Y1fEgproUaCYcD7Mg6bAeYHL3dZftb9GoooVdOnV9f6zG9gRczz5Yq1bjbimtKmzBQCPCfDpYyN/EDY9Cd/M95ztBMhQIQhe9aTOmwEDy23wvuHos2Z7StWTT4FkMrBrECN4IsPMxgfM9pXpwlQ+GJWNwZAEE3HxHwxVcrnIqhnWiVnUUqhgpMi3hkk3+tbyx1xSkWcNWGpmkseZOmYULEQbREW5AjBb+QpfBaKHadmaW3KaNZjUI1FSFBgmWJNxyG+8rdqyo0oWaLEuPHcgSSBB+E9dr0huJQQFplSYUX9mOe42i09fjF9MVZXVUN5LFvugSAeuDYaL9mO1qlSGZGYqUC+Zi8THx64U5tkBpKtMCFLEQLWXwsYkgkSZkgNbphPTzFN1VQ51QJCDYGDAgRyuSZ9cc8RCgKsVPDzG8Wm0b79MLvsaePRbe0faTL0qCLkx3tZvbdx7AG6qm2onncgDrtWsr2kzCmWpahufCdjznceuA+DZRHqBu8IGqYiSABNwJN49PPlibhmfD1air4lmU1RPQ3iLQPScVdaJassa8VV0puotpJNwIliZuRbCfhGUQZtqgqyTq8ED607EMZjC/+kELSURdrammPcI26xywRT4ihcEo+grE8iQd4HK0b4pMlotlSrHocQmojCbGLG23qNx78V49o6a+Fah5eFlJHlflgvJVqVaqk94CSFimJYyYCraJJgXtfFMQRnMmhlvYcwNa2PtA77HYb47oPUWzaag+0PCfeD4T7iPTBHB+DtUJ8bCmGgtEiZBKgxFtptM7YzP8P7kz9U7MJHxAO+KsKZIrSOY9cL+P5ao9HTRnVqBs2m15vI8sbzebCimFcBtUkaxfeAwOymd55GdhjsV3Oz0/4T/vthWDVA3ZvKVqSVO+1E2IltRgAzFz5YI4tx4ZdlXui+oapBA8ue+2JKisR4VLMP6whLToudyYEXjyOF2cK1WXvcmztECSJje18Ahg3GD9HWstIkkxoMki5H1VY8unPBPDs41SnqZNBkiIbl/mVT8sLqOZdFC08vURRYKACN553xZ+xTCvXIq0WAVZGvYmenP0w2BHRyNRk16YQfXay+4nf3Y39E/fT4n7yIwL+07tGauZ7hDCUfDY2L8/h7I9D1xSKlZ/tt8Thq2hF6qJpMER+vnhdnHhvdiqrn3Ug62sepw4zfFgTsQYFmBBvI25THXCl0NA1HiYzFKoDTgLpMM6gHnEgiNo3G+O8pw3IEAGqA1pgttYkD+umY1bC0jkL7zRNOlIoqSy6gug+IAxMKLeRPPA/D8rQbKNUcxVpOGYNAkMugi51G8bdNrWzqxs3V4VTqsVTMqiQtq1RENxq+swJHMWm49S+4Jwvh4qFNalwVYFsymgshbTpIaTci15vjOBdncpmcvUqPnSKiB8w6ogL6SFUkAsRJ0mxmNU2sQr/s+XzCvlVqV1SnqL1VWkEOxLQvIEeIndrbYajboTdHqiZjRl1y9Mf1YTuo38IGkCesCCb4GfKLoIqIujnqgAfligp24rVJDV6WXWLGmms7Aj2jYQdwCfLCOvwjMZvvKgqvVRFmWcNO5JnVCBRFjB6DfHRcONGWMpdlvz2eyqVNGVatWq8koAv63HQSbTtjMef5PLmkAzMtrN/XaQSSYMgybfccZhPm9D+mF5IF2IdpINzq3ZrkhVO0A77QLYjrZM1KzIpaOZNgBymDa3nfDDs9wRaYJq3+tHnBAEje022v5YV8d4kQW0jRrJDCB12NyJ9PjjhTt0jrrVsnrqaQ8LB29kaSDHUbXPL0OM/o86e8cg6b6FiAN4k7knfCzLVx3TPU0iDbSuksSCbkROGWTyNWszq1TTTU7oPaI/7QfcbYd12JKyBctqJfUUCXeD4ojYeGxJtfrzAxNkO05FPRoV3BOmeXvO5+/C7OVRSp1KYcMXKlrQbbDpbp54H4UxKnSJYEAfibnYD78WurJegqpnK1ZouW5g2A67CI3AviPN5AaRqa/kLSbR6Y4zpdSrajBn09Rywbw3JsfDrZRU9oFZIAlj5AQP5YHKtiUbIeHVagPd02Mk6QALkkxCjcmSPgMPcvwZKFZjmqiv3K95UVHJlpAWkZEEkxMTYHA9LjdHLu7UToeCimCSoaxZZEB4m89euAMpn1INOmup61qju0wszyg/vGw9+IyvZeNaDKHEXzWaICAvWIVVWAB0HkoEyff54ftwGhRqLT1tUbdk8S0yZBhSPE6zIixMnocDcEyC03Dq7SARIREmYkWBgEWPODvhJx/jrJmmFJtNgC0eK+4BiwPON/vhSydIpxxVyLHneMZQUSlNJcnSyBSqpHQkeK8RfaPej4Pm0p16WsjQWGuQunmdogn1wJk6deoQTqVZ9sA872J3JjrjjiWXIqMKYDCmt2kGJ3LGwLQOnXfFquiX8l0VKLaqtLK00NIx39cSkj2RTVTFQ3sWnl6YT8K4upq1XZn1absgC8wtgNvaiOmFOc7SVlpCl4QtKAoW8mLsSG3Mk+8bXxEmbqIq9xTOsgqzqhk3kxbrz6AeeIUGXki8cP4mUp1XcVKNGCyhiJZuQCxaTcmAB88bTtPRq0Q1Twgr4wJlblRcAgSVaDvYdcUbMGpRC9+FcvBBY6tO1o2nqPIYA4jx16pEtCrsotfqY3bz5bCBit9Jk3XY6z/GKbu6kA0xZHElhpvOojUQbz7sW3heSopRpd6QHJMuDuATYsG0i0eIkbQL4oHC88vdhNPiJYeESWB9ATpEbbfPBfE1rrTUOwVQui7XaOYESIHhuJgYlp9WCaLfxvtFQp1qaUAj+ArKmwLeE6oHit59fXFer8c8YR2bSpuVXSxBHmxP/OK7w7JVZR1SQz6UiCWO3hXdoON5pHJLLDeIISpHtHYb3nadrYpKnQm9Fsz/ABaqr1O6Dd0plXZhGk+yWJsWO8SDfbE2S4zmKTa+/NJRc6VVnciSSoNlXVa/zwCeDLQywqVmNQSdKBoQvJUnqY03J3BGxNltbiYzDFqxdqhOjTTAJYbyFiwnp0wZNhikPckiZgFlVi5YktUIv9YsYNtwIi5IA3kRJwrvKq06brUqRLQQqA/ZlQRYbmYHXAfC822WqhaesM5Gnv1UaOpgE6jtZvhfBvDePfRjVqGqtSrWBEEKulQxlizSBLD2ALgDywspJ9lYprolq9k4qGkayPU0yFpAkknkNUT6j1th7/8ACgLn6UbACHFRF1EctN48r3xUcpx05erUriqMxXdWAgsVplvrMWUBzawW2Ey16uYrqjsxd2vqkm4nbla/LDcpvySlFeC98X7YLQstEmCO7PeDQAsAahSeHNt3k4hqZTXRWrVp0lWuySCzDwEzqMljfwkQZvOKtl3emsUn8T2NMQ2oDqACCMMeI8NetlKTuzarjSSCCS9jIJAEEADaByg4jryadoKynCMs71FoVWVgml6hgJpMAgAmSDEbxA3OGfBuF5bu3KVUNJGLVP60d5UgW39hfM2AWYJOF2U4Xl1yuhjUpuQNdQSZ3lo5UwNQAgEyJ3xLwzs1lwTVSs1RYlajKoVR1E2J/eI9BzCcm/IlH0cVeKVq76KFNSiQQuhe7SLjxOLH94nU198E8Q4iZrU3KrQnX3asNVQ+cEHu7aiJBNvMYWcWq169QZWiSadO5JYESd2d7mSbR0AEWwwq/s+VaAZ6rCTdiwFtzpWDFttR5gkDCteR0zjJ8Laqs/R0DbqQiooHRlcS5gnkYtfGYXZvjzMgIfwI3d011E2VR4jzcxAlvtHyjeHUvAaAOL5wCGFRSwg6RqPu2Cge/AuT4a9eoKtQTTDhSBfVz0qBy6sTAxZUyMhTlqaDWASXamsSNrsXMekeR3xDxLgua06aSlpJJNLSBvzgi8QJ540TpUQ1fYr4sypUeo1RpY+xIHyUkYMy+bWhkzUDai+w1SA0WUW3G5wt4r2WzCQe5dp5gTt5ATjrgfZ2uq1KzhqKUwJ161JJ6ALLWnpuL4KVBk7AaeRidaMzvp7sAHxMxkxa8bRhrwnI6g3gh2kQl2A2m2wn3Yaoyw9SgjGpVC0AxUgrraGM3CALpAA9STzK44yUHSmlGqVtqVFIUACASwksecWxLbfQ1SKXk8i715GpgrXbcc7/ABw94jkglBiBDaYkGN+XvHxxnF8xVkJQo93qG4ABi2xmFgk+fnhbw7heZFamj0XZS0hWBKkwb8xuR8cN29sE0tEfAuy7VvHVlKQEg7F/JZ5eeOeLZ+krlaFNQBaYvzB2j093OcMMxwbNmuTCu9NjIpuDpJvczb48vLBXCuA0kTvKqF3U6mU7CDtA9q+84WSu2xekQ5qlmqqI6SiQPExgMYkEWJNhvETzwqo5UI0BUqVm28YIBuZAMBbDdpPphh2h4zVrgMtIrRnSpZQSSB5/ht1xFwzhP93rphHXVUM69bKokGI0ovIliIgnDWkDabO86tasVp6lpkS9SSQiAcybmALczPrgPP8ACUpqD/W1dQBVlUohnmJBJHIG04fZLNDvSqAFmJZzbqYQAG4A33GIeJpTDIrvJY3ZmMrz1DSJLWgLYeyBG+JjOnVFON7FOS4TXDAtSkICQKmwgTJuABF79MEUc/XqNIenAuVDqJA5WkxYz5YfcXrO9CpTV10qgDMzbEjYkT4z7PmS3nFIywqhhTRgdZHsySCbfG2KTy2yWsR7WD1P/D1tuD4Tv1J2Hl88K8xw1ZZqjU+V0aQpkyDAhniLLPK4nDjg1AsTpB0AaBYiTvaDeNyfzGIPoGms9FA9RyRrqEf3c9TeBBkm3s4SdOhtWgHh2frpIoUSfDCsVuBNyOV/fsOmIs3la7lTVlncwibsZvsLL6G/liyZYMrugNPQqwjufG7xYtqaWiT5bRhFXautcKXqeE+0iwdr6CJkkH54pNNiadEnBaLU6izWQMpamEmdBdWUksLL6idsC5Gois1P2mZgASogEGARqkzfyw0bhuTy6q1bvjVbxBJiLyNQgGdjcjc2wsIWNdHLu0Ge8czfl0UXMxuYvhiHfE+MLSpqopKxXwguJJG59L3nzwBkuIvVliO5pxBNNdOrooIF7X6x64ZZp6dHLh2CmpUQSd+UmJtN4sMS1sp3GUp997dZhad2bmfJB05xiFSRbtsgyYpLTi6ahq0gsKjreGdt1SbxubbSGwvzIpuyqqhEXdyJdifszJvG5+62CavCqVFr5tVG5kTuN4FwRPzwNl3pl1JL38SAi7CSFbTN9yQJ5g7bv2hegPMUyzhakUKa7DSed5jd2PNj5eQw1TgNJUFTXAAgs/7x5La5ki564j4xwbvmqVA4RaaSQQSTH2osu+0k+WI8vlxWpLRpFqjswGpiQq6dzoAFgDMknbrGC76Cq7QPxPPIGIonuww0tpYXHQwNjEkajgzP8ZSKSFqgCoAlObKOTMRcuQNogA+eCKvZZ9Xe03SnSorEkkk6blibLqO/hJAtfC+jxil371qlOAFAVRBJJJOoXiYG/KcDSEmx9wp2rrrZl0jwsCtpIuxBkQNwsGTHXCjivFmqVhl0YhNQQSAADMFgq+FT53O8EYzO8bZqIYTTRi0LuzbiS3mZHnB2tI3ZihGbiqukIpd2YexaQTa0yB78JJbY27dDfI8XGViUimlwRBJnmR18z1GFHaHtTVzJJLkUxss2jz64DzubetUqJTVmDMYAvaYF+nywTwbgbM6SktJ8LQUMCdX7wXmOukc8NRS2wcm9IWZCnUfU4tTEBmMBZ5CTbUem+Mxae19AUspRpAACZgdYmT5kzjMNPLZLWOi41uxVTkybfvflhbn+zNampMGJ9pQ1vfAjHpf0x/sC/kP0MLc7w5aohkMeTkYvAnM8wzLV12qOPRyPxwZwniWYUMWZ2/zO3yvbFwPY7LkklKg9HBHzGJafZiitgKl/NcLB0PLYjy/amLFG9mSdRPuuJwZR7Tqfqtid+x9Ezd9o3xCOyCj2XPyxL42VmgL+ksoX1Gh4rX0gm231vLDHL57LuVcKAwsDpuJ5WwG3Y9hdX+OID2fzAmPk+F9NhkiwV6auIM+7l8vf+owtyPZ2jSLaWc6iWOppEnnEBZ92FP0XNI8EVLe8fEWONPl8yGsasehwsF0OxxxLg/fGe/ZLgjSqyI2gtJEb2i5wvpdjaYqa2r1a0iGWo8BhaA0CWUEAxtYY2Grkgf1g+OIM3mcyrgB2jzAj/wBOEoroGd1OwVA1C4q1Kc8k0gCdwJBOD81w1KWUZKGUo1KgACd4qOTJGp3L2Lb/ACAtYLTxaqNyDfmB/LBVDtEuzi/kP54HFS8iYj4f2VrMpFanTBDSmrSaayDJFKnCl9rtbYHbB2Z4WKCK2VyjtWVw2pyu4UiQFYIFMxEXnykOm4pS31R6jHDcapD68+gb8sDjYaFOYp5uuKCvSFGnqHfaHHeMNUsRyQbwAefuxLR4MqUyEy5W2pvGpaozEmCxafDMXIHOTthiO0VLqfh+f6GM/wDialH1tp25db8vPbCxZSoqHaHhlMqpzBYVSfBSo6TAkDQWjxHzUQD1wGCUKrl8pUT95WLySIkEgoptGoGbb4vi9o6JPPeNv0fz5TiHi2eWtl2CVWpEg+ICTHdu2n2huF62kHBTCr8lQyvBZL1atLvqrQEpA6tG/jqRE7QLxckzysWWyC1X7s+wgl106US8RdYP8RmOe+CuylcUsslN5Vqcg6o6sZBDEQIPP6pw0pLSBZlVQWPiIFyeckemM5Qkw6KXxWvTqNTp5bun8Z1qV3CbydJAQgTqn3Wx1xbU1Wn3qp3VAk6iQiOwWyqGhnQG0xeOQxdV0DZR8MCZnhGXqks9JXJ5tJ/HFJSQzzfL5upnc0DWXVTBhtKhFAMwGIFhbncgH1Bfa5aiMtRE0K4IDHSKjIQOU60BMwAB4dPXF9fgeWKBDRQotwsGATufW+OczwOmwAVaagbTSVtuVzYYbbu0LF0UXs/lAuVmuagWox7umo1VKkgDwruF/eNrjfmryPDqtF2dQUKhhFQhWGoEA326XjHpWX4JUWf7VUuIslMR6eExGw5DEXEOyNKsiq71CFiIKjYaR9TeMSm7fse9ehVX4ZX+gJRW9VlUMWO2s7ljsASBig5LKO9UUhLB2CEqpMwZtIBAt5W3x6/w3hhomA5NMABVZi0Af5re/CrifZJqtQutVaV9QIVyw+NXSPQKBhwlJN2KSsB4jlBSpstMKKq+ySlkUKP7sQdRMRq6CJjevUKPd1HqVGOlx/WSTJnloXxCI3JBGLB2g7Lqv9fWr1XAktGhZ03MSefRQcAcJ4AmfV6nfNIqkd2FCjTuNtzBFx1OBXXY7VhtbMgUNVNQKSpcRAllO/M2MczsfPCnhubqd9RBq0qSiahLmEaBdFi7WPP8sWStn+7T6NQcd9/dqxV9N/ackiNUyZki0xyxTOJ0nWsuVIZqpIIcgtrLDkriQDy25HnOCLz7DS6A+OcWWqQAzNpgSbAwCJi+N4tPDP2eUTUDOXYDUHpBgSCCVEtTDAbTEzt78xa5OOOrIacts9GptUiQw+H8sd968bgYIq9natyKXsjr917nAP0dydMMP9OOu0YUyVKtT7Q9SJx2WqdR/DiJMlBu4t+6ZHltgxMmrD+8g7QQ4Pwi+FaHTB2Ln6wxoCoPrT7v54nqcOGm1SpPKVgH37jEdPIVDtrPvJ/ngTTA5asw3j9e/EZrOdtMb4mqZGopB0kHqdU/MYKFWto06VYHfUl7iDNlsRhNjAqoKkTDSAwIIIIPnHrjJPl8sS5DLFaFQ16vdmkTp7wKVMm7Ag6oa3hsQwYwdWK5n+07QVp6f82mT7htzG/UWwJ2DQ8qVdIlioHnhRmu1NNLAhj5D9eQ/wCDisZhWqGXdj91+g25j4r1kQfRVHKPf62J6RY+S1PKABvm+2DNZQo9BP3+7pz9cJ63EWcyel5/L3e++0kDioFXcfGxte9vDteNpeLquNDTE7RO9trEmLi42G0BRcSksZ1PoPP0kkzfaDJ8juZxzoPmPLnyFwJ5kCL3OkajOnTNG2/zsATtYafCWOwIVRAQkcHMCPK1ttxYdbifOCY9o1ChnJXnbawnluDzAXmN+UapBPBrsLAmSZ6X2BjmdxvI2BBlcbOaXe/uifO/I8p2WRsKa6hatWd/yBt8gdvKmh2BuAYc+wsL+m1+nlvuIO+l4nGv6RJB2MiDvfVyveGgAsfE2whQcQ1WBBg+8+g3t08bDzRBa2IalQbReSDNz5z1J5gXb2RCicUIPPE+pkAkyPOCT5SqO3lqXGk4m6vZyOsMQLC9ugMqB0XzwuNWQfMG8jnAJ6GeZ/0rOJDU1BidiW5bSajX8wCJ6YKCy05btGxBBN+RBnaN5+/BycVfRM3n9csUtNa+yszO1zf0PWLEWOD+H8V6klTJ0zsR8QDtiXD4KUl5LPS4s0+yTfEx4zB9gn0P8sLMrmEYAqrEGD7Q/wBlvTHdUjWsg7Nz9P3cYts0SQwbj4B9g7Tv/LG6PaFTyI9cC0qq/wCHPq5/LHNOun+EB/qc/eMIBp/TKDk3WyziZOIg8t+oOBFzgCWpKbc5/KcCNx1g0dwnu1dfTD/6LfgK7RtqydcBQ3gNvvjnMThN+z9f7ICrXFRlYESLGRFwQYbfz9IK47xx/ozAU9JaF1ABok3MMIIiRHnhd2a4yUL0oUw7NIULAMCIVQGiN8PWIt2W+b2MeQVfyx552vy7jiRrTZO5qc9tSp8NQj34t47REcgInn64XZ7Mmu0s7rrptR8LGFuH1ztqm0bx85jpjasc0OFsGK067UVuYp0Egz1kEk+ZOMwFV4+1FVBXVACzJuQLnaDPljMYy4rev3/Cj1GnxKD7H/V+hgWrmXIIV2SW1WIn022wGC5P8xz92JO4aPb+U/ljvpHPslqMWiSZHO34CPgMavESR5gwccCm32h8MYKbfaO/QbYdIRLSqMswzX6mfvx39KcfXbAjh+Tfr4YFqCr9o+6P9uAClcQ7Y1v6VBq1qlPLLrXQW8J06lLQN/EJBMbRNrv+H5jOZ6mKuTq0BT1EMXRmgADmjEFpJtvt1sh472QOY4hRSm2lqoY1CwHhRTL1OhmSI5n1xdc5mQKqUaOtaSSdNJejMddxpZmZZMiPdibo0aQk7TJoZO8qFjAaALAgaz8tI6nV6YT5fLE2HKBPKQFE/FG/g9JC4nw/NFTVKVDSpFRrIgW0oIgQbU0BgkW3uMBtmnpeBvENAhkOoQeci0gBRH/lkWg4ZJYqPDpsB9gegZipn3NS+WI6vDgTMknSGO0SQ9Uj0Kpt++cG8L4mKo1CFJY2Mf4uWuY2iwv08sRcPzPdUpY/ZsQZIWnRpkKOZI70D0875tsuhfV4INtRLezYc5FMH/8AIKrf6QYsJF4lwQozFLoCQJ/cKoLCbam94T94yzzTaQNR/wAzC+y92x8yIzDDz09cL83WLDSRPIrNhEjTv9Z2qieQXVPhwthoUdzNgbQN72uwkcwAO9I5llGOHoEkDr7zc/Mk2PUzPhWMHvSHUG5BMW33I6FhMfYokYhrJt8PFJ62PukEc/HzcYokWVacc/OfdP3X5WvKiAYmF7/q/p+G99MiCVXO/WffvPxm9uckbJITKzSQCQBJtsNpPIDlO3L0YiNvWP1Px58738USIWp/8et7T+O92MgDB1LhNRzAUn02HO/n+twRg2pwMrIM8wRe5G4tub8r3vgySGosrdaRsf11n052IkXExiOmWmIna0W8rWt5W63w6znCShE2kWtYjeQLTE2FhNyZwnzA0n7JB3+6PvLXvikxUTZDOlTOuDYGZiJ1EnmSSBaNxh+iU6yghQlQRKja5gC8clSPfhPTz61QFqxqBs4X5H6vyWN74kpEiIuQZCg79Cxm+KQhjS4k+XZKmnwzpqIbX21D872jFjq8SoMQ694pgjcRePfyxWKjd5TaSDtf/LBPqMTPWif1fEyryNX4G9Tiiav7x1tF5H3SMbo+KIqBidoqAnCVtLc8QplwRBFvXGLS8GibLS2SqNaD8cEVuCVAqmHM8pPXpGKrk6tWjHc16iRcCQRc7QbEb/HFjyn7RK6ACrTp1r7gaGj5qT7hgx9jtm+I8JfuHJBGnxCeo2wu4JkXaXMyWOx9MXEdqMrmqLUzqRqgK6CsmeQBWQSbRhd2aVUy9dFBFQF9GoRfSStzYXjfBj7FfoSvVV8y1FNXhUSWJBJI8VjykmIm0YW8UZqdXQJ2Eep/lhV2qzbVszIUd5ZQUMm8QJG5EgYcsO9NGrocllUtAtMQfnONeTixp2KM7DGpEooIa3kfwxmLNSUFPYYesD7zjMZ4hkP6OeQ/+KT/AKf/AG4m+nIPrt8D/txyhvel8sdM6j6mNzI6TPodmPwP5Xxts4g+t9+B+9Q/+GfcP0MQ5nOLTR2FInSpMRvAmL4LBIYGuulnLAKt2M2G5udtgT7sKuFdsMnmJ0VlkHTDypPKQDuD5Y8/4t29NTuu+phQQ6BAWCBWkGoT9ZiRpHQJPMDCLsjQSvW7lagSSSGI8jFvUD+LEZF4pHsHEayBiUC62AQt+7uF32kkn0E7DEvCaYFSk1KoBVfpci1tVouNxykk74p/As7XrNQDFWWpTNNjJtUSrUC3i5ZSPXw88WjhGSfvKRphQ6tqljaeQMGV2NtzOHaJpl/z3DA9Mr4SGEPrE6hEbCBJ9Ix5Hxnhoy9cBGFOi5KtS22IUsPDINwCTcbcseqjjgpoGrAjVAtBAJA8MzJvO/Q+WFvF8pks2oLFHLGA9IyZjnp9qAZg8sSUeK8YerQrsq1AUkwNeuxGkyd5IAt5DmAcTp2k1DTBDEhiZHtCTMxAuzP01MTYKExbeNdlculPVQJcgkO2oQCASw0BQVI9YERhFw3uNZWuBEEAqYMx5AzeP1bFUmFsVVeKAX13mRBEACLAHoVB/wBCTYEtI7sKetlK07AMZC2ECJ9qBYdeftvptXG+zGW4cyZl3WprgUKbjmYl2G2hZ1RsSQOkVbtN2pp12A1Fytka0C51VCTcGPCqbD2ryMKgJEokqpkEvJVQGM6YJExACrp8VxuSfGcDd2XE6gIAa4vB2YiRpXaCSLCxspAWezCMGRCgIuCu+kDwaybFAfEQR4mvucVVs5Un2ibzBMyftGd28/dgxYrLzQ4MhqBDXQ6wdOnxTy5bWEmPCALmLC1cG4PlFSDV1mSCFIMxfqZIBPsyBPIkk+SZXiVVWVg0mCDP1rz4vtR52sMPcrxIuJaQX3vM3+Y8jiZQb8jUqPUkzOUpKe5qNTBsdLRJ2tYybR4Z25YUZjidHVJqM9Q+cta97gKB1LGJ2xReIHxBgRItN2ItyA3MW6DpgDuWV5Ekm8GCSOU/VRcSuNfJWbLrxXi9N05A3OpLGSInUCiavMKZxR80NR0QDyDAQY89r+Z+eHFCm2mXjV5GfvFvcMDZ3T6xv4iem4JxpGokNtldr5FkaDywXlq5ggMT06W9/wCGJMyogXn1I2922ADmNP5fr9XxViobZrOMtFmT2o36XvHzvgfJ1itPxNqJMkzO8YVZzNsUtIXYj54k4DxLu2IKU3B21pqg+Q8/TkMQ1ZadDkZmSDP87g/h88FnJ1q6OuXViyjUdIJsPTmdh1wdwrieZdgtKhRv/wDTU4HmTosPOcNuO5nOUaaMzoAVqKe5BVQYBUmIBaA0HGc/tNONZOirZcsKYDSWG8i/vx1T1GwVvgcN+w9bNhqYh3y7VjWYgn2kRlMmecqSDvAjni3dr+OUFyz0q9Qr3ibJdhte8ReN98S5DcaPOs++jLGooDPqM81CjSLRYtJvOwjDDs5xerUZAjkglQ2oFlGqAdXPSNp6KYxVM1naYyQoq9Q1O+LkT4CrKACL+1a89B0w34HwBzkO/SuKZaoyhZIZguiYA9ob72tvimlFZMF9zpfBHw3hRWvSZfEBVQHTuWDAmF84ty9MWTg3bFaOYo5RqZVYCMzSGV2vBHSW0nbrjngWTAqoquO9NYrTYqSikqkPBgk8lB2kk7AY44zwAZvMgFe7qvUAcqIuBp22sbn340cvqL0iVFw/k9BqAdMawXwrNCrQpVABLopN+cX59ZxmOY0MenOy/FZ/DGLlXIiUA/y/mMGDKjq38TY6+ijq38R/PHacti/+iDyePRVH3YSdr6Qp5St/aAjqFIvDeI2A0jVLQQIPXkDi3LlhG5+J/PFY7dcPoLQLugao7JRRiuphJOw3kAtEXviaRcW70eMcWy1RyCQSYB8Rv4vEDfeQZ9+LR+zfhoTM0WZfGdXP91o8uU4V59TGskwwEDppJSPcFA9MXvs52eOX4hlqbT4st309GKww25Eke8YpwUYqiXJyk7GlDgFCg1V2zPcKW16FaSCRaPCNhygna9owLxbt5lqR0oXqNYtVhVdo6/f7sWPOPprKplkMhzsfLTyPvGFtfs5SrOrAlZhfYpkzz+p545ZcdyujWMlRWR+0oh7lqlI70ySv/Ur3PqD5RgvMftEotNXL1O5qWBpVKSD+GoohxbnB8rYtuU/Zim5dyI9kLTBv5lT92CR+z1u5aiqoqMQxZtLPIHUItsNccfKE2eent0XbS9NfFAnSs7nYnltz64tHCuDq1I1q4pCjTBeo40AyFBj2eRJIjrGCuL9hKeWRXau7FT4VAQCxm3hkYW5XiC1aRyrUFdXMbeIEx4gfqwROxw3CPhCTKXxzt5VzNUnucu1NfDSWrRVyqg2BJ8rmIvOEz9qXuPomT92WX5Ri5drf2cNlAj0yKisoMEDUs+guNr4qdfhDqTKgf6f5YMI/AAjdqDzyuUnf+4H4HHQ7WCBOSyW3+CZPmYfE78Kabx8P5YHGUPT5DDxj8Cpmx2tQ75LKe6mw/wD2WxJl+0gIg5XLiOitYfx4ynw8kiJn0wzyvBus/LBjH9YbBl7UpYfQ6BjnFX8KkYkqdpVM/wBipGd/73/+mLLkOF5dRL09U7yZ87RthjSyeT/wqfoQfxnEOK/WyijUeM2gZRfjU/34gqZ8NE5GmTJkl6wN/Sr+GPSU4ZliJWjTj/KDjf8AROX/AMGkf9C/lhOv2ykjzdFpkXyVIDp3tf8A3nDLhPZ/LVPbRF9DVn4l4+WLsOHZf/BpfwL+WOlyFHlSpfwL+WGq9/2FHn3avJU6IejRXwvRFSZJko7g7now26YV/suX/wCYKbQKbkz6R95GPQe1HDUbLkgKumfZUXkTFo+yPhgL9nWWQU6raF1a9M6RMQDE7xP3YpPTBrotfe/vD9e/HOdoI+Xqa1DwCQJifCxjpyPMYk1jyx0XXRBFiyi28mYjr0jEwishttLRVv2d1gMs6zEVJuftAfKB9+KL+0D+sq/SJI11KlLuzugpBAJ8zqnpi9diVC1M2sWFSBPkXH5Y47d9m6NWg1b2XBUGDAYmRMR7QA36C+wxckoz0SncNnjtJNRjFp7O5winoZhpUkiTtqvA998A0uAL3iAObsBy5nGq+XNNmQqQVJBEcuvpHTByQXJFxDjk4PIv1Gv3OUqZhNDVKRWqoaSpDaYmCDK6FNjvY2JGKtQ/aBXq5xKjCkGaoJOkwCxgk+I2vi/VaYfgZVFBJyvXosnfzBx5twzspmFzOUJot4ytQyLQHEmx2C6Sf82FxpRVD5G5Oz1/hqijRp0hVU6FCyCL9Teec4zEhVZ9hfhjMZ6KdliRf0cdmnGNI1h6Ee//AIxyBvPT/jHYcpsHFf484+m5OdqQq1zYnkFWwFvFsfLD+kvnz5/8YTf0alHMmooI71Sp6QDImPfhMqLKNluGCq2UoxAaqzNInwqxcgcxYkfDFy4tnGHFMnBMGnWUgKYuAQZiPq7YQrQCZhagdlZNQ5EAtpU+1PIR92HmWzBfM0mZgSocCRygTEYiMnVMvkSvQ2zNHUxN7743lVCvS8mnEwedjyn9XxLpv6QPfimjMff03TQGWUfr1xXuK9tIMI3XoR8vzxLXpgi5OEeb4ZJsx9+IoqwPiufqVwBqgDlED7r/AM8Lcplip1BrjDapkiu0H5cx+WBRRYdPjidlaIMxn6hdWZiwACwbfngHirB12jBubpm1187jAWaNsIoBdQRBnf8ACMCjJqOU4P0iPaHz/LEb+o+f5YABhCkELt1nBNHiZE+H78RMt7Efr3Y5Vev3jCoBinFpGw9wxz9IYzAH692BUrxtONsZvfBQWTvVrj2VI+F7/wAsQ/S6xJkspnkZ+V/vxFWUmwxqjknnfFohhaZiqtyZHOTH34Y5OszbkfEYFynDX5Ej/Ufzw+yeQbmMWkSL+0uZC5YJImpqFok6UZvvAmMM+yHD6dHJ0johqiio5gmSRY3mLRthD2o4aDnMsHMKFaABvIYGG5E2BkbYsfZlHOWQEFVWUTUQxKqYViRAuBiU/uZb/BBz91zX5YrPa3R/Zig06cwhb0vHzj44tL5Unm3u/wCMIe02SASmGltVVQJ63IPujbFS6FB7Aex2hcjRmCzBnJIO7MTvgTtsoOXDQPCwG/W3mMFdneCTRSpS1AONWmSQJ8jIB9McdqOF1foxEm70xy5uANh1IxDuuiqTl2UZ+C1VenT7ti7IKgGkgw159BtPli55rhwObV2CsSxkWNvo6DSRyHliD6O44pVLGStJeQPtRbaOR+OD6VYBmIMFjLWIkgRJhheAPhiJWaRpA9dAuTrUFPhQ6J6Aur6fPTMe71wTqP04dKeXgD/M8fh92JKpBUhtJU7yD+L4h+h0S4HdywWwESB5DePliaHY3Lk3Kn4fljMA0+EA7Aj+Ef8AbjMPBk5If0iRcGMabOPIE4zGY6qOckGfYdOu2OHqmrCtb0/W2MxmJkNFX4/kjRqU116wx1HwgdYBI39cScKqf2xB9W8D1xmMxLLZdUjaPLEhN/njMZimZguZqGNz7o/LCqo5+038X8sZjMSMgNc+fx9MRWPX4+uMxmEM4fJA8zgOtRUz7X8Q/wBuMxmJC2BNlwBz+P8ALEbURbf44zGYGUjkIP0TjRQdPmfzxmMwIZItJfsjBFKgv2f18MZjMMkKp5VOh+OGWWyikbYzGYZI0p5JRyGJqdMchtjMZihCHttlwadNualo96H8sNezlScpR/8AtqPgMZjMQvyZo/wQxnCrj9DUtI9Kqn78ZjMWyF2BdjK5NFk5U2Kj+JsT9q6erK1BqInSLR9tb7TjMZhPopfkVurlW/phgKrzoGo+E6gqLYjTF+sYTV8+/fMQYv8AgMZjMZs0j3/A7p1m7otIkLO3P47YjoZx9aDwwRJgEH3GbfPGYzGlIgcpm2mAzj/VjMZjMJomz//Z"/>
          <p:cNvSpPr>
            <a:spLocks noChangeAspect="1" noChangeArrowheads="1"/>
          </p:cNvSpPr>
          <p:nvPr/>
        </p:nvSpPr>
        <p:spPr bwMode="auto">
          <a:xfrm>
            <a:off x="1587501" y="-836613"/>
            <a:ext cx="2657475" cy="17240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8" name="AutoShape 6" descr="data:image/jpeg;base64,/9j/4AAQSkZJRgABAQAAAQABAAD/2wCEAAkGBhQSEBQUExIWFRUWGBwVGBgYFxweHBwfGRwcGh4bHR4dHCYeGBojHxwcHy8gIycpLSwsGh4xNTAqNSYsLCkBCQoKDgwOGg8PGiwkHyQpKSwsLCwsLCwsLCksLCwsLCksKSwsLCwsLCwsLCwsLCksLCwpLCwsLCwsLCwsLCwsLP/AABEIALUBFwMBIgACEQEDEQH/xAAbAAACAgMBAAAAAAAAAAAAAAAEBQMGAAECB//EAEkQAAIBAgQDBQQHBAkCBAcAAAECEQMhAAQSMQVBUQYTImFxMoGRoRRCUrHB0fAHYpLhFSMkM1NygtLxosJDY7LiFiVkc5PD0//EABgBAAMBAQAAAAAAAAAAAAAAAAABAgME/8QAJhEAAgICAgIBBAMBAAAAAAAAAAECERIhAzFBYVETIjLwgZGhcf/aAAwDAQACEQMRAD8A9JnGYCKvqA7zcE+yORA/HG6i1ACe8Fv3P540IDMawMUqfbX+D/3YjovUafElmK+yeRj7WAA2cZgMvU1BZS4J2PKPPzx071AJ8B/iwgCcZgfVU6J8T+WOUr1DPhXcj2jyMfZwAFY1gY13Bui7T7f8sabNMBJQch7Y5mOnngGFTjWB+/b/AA/+pcc0s6WEimY/zL+eADM3nNFSiv8AiOU+CO//AG/PBWK92kreFKpRwcu6VRBXYsFaYN5XUPfhu+e07ow5fV/PAAVjJwN9N/ce29h+eMXOSJ0P/DgEEYycDjOD7L/wnGmzq9G/hP5YBhE41OFfFO0VKgktM8gQR7z5YT0P2g0ilRiLqCVQTLRG1oggz7sJtIZa2qRucVDjnbDxtSpvpAjxi5PMxuIj4zuMJeMdtnrKAihBvZp2kXMfH0xUM9nix39SP15YnK9IC7ZH9pHdtpqzUEwWnxDpyhj1v7+WLzkOJU6y6qTh16g/ojHgZjngjh3Ga2VfVRq6CYDcwYIsQQZHPFID32cZOPMKv7SKlZQgiiZu6mSR0AOx9/T0wuznbzM6o702GmR4ZjnYROJyA9fnGTjz3sv26qHRRqFarMwUGYYA9eR0wSdjbnvi+fSV5EfHFismxmI+/GMNYYKAkxrHIqY3rwCN4zHJfEZrYYE2MxAaxxmADozqDTsCPjB/DAHHePLl6RZz5KoEknpAvHU8sFBROKv28pu2VqFRqhwpYAEqttp2EwLHn64YLvZYOB8c+kZdK1hIlo2Uj2hJAiPPHfBuJitSDpsxJgi4MwQRJg/mMKsrw1TlFR6QvSElSAZ0C4gTqnnOB+ydMGhr7s3YgMYkhbXkzY6sTe0h0qstBc6gegI+MfljdSqSIthPncyKfiukAk6jYxePa39PngihnJIW6sbxfbqDsRiiQ9s7Bi09OeIKWbIBsNyfiZwBtXqX+pTPzqD8MTFyYj4kfonABriOZJp1D/5bj5YGqcVy6gqHQNqBYIJuDeTYE26zjeccKjM7SApaItYE7f8AOKGeJOAumofZYn1EdR54TQ0y/wBTtFQ0nTUOqLStp9zYh4dximgOqqrGIEoxG7ETHr+udD4zxOqtQBajKNCmBtJ3xnAeKVXrIruWUgyCB0npiKdFWi28Tp1MwhWnmlUkjUVou3hWTBAXaYOHmar0mUhme957qoPObL92KNwzO1iit3jAkvtK2BAHskTsb4ly3ahqlQ0vpDsRIK6qn1d97csCixtoufDyQpZ3/vLhlpVdJsAIlcZS4pTFVaZr01ULBBFTXI2sVAjFTftclGqBVrV7QTpLfI9f1fFly/7V+GlAj97HPXrY9ZJJwNMaVhGc4pEGm1IgQWlm1E7EBdF+VhhZleKVkZu/rUmYz3SqrAwZ3GmTy5dcLuHdvzUD6UpAqxBXSQYkgH2pA2MjBtXtWzjxUKLHqdc/+qxwVInQDneGCteqzPN2cyNMEgKBAIFx9U+uF3E+xiwHonWDbxVCBYzzAJ20kecgiLuX7U2CvSokdGVfxWTjg8fpEj+xUBBkEIwv5GMLFhoq1XsjmSI1UwL7tFt7wtvuxFluwlZgSa+XgdHJ/ARi41ONq0FqCnl7b8/8uB0zFIgr3Aibjv6w89lb9TgSaDRW8r2DIaatVSsbJM/FliPdgbM9jvET9IWJtqpn5wcXb6RSiBRpi0CamYP/AHY5WvTAUijRL8ye+I+BJnD2FFIpdk/F46yMp+yGBB5GDTII8pE9RgduytWfDUpW2JZh967/ABxf6tSgVJOXDObytSoo9yxaLc7+WF5yqsZ0CmALAszX9wt6zhioqOWylXLVVeV1BhDSGBk3Eeki/wBrF1PbBWF8uu42Ydf8mFee4GKgUd4QVIbVp6cgNUtPnHLADZR1JFrbSdx1gTHxxSYqLO/bCkInL79GH5YHyvbmi1TSaDgAHmCeUcx54qXEqbhNZiFvv6fG+FmUrkksDzA9fLDA9PpdqssSZFQC0WPTybBWR43Qr1u6pMbKzFmLKoCgEycecZipoSfwtfDXsbx/LUqtRszRasDopogCkBnO8kiDaLdb8sKVoaPQeEd3m2ZKFWWVdRu4Am3MYg4lm0oO1Ni7MvtFWMAxJAm+LD2V+jjLmvRywy1Nh3gA0y6hdQcxtIJEb48y4zmmZajn2qmpvUmSY64iLbG0kWWlxZbT3h6wwH4GMZin9qcnUqUVFJC5DyQOkMPfvjMUBaOIdtaKjTQdaz3JCmVUDdmbpy9SMVlu1+ZcOtWnS0uRCw07iLgnTsLnFfyCgJVCJURmAR7qBAJaCdPhBIvA5YnrdyBFT2QbANGqeZOnwj3SPliMmVSLPV7Y1fEgproUaCYcD7Mg6bAeYHL3dZftb9GoooVdOnV9f6zG9gRczz5Yq1bjbimtKmzBQCPCfDpYyN/EDY9Cd/M95ztBMhQIQhe9aTOmwEDy23wvuHos2Z7StWTT4FkMrBrECN4IsPMxgfM9pXpwlQ+GJWNwZAEE3HxHwxVcrnIqhnWiVnUUqhgpMi3hkk3+tbyx1xSkWcNWGpmkseZOmYULEQbREW5AjBb+QpfBaKHadmaW3KaNZjUI1FSFBgmWJNxyG+8rdqyo0oWaLEuPHcgSSBB+E9dr0huJQQFplSYUX9mOe42i09fjF9MVZXVUN5LFvugSAeuDYaL9mO1qlSGZGYqUC+Zi8THx64U5tkBpKtMCFLEQLWXwsYkgkSZkgNbphPTzFN1VQ51QJCDYGDAgRyuSZ9cc8RCgKsVPDzG8Wm0b79MLvsaePRbe0faTL0qCLkx3tZvbdx7AG6qm2onncgDrtWsr2kzCmWpahufCdjznceuA+DZRHqBu8IGqYiSABNwJN49PPlibhmfD1air4lmU1RPQ3iLQPScVdaJassa8VV0puotpJNwIliZuRbCfhGUQZtqgqyTq8ED607EMZjC/+kELSURdrammPcI26xywRT4ihcEo+grE8iQd4HK0b4pMlotlSrHocQmojCbGLG23qNx78V49o6a+Fah5eFlJHlflgvJVqVaqk94CSFimJYyYCraJJgXtfFMQRnMmhlvYcwNa2PtA77HYb47oPUWzaag+0PCfeD4T7iPTBHB+DtUJ8bCmGgtEiZBKgxFtptM7YzP8P7kz9U7MJHxAO+KsKZIrSOY9cL+P5ao9HTRnVqBs2m15vI8sbzebCimFcBtUkaxfeAwOymd55GdhjsV3Oz0/4T/vthWDVA3ZvKVqSVO+1E2IltRgAzFz5YI4tx4ZdlXui+oapBA8ue+2JKisR4VLMP6whLToudyYEXjyOF2cK1WXvcmztECSJje18Ahg3GD9HWstIkkxoMki5H1VY8unPBPDs41SnqZNBkiIbl/mVT8sLqOZdFC08vURRYKACN553xZ+xTCvXIq0WAVZGvYmenP0w2BHRyNRk16YQfXay+4nf3Y39E/fT4n7yIwL+07tGauZ7hDCUfDY2L8/h7I9D1xSKlZ/tt8Thq2hF6qJpMER+vnhdnHhvdiqrn3Ug62sepw4zfFgTsQYFmBBvI25THXCl0NA1HiYzFKoDTgLpMM6gHnEgiNo3G+O8pw3IEAGqA1pgttYkD+umY1bC0jkL7zRNOlIoqSy6gug+IAxMKLeRPPA/D8rQbKNUcxVpOGYNAkMugi51G8bdNrWzqxs3V4VTqsVTMqiQtq1RENxq+swJHMWm49S+4Jwvh4qFNalwVYFsymgshbTpIaTci15vjOBdncpmcvUqPnSKiB8w6ogL6SFUkAsRJ0mxmNU2sQr/s+XzCvlVqV1SnqL1VWkEOxLQvIEeIndrbYajboTdHqiZjRl1y9Mf1YTuo38IGkCesCCb4GfKLoIqIujnqgAfligp24rVJDV6WXWLGmms7Aj2jYQdwCfLCOvwjMZvvKgqvVRFmWcNO5JnVCBRFjB6DfHRcONGWMpdlvz2eyqVNGVatWq8koAv63HQSbTtjMef5PLmkAzMtrN/XaQSSYMgybfccZhPm9D+mF5IF2IdpINzq3ZrkhVO0A77QLYjrZM1KzIpaOZNgBymDa3nfDDs9wRaYJq3+tHnBAEje022v5YV8d4kQW0jRrJDCB12NyJ9PjjhTt0jrrVsnrqaQ8LB29kaSDHUbXPL0OM/o86e8cg6b6FiAN4k7knfCzLVx3TPU0iDbSuksSCbkROGWTyNWszq1TTTU7oPaI/7QfcbYd12JKyBctqJfUUCXeD4ojYeGxJtfrzAxNkO05FPRoV3BOmeXvO5+/C7OVRSp1KYcMXKlrQbbDpbp54H4UxKnSJYEAfibnYD78WurJegqpnK1ZouW5g2A67CI3AviPN5AaRqa/kLSbR6Y4zpdSrajBn09Rywbw3JsfDrZRU9oFZIAlj5AQP5YHKtiUbIeHVagPd02Mk6QALkkxCjcmSPgMPcvwZKFZjmqiv3K95UVHJlpAWkZEEkxMTYHA9LjdHLu7UToeCimCSoaxZZEB4m89euAMpn1INOmup61qju0wszyg/vGw9+IyvZeNaDKHEXzWaICAvWIVVWAB0HkoEyff54ftwGhRqLT1tUbdk8S0yZBhSPE6zIixMnocDcEyC03Dq7SARIREmYkWBgEWPODvhJx/jrJmmFJtNgC0eK+4BiwPON/vhSydIpxxVyLHneMZQUSlNJcnSyBSqpHQkeK8RfaPej4Pm0p16WsjQWGuQunmdogn1wJk6deoQTqVZ9sA872J3JjrjjiWXIqMKYDCmt2kGJ3LGwLQOnXfFquiX8l0VKLaqtLK00NIx39cSkj2RTVTFQ3sWnl6YT8K4upq1XZn1absgC8wtgNvaiOmFOc7SVlpCl4QtKAoW8mLsSG3Mk+8bXxEmbqIq9xTOsgqzqhk3kxbrz6AeeIUGXki8cP4mUp1XcVKNGCyhiJZuQCxaTcmAB88bTtPRq0Q1Twgr4wJlblRcAgSVaDvYdcUbMGpRC9+FcvBBY6tO1o2nqPIYA4jx16pEtCrsotfqY3bz5bCBit9Jk3XY6z/GKbu6kA0xZHElhpvOojUQbz7sW3heSopRpd6QHJMuDuATYsG0i0eIkbQL4oHC88vdhNPiJYeESWB9ATpEbbfPBfE1rrTUOwVQui7XaOYESIHhuJgYlp9WCaLfxvtFQp1qaUAj+ArKmwLeE6oHit59fXFer8c8YR2bSpuVXSxBHmxP/OK7w7JVZR1SQz6UiCWO3hXdoON5pHJLLDeIISpHtHYb3nadrYpKnQm9Fsz/ABaqr1O6Dd0plXZhGk+yWJsWO8SDfbE2S4zmKTa+/NJRc6VVnciSSoNlXVa/zwCeDLQywqVmNQSdKBoQvJUnqY03J3BGxNltbiYzDFqxdqhOjTTAJYbyFiwnp0wZNhikPckiZgFlVi5YktUIv9YsYNtwIi5IA3kRJwrvKq06brUqRLQQqA/ZlQRYbmYHXAfC822WqhaesM5Gnv1UaOpgE6jtZvhfBvDePfRjVqGqtSrWBEEKulQxlizSBLD2ALgDywspJ9lYprolq9k4qGkayPU0yFpAkknkNUT6j1th7/8ACgLn6UbACHFRF1EctN48r3xUcpx05erUriqMxXdWAgsVplvrMWUBzawW2Ey16uYrqjsxd2vqkm4nbla/LDcpvySlFeC98X7YLQstEmCO7PeDQAsAahSeHNt3k4hqZTXRWrVp0lWuySCzDwEzqMljfwkQZvOKtl3emsUn8T2NMQ2oDqACCMMeI8NetlKTuzarjSSCCS9jIJAEEADaByg4jryadoKynCMs71FoVWVgml6hgJpMAgAmSDEbxA3OGfBuF5bu3KVUNJGLVP60d5UgW39hfM2AWYJOF2U4Xl1yuhjUpuQNdQSZ3lo5UwNQAgEyJ3xLwzs1lwTVSs1RYlajKoVR1E2J/eI9BzCcm/IlH0cVeKVq76KFNSiQQuhe7SLjxOLH94nU198E8Q4iZrU3KrQnX3asNVQ+cEHu7aiJBNvMYWcWq169QZWiSadO5JYESd2d7mSbR0AEWwwq/s+VaAZ6rCTdiwFtzpWDFttR5gkDCteR0zjJ8Laqs/R0DbqQiooHRlcS5gnkYtfGYXZvjzMgIfwI3d011E2VR4jzcxAlvtHyjeHUvAaAOL5wCGFRSwg6RqPu2Cge/AuT4a9eoKtQTTDhSBfVz0qBy6sTAxZUyMhTlqaDWASXamsSNrsXMekeR3xDxLgua06aSlpJJNLSBvzgi8QJ540TpUQ1fYr4sypUeo1RpY+xIHyUkYMy+bWhkzUDai+w1SA0WUW3G5wt4r2WzCQe5dp5gTt5ATjrgfZ2uq1KzhqKUwJ161JJ6ALLWnpuL4KVBk7AaeRidaMzvp7sAHxMxkxa8bRhrwnI6g3gh2kQl2A2m2wn3Yaoyw9SgjGpVC0AxUgrraGM3CALpAA9STzK44yUHSmlGqVtqVFIUACASwksecWxLbfQ1SKXk8i715GpgrXbcc7/ABw94jkglBiBDaYkGN+XvHxxnF8xVkJQo93qG4ABi2xmFgk+fnhbw7heZFamj0XZS0hWBKkwb8xuR8cN29sE0tEfAuy7VvHVlKQEg7F/JZ5eeOeLZ+krlaFNQBaYvzB2j093OcMMxwbNmuTCu9NjIpuDpJvczb48vLBXCuA0kTvKqF3U6mU7CDtA9q+84WSu2xekQ5qlmqqI6SiQPExgMYkEWJNhvETzwqo5UI0BUqVm28YIBuZAMBbDdpPphh2h4zVrgMtIrRnSpZQSSB5/ht1xFwzhP93rphHXVUM69bKokGI0ovIliIgnDWkDabO86tasVp6lpkS9SSQiAcybmALczPrgPP8ACUpqD/W1dQBVlUohnmJBJHIG04fZLNDvSqAFmJZzbqYQAG4A33GIeJpTDIrvJY3ZmMrz1DSJLWgLYeyBG+JjOnVFON7FOS4TXDAtSkICQKmwgTJuABF79MEUc/XqNIenAuVDqJA5WkxYz5YfcXrO9CpTV10qgDMzbEjYkT4z7PmS3nFIywqhhTRgdZHsySCbfG2KTy2yWsR7WD1P/D1tuD4Tv1J2Hl88K8xw1ZZqjU+V0aQpkyDAhniLLPK4nDjg1AsTpB0AaBYiTvaDeNyfzGIPoGms9FA9RyRrqEf3c9TeBBkm3s4SdOhtWgHh2frpIoUSfDCsVuBNyOV/fsOmIs3la7lTVlncwibsZvsLL6G/liyZYMrugNPQqwjufG7xYtqaWiT5bRhFXautcKXqeE+0iwdr6CJkkH54pNNiadEnBaLU6izWQMpamEmdBdWUksLL6idsC5Gois1P2mZgASogEGARqkzfyw0bhuTy6q1bvjVbxBJiLyNQgGdjcjc2wsIWNdHLu0Ge8czfl0UXMxuYvhiHfE+MLSpqopKxXwguJJG59L3nzwBkuIvVliO5pxBNNdOrooIF7X6x64ZZp6dHLh2CmpUQSd+UmJtN4sMS1sp3GUp997dZhad2bmfJB05xiFSRbtsgyYpLTi6ahq0gsKjreGdt1SbxubbSGwvzIpuyqqhEXdyJdifszJvG5+62CavCqVFr5tVG5kTuN4FwRPzwNl3pl1JL38SAi7CSFbTN9yQJ5g7bv2hegPMUyzhakUKa7DSed5jd2PNj5eQw1TgNJUFTXAAgs/7x5La5ki564j4xwbvmqVA4RaaSQQSTH2osu+0k+WI8vlxWpLRpFqjswGpiQq6dzoAFgDMknbrGC76Cq7QPxPPIGIonuww0tpYXHQwNjEkajgzP8ZSKSFqgCoAlObKOTMRcuQNogA+eCKvZZ9Xe03SnSorEkkk6blibLqO/hJAtfC+jxil371qlOAFAVRBJJJOoXiYG/KcDSEmx9wp2rrrZl0jwsCtpIuxBkQNwsGTHXCjivFmqVhl0YhNQQSAADMFgq+FT53O8EYzO8bZqIYTTRi0LuzbiS3mZHnB2tI3ZihGbiqukIpd2YexaQTa0yB78JJbY27dDfI8XGViUimlwRBJnmR18z1GFHaHtTVzJJLkUxss2jz64DzubetUqJTVmDMYAvaYF+nywTwbgbM6SktJ8LQUMCdX7wXmOukc8NRS2wcm9IWZCnUfU4tTEBmMBZ5CTbUem+Mxae19AUspRpAACZgdYmT5kzjMNPLZLWOi41uxVTkybfvflhbn+zNampMGJ9pQ1vfAjHpf0x/sC/kP0MLc7w5aohkMeTkYvAnM8wzLV12qOPRyPxwZwniWYUMWZ2/zO3yvbFwPY7LkklKg9HBHzGJafZiitgKl/NcLB0PLYjy/amLFG9mSdRPuuJwZR7Tqfqtid+x9Ezd9o3xCOyCj2XPyxL42VmgL+ksoX1Gh4rX0gm231vLDHL57LuVcKAwsDpuJ5WwG3Y9hdX+OID2fzAmPk+F9NhkiwV6auIM+7l8vf+owtyPZ2jSLaWc6iWOppEnnEBZ92FP0XNI8EVLe8fEWONPl8yGsasehwsF0OxxxLg/fGe/ZLgjSqyI2gtJEb2i5wvpdjaYqa2r1a0iGWo8BhaA0CWUEAxtYY2Grkgf1g+OIM3mcyrgB2jzAj/wBOEoroGd1OwVA1C4q1Kc8k0gCdwJBOD81w1KWUZKGUo1KgACd4qOTJGp3L2Lb/ACAtYLTxaqNyDfmB/LBVDtEuzi/kP54HFS8iYj4f2VrMpFanTBDSmrSaayDJFKnCl9rtbYHbB2Z4WKCK2VyjtWVw2pyu4UiQFYIFMxEXnykOm4pS31R6jHDcapD68+gb8sDjYaFOYp5uuKCvSFGnqHfaHHeMNUsRyQbwAefuxLR4MqUyEy5W2pvGpaozEmCxafDMXIHOTthiO0VLqfh+f6GM/wDialH1tp25db8vPbCxZSoqHaHhlMqpzBYVSfBSo6TAkDQWjxHzUQD1wGCUKrl8pUT95WLySIkEgoptGoGbb4vi9o6JPPeNv0fz5TiHi2eWtl2CVWpEg+ICTHdu2n2huF62kHBTCr8lQyvBZL1atLvqrQEpA6tG/jqRE7QLxckzysWWyC1X7s+wgl106US8RdYP8RmOe+CuylcUsslN5Vqcg6o6sZBDEQIPP6pw0pLSBZlVQWPiIFyeckemM5Qkw6KXxWvTqNTp5bun8Z1qV3CbydJAQgTqn3Wx1xbU1Wn3qp3VAk6iQiOwWyqGhnQG0xeOQxdV0DZR8MCZnhGXqks9JXJ5tJ/HFJSQzzfL5upnc0DWXVTBhtKhFAMwGIFhbncgH1Bfa5aiMtRE0K4IDHSKjIQOU60BMwAB4dPXF9fgeWKBDRQotwsGATufW+OczwOmwAVaagbTSVtuVzYYbbu0LF0UXs/lAuVmuagWox7umo1VKkgDwruF/eNrjfmryPDqtF2dQUKhhFQhWGoEA326XjHpWX4JUWf7VUuIslMR6eExGw5DEXEOyNKsiq71CFiIKjYaR9TeMSm7fse9ehVX4ZX+gJRW9VlUMWO2s7ljsASBig5LKO9UUhLB2CEqpMwZtIBAt5W3x6/w3hhomA5NMABVZi0Af5re/CrifZJqtQutVaV9QIVyw+NXSPQKBhwlJN2KSsB4jlBSpstMKKq+ySlkUKP7sQdRMRq6CJjevUKPd1HqVGOlx/WSTJnloXxCI3JBGLB2g7Lqv9fWr1XAktGhZ03MSefRQcAcJ4AmfV6nfNIqkd2FCjTuNtzBFx1OBXXY7VhtbMgUNVNQKSpcRAllO/M2MczsfPCnhubqd9RBq0qSiahLmEaBdFi7WPP8sWStn+7T6NQcd9/dqxV9N/ackiNUyZki0xyxTOJ0nWsuVIZqpIIcgtrLDkriQDy25HnOCLz7DS6A+OcWWqQAzNpgSbAwCJi+N4tPDP2eUTUDOXYDUHpBgSCCVEtTDAbTEzt78xa5OOOrIacts9GptUiQw+H8sd968bgYIq9natyKXsjr917nAP0dydMMP9OOu0YUyVKtT7Q9SJx2WqdR/DiJMlBu4t+6ZHltgxMmrD+8g7QQ4Pwi+FaHTB2Ln6wxoCoPrT7v54nqcOGm1SpPKVgH37jEdPIVDtrPvJ/ngTTA5asw3j9e/EZrOdtMb4mqZGopB0kHqdU/MYKFWto06VYHfUl7iDNlsRhNjAqoKkTDSAwIIIIPnHrjJPl8sS5DLFaFQ16vdmkTp7wKVMm7Ag6oa3hsQwYwdWK5n+07QVp6f82mT7htzG/UWwJ2DQ8qVdIlioHnhRmu1NNLAhj5D9eQ/wCDisZhWqGXdj91+g25j4r1kQfRVHKPf62J6RY+S1PKABvm+2DNZQo9BP3+7pz9cJ63EWcyel5/L3e++0kDioFXcfGxte9vDteNpeLquNDTE7RO9trEmLi42G0BRcSksZ1PoPP0kkzfaDJ8juZxzoPmPLnyFwJ5kCL3OkajOnTNG2/zsATtYafCWOwIVRAQkcHMCPK1ttxYdbifOCY9o1ChnJXnbawnluDzAXmN+UapBPBrsLAmSZ6X2BjmdxvI2BBlcbOaXe/uifO/I8p2WRsKa6hatWd/yBt8gdvKmh2BuAYc+wsL+m1+nlvuIO+l4nGv6RJB2MiDvfVyveGgAsfE2whQcQ1WBBg+8+g3t08bDzRBa2IalQbReSDNz5z1J5gXb2RCicUIPPE+pkAkyPOCT5SqO3lqXGk4m6vZyOsMQLC9ugMqB0XzwuNWQfMG8jnAJ6GeZ/0rOJDU1BidiW5bSajX8wCJ6YKCy05btGxBBN+RBnaN5+/BycVfRM3n9csUtNa+yszO1zf0PWLEWOD+H8V6klTJ0zsR8QDtiXD4KUl5LPS4s0+yTfEx4zB9gn0P8sLMrmEYAqrEGD7Q/wBlvTHdUjWsg7Nz9P3cYts0SQwbj4B9g7Tv/LG6PaFTyI9cC0qq/wCHPq5/LHNOun+EB/qc/eMIBp/TKDk3WyziZOIg8t+oOBFzgCWpKbc5/KcCNx1g0dwnu1dfTD/6LfgK7RtqydcBQ3gNvvjnMThN+z9f7ICrXFRlYESLGRFwQYbfz9IK47xx/ozAU9JaF1ABok3MMIIiRHnhd2a4yUL0oUw7NIULAMCIVQGiN8PWIt2W+b2MeQVfyx552vy7jiRrTZO5qc9tSp8NQj34t47REcgInn64XZ7Mmu0s7rrptR8LGFuH1ztqm0bx85jpjasc0OFsGK067UVuYp0Egz1kEk+ZOMwFV4+1FVBXVACzJuQLnaDPljMYy4rev3/Cj1GnxKD7H/V+hgWrmXIIV2SW1WIn022wGC5P8xz92JO4aPb+U/ljvpHPslqMWiSZHO34CPgMavESR5gwccCm32h8MYKbfaO/QbYdIRLSqMswzX6mfvx39KcfXbAjh+Tfr4YFqCr9o+6P9uAClcQ7Y1v6VBq1qlPLLrXQW8J06lLQN/EJBMbRNrv+H5jOZ6mKuTq0BT1EMXRmgADmjEFpJtvt1sh472QOY4hRSm2lqoY1CwHhRTL1OhmSI5n1xdc5mQKqUaOtaSSdNJejMddxpZmZZMiPdibo0aQk7TJoZO8qFjAaALAgaz8tI6nV6YT5fLE2HKBPKQFE/FG/g9JC4nw/NFTVKVDSpFRrIgW0oIgQbU0BgkW3uMBtmnpeBvENAhkOoQeci0gBRH/lkWg4ZJYqPDpsB9gegZipn3NS+WI6vDgTMknSGO0SQ9Uj0Kpt++cG8L4mKo1CFJY2Mf4uWuY2iwv08sRcPzPdUpY/ZsQZIWnRpkKOZI70D0875tsuhfV4INtRLezYc5FMH/8AIKrf6QYsJF4lwQozFLoCQJ/cKoLCbam94T94yzzTaQNR/wAzC+y92x8yIzDDz09cL83WLDSRPIrNhEjTv9Z2qieQXVPhwthoUdzNgbQN72uwkcwAO9I5llGOHoEkDr7zc/Mk2PUzPhWMHvSHUG5BMW33I6FhMfYokYhrJt8PFJ62PukEc/HzcYokWVacc/OfdP3X5WvKiAYmF7/q/p+G99MiCVXO/WffvPxm9uckbJITKzSQCQBJtsNpPIDlO3L0YiNvWP1Px58738USIWp/8et7T+O92MgDB1LhNRzAUn02HO/n+twRg2pwMrIM8wRe5G4tub8r3vgySGosrdaRsf11n052IkXExiOmWmIna0W8rWt5W63w6znCShE2kWtYjeQLTE2FhNyZwnzA0n7JB3+6PvLXvikxUTZDOlTOuDYGZiJ1EnmSSBaNxh+iU6yghQlQRKja5gC8clSPfhPTz61QFqxqBs4X5H6vyWN74kpEiIuQZCg79Cxm+KQhjS4k+XZKmnwzpqIbX21D872jFjq8SoMQ694pgjcRePfyxWKjd5TaSDtf/LBPqMTPWif1fEyryNX4G9Tiiav7x1tF5H3SMbo+KIqBidoqAnCVtLc8QplwRBFvXGLS8GibLS2SqNaD8cEVuCVAqmHM8pPXpGKrk6tWjHc16iRcCQRc7QbEb/HFjyn7RK6ACrTp1r7gaGj5qT7hgx9jtm+I8JfuHJBGnxCeo2wu4JkXaXMyWOx9MXEdqMrmqLUzqRqgK6CsmeQBWQSbRhd2aVUy9dFBFQF9GoRfSStzYXjfBj7FfoSvVV8y1FNXhUSWJBJI8VjykmIm0YW8UZqdXQJ2Eep/lhV2qzbVszIUd5ZQUMm8QJG5EgYcsO9NGrocllUtAtMQfnONeTixp2KM7DGpEooIa3kfwxmLNSUFPYYesD7zjMZ4hkP6OeQ/+KT/AKf/AG4m+nIPrt8D/txyhvel8sdM6j6mNzI6TPodmPwP5Xxts4g+t9+B+9Q/+GfcP0MQ5nOLTR2FInSpMRvAmL4LBIYGuulnLAKt2M2G5udtgT7sKuFdsMnmJ0VlkHTDypPKQDuD5Y8/4t29NTuu+phQQ6BAWCBWkGoT9ZiRpHQJPMDCLsjQSvW7lagSSSGI8jFvUD+LEZF4pHsHEayBiUC62AQt+7uF32kkn0E7DEvCaYFSk1KoBVfpci1tVouNxykk74p/As7XrNQDFWWpTNNjJtUSrUC3i5ZSPXw88WjhGSfvKRphQ6tqljaeQMGV2NtzOHaJpl/z3DA9Mr4SGEPrE6hEbCBJ9Ix5Hxnhoy9cBGFOi5KtS22IUsPDINwCTcbcseqjjgpoGrAjVAtBAJA8MzJvO/Q+WFvF8pks2oLFHLGA9IyZjnp9qAZg8sSUeK8YerQrsq1AUkwNeuxGkyd5IAt5DmAcTp2k1DTBDEhiZHtCTMxAuzP01MTYKExbeNdlculPVQJcgkO2oQCASw0BQVI9YERhFw3uNZWuBEEAqYMx5AzeP1bFUmFsVVeKAX13mRBEACLAHoVB/wBCTYEtI7sKetlK07AMZC2ECJ9qBYdeftvptXG+zGW4cyZl3WprgUKbjmYl2G2hZ1RsSQOkVbtN2pp12A1Fytka0C51VCTcGPCqbD2ryMKgJEokqpkEvJVQGM6YJExACrp8VxuSfGcDd2XE6gIAa4vB2YiRpXaCSLCxspAWezCMGRCgIuCu+kDwaybFAfEQR4mvucVVs5Un2ibzBMyftGd28/dgxYrLzQ4MhqBDXQ6wdOnxTy5bWEmPCALmLC1cG4PlFSDV1mSCFIMxfqZIBPsyBPIkk+SZXiVVWVg0mCDP1rz4vtR52sMPcrxIuJaQX3vM3+Y8jiZQb8jUqPUkzOUpKe5qNTBsdLRJ2tYybR4Z25YUZjidHVJqM9Q+cta97gKB1LGJ2xReIHxBgRItN2ItyA3MW6DpgDuWV5Ekm8GCSOU/VRcSuNfJWbLrxXi9N05A3OpLGSInUCiavMKZxR80NR0QDyDAQY89r+Z+eHFCm2mXjV5GfvFvcMDZ3T6xv4iem4JxpGokNtldr5FkaDywXlq5ggMT06W9/wCGJMyogXn1I2922ADmNP5fr9XxViobZrOMtFmT2o36XvHzvgfJ1itPxNqJMkzO8YVZzNsUtIXYj54k4DxLu2IKU3B21pqg+Q8/TkMQ1ZadDkZmSDP87g/h88FnJ1q6OuXViyjUdIJsPTmdh1wdwrieZdgtKhRv/wDTU4HmTosPOcNuO5nOUaaMzoAVqKe5BVQYBUmIBaA0HGc/tNONZOirZcsKYDSWG8i/vx1T1GwVvgcN+w9bNhqYh3y7VjWYgn2kRlMmecqSDvAjni3dr+OUFyz0q9Qr3ibJdhte8ReN98S5DcaPOs++jLGooDPqM81CjSLRYtJvOwjDDs5xerUZAjkglQ2oFlGqAdXPSNp6KYxVM1naYyQoq9Q1O+LkT4CrKACL+1a89B0w34HwBzkO/SuKZaoyhZIZguiYA9ob72tvimlFZMF9zpfBHw3hRWvSZfEBVQHTuWDAmF84ty9MWTg3bFaOYo5RqZVYCMzSGV2vBHSW0nbrjngWTAqoquO9NYrTYqSikqkPBgk8lB2kk7AY44zwAZvMgFe7qvUAcqIuBp22sbn340cvqL0iVFw/k9BqAdMawXwrNCrQpVABLopN+cX59ZxmOY0MenOy/FZ/DGLlXIiUA/y/mMGDKjq38TY6+ijq38R/PHacti/+iDyePRVH3YSdr6Qp5St/aAjqFIvDeI2A0jVLQQIPXkDi3LlhG5+J/PFY7dcPoLQLugao7JRRiuphJOw3kAtEXviaRcW70eMcWy1RyCQSYB8Rv4vEDfeQZ9+LR+zfhoTM0WZfGdXP91o8uU4V59TGskwwEDppJSPcFA9MXvs52eOX4hlqbT4st309GKww25Eke8YpwUYqiXJyk7GlDgFCg1V2zPcKW16FaSCRaPCNhygna9owLxbt5lqR0oXqNYtVhVdo6/f7sWPOPprKplkMhzsfLTyPvGFtfs5SrOrAlZhfYpkzz+p545ZcdyujWMlRWR+0oh7lqlI70ySv/Ur3PqD5RgvMftEotNXL1O5qWBpVKSD+GoohxbnB8rYtuU/Zim5dyI9kLTBv5lT92CR+z1u5aiqoqMQxZtLPIHUItsNccfKE2eent0XbS9NfFAnSs7nYnltz64tHCuDq1I1q4pCjTBeo40AyFBj2eRJIjrGCuL9hKeWRXau7FT4VAQCxm3hkYW5XiC1aRyrUFdXMbeIEx4gfqwROxw3CPhCTKXxzt5VzNUnucu1NfDSWrRVyqg2BJ8rmIvOEz9qXuPomT92WX5Ri5drf2cNlAj0yKisoMEDUs+guNr4qdfhDqTKgf6f5YMI/AAjdqDzyuUnf+4H4HHQ7WCBOSyW3+CZPmYfE78Kabx8P5YHGUPT5DDxj8Cpmx2tQ75LKe6mw/wD2WxJl+0gIg5XLiOitYfx4ynw8kiJn0wzyvBus/LBjH9YbBl7UpYfQ6BjnFX8KkYkqdpVM/wBipGd/73/+mLLkOF5dRL09U7yZ87RthjSyeT/wqfoQfxnEOK/WyijUeM2gZRfjU/34gqZ8NE5GmTJkl6wN/Sr+GPSU4ZliJWjTj/KDjf8AROX/AMGkf9C/lhOv2ykjzdFpkXyVIDp3tf8A3nDLhPZ/LVPbRF9DVn4l4+WLsOHZf/BpfwL+WOlyFHlSpfwL+WGq9/2FHn3avJU6IejRXwvRFSZJko7g7now26YV/suX/wCYKbQKbkz6R95GPQe1HDUbLkgKumfZUXkTFo+yPhgL9nWWQU6raF1a9M6RMQDE7xP3YpPTBrotfe/vD9e/HOdoI+Xqa1DwCQJifCxjpyPMYk1jyx0XXRBFiyi28mYjr0jEwishttLRVv2d1gMs6zEVJuftAfKB9+KL+0D+sq/SJI11KlLuzugpBAJ8zqnpi9diVC1M2sWFSBPkXH5Y47d9m6NWg1b2XBUGDAYmRMR7QA36C+wxckoz0SncNnjtJNRjFp7O5winoZhpUkiTtqvA998A0uAL3iAObsBy5nGq+XNNmQqQVJBEcuvpHTByQXJFxDjk4PIv1Gv3OUqZhNDVKRWqoaSpDaYmCDK6FNjvY2JGKtQ/aBXq5xKjCkGaoJOkwCxgk+I2vi/VaYfgZVFBJyvXosnfzBx5twzspmFzOUJot4ytQyLQHEmx2C6Sf82FxpRVD5G5Oz1/hqijRp0hVU6FCyCL9Teec4zEhVZ9hfhjMZ6KdliRf0cdmnGNI1h6Ee//AIxyBvPT/jHYcpsHFf484+m5OdqQq1zYnkFWwFvFsfLD+kvnz5/8YTf0alHMmooI71Sp6QDImPfhMqLKNluGCq2UoxAaqzNInwqxcgcxYkfDFy4tnGHFMnBMGnWUgKYuAQZiPq7YQrQCZhagdlZNQ5EAtpU+1PIR92HmWzBfM0mZgSocCRygTEYiMnVMvkSvQ2zNHUxN7743lVCvS8mnEwedjyn9XxLpv6QPfimjMff03TQGWUfr1xXuK9tIMI3XoR8vzxLXpgi5OEeb4ZJsx9+IoqwPiufqVwBqgDlED7r/AM8Lcplip1BrjDapkiu0H5cx+WBRRYdPjidlaIMxn6hdWZiwACwbfngHirB12jBubpm1187jAWaNsIoBdQRBnf8ACMCjJqOU4P0iPaHz/LEb+o+f5YABhCkELt1nBNHiZE+H78RMt7Efr3Y5Vev3jCoBinFpGw9wxz9IYzAH692BUrxtONsZvfBQWTvVrj2VI+F7/wAsQ/S6xJkspnkZ+V/vxFWUmwxqjknnfFohhaZiqtyZHOTH34Y5OszbkfEYFynDX5Ej/Ufzw+yeQbmMWkSL+0uZC5YJImpqFok6UZvvAmMM+yHD6dHJ0johqiio5gmSRY3mLRthD2o4aDnMsHMKFaABvIYGG5E2BkbYsfZlHOWQEFVWUTUQxKqYViRAuBiU/uZb/BBz91zX5YrPa3R/Zig06cwhb0vHzj44tL5Unm3u/wCMIe02SASmGltVVQJ63IPujbFS6FB7Aex2hcjRmCzBnJIO7MTvgTtsoOXDQPCwG/W3mMFdneCTRSpS1AONWmSQJ8jIB9McdqOF1foxEm70xy5uANh1IxDuuiqTl2UZ+C1VenT7ti7IKgGkgw159BtPli55rhwObV2CsSxkWNvo6DSRyHliD6O44pVLGStJeQPtRbaOR+OD6VYBmIMFjLWIkgRJhheAPhiJWaRpA9dAuTrUFPhQ6J6Aur6fPTMe71wTqP04dKeXgD/M8fh92JKpBUhtJU7yD+L4h+h0S4HdywWwESB5DePliaHY3Lk3Kn4fljMA0+EA7Aj+Ef8AbjMPBk5If0iRcGMabOPIE4zGY6qOckGfYdOu2OHqmrCtb0/W2MxmJkNFX4/kjRqU116wx1HwgdYBI39cScKqf2xB9W8D1xmMxLLZdUjaPLEhN/njMZimZguZqGNz7o/LCqo5+038X8sZjMSMgNc+fx9MRWPX4+uMxmEM4fJA8zgOtRUz7X8Q/wBuMxmJC2BNlwBz+P8ALEbURbf44zGYGUjkIP0TjRQdPmfzxmMwIZItJfsjBFKgv2f18MZjMMkKp5VOh+OGWWyikbYzGYZI0p5JRyGJqdMchtjMZihCHttlwadNualo96H8sNezlScpR/8AtqPgMZjMQvyZo/wQxnCrj9DUtI9Kqn78ZjMWyF2BdjK5NFk5U2Kj+JsT9q6erK1BqInSLR9tb7TjMZhPopfkVurlW/phgKrzoGo+E6gqLYjTF+sYTV8+/fMQYv8AgMZjMZs0j3/A7p1m7otIkLO3P47YjoZx9aDwwRJgEH3GbfPGYzGlIgcpm2mAzj/VjMZjMJomz//Z"/>
          <p:cNvSpPr>
            <a:spLocks noChangeAspect="1" noChangeArrowheads="1"/>
          </p:cNvSpPr>
          <p:nvPr/>
        </p:nvSpPr>
        <p:spPr bwMode="auto">
          <a:xfrm>
            <a:off x="1587501" y="-836613"/>
            <a:ext cx="2657475" cy="17240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20" name="AutoShape 8" descr="data:image/jpeg;base64,/9j/4AAQSkZJRgABAQAAAQABAAD/2wCEAAkGBhQSEBQUExIWFRUWGBwVGBgYFxweHBwfGRwcGh4bHR4dHCYeGBojHxwcHy8gIycpLSwsGh4xNTAqNSYsLCkBCQoKDgwOGg8PGiwkHyQpKSwsLCwsLCwsLCksLCwsLCksKSwsLCwsLCwsLCwsLCksLCwpLCwsLCwsLCwsLCwsLP/AABEIALUBFwMBIgACEQEDEQH/xAAbAAACAgMBAAAAAAAAAAAAAAAEBQMGAAECB//EAEkQAAIBAgQDBQQHBAkCBAcAAAECEQMhAAQSMQVBUQYTImFxMoGRoRRCUrHB0fAHYpLhFSMkM1NygtLxosJDY7LiFiVkc5PD0//EABgBAAMBAQAAAAAAAAAAAAAAAAABAgME/8QAJhEAAgICAgIBBAMBAAAAAAAAAAECERIhAzFBYVETIjLwgZGhcf/aAAwDAQACEQMRAD8A9JnGYCKvqA7zcE+yORA/HG6i1ACe8Fv3P540IDMawMUqfbX+D/3YjovUafElmK+yeRj7WAA2cZgMvU1BZS4J2PKPPzx071AJ8B/iwgCcZgfVU6J8T+WOUr1DPhXcj2jyMfZwAFY1gY13Bui7T7f8sabNMBJQch7Y5mOnngGFTjWB+/b/AA/+pcc0s6WEimY/zL+eADM3nNFSiv8AiOU+CO//AG/PBWK92kreFKpRwcu6VRBXYsFaYN5XUPfhu+e07ow5fV/PAAVjJwN9N/ce29h+eMXOSJ0P/DgEEYycDjOD7L/wnGmzq9G/hP5YBhE41OFfFO0VKgktM8gQR7z5YT0P2g0ilRiLqCVQTLRG1oggz7sJtIZa2qRucVDjnbDxtSpvpAjxi5PMxuIj4zuMJeMdtnrKAihBvZp2kXMfH0xUM9nix39SP15YnK9IC7ZH9pHdtpqzUEwWnxDpyhj1v7+WLzkOJU6y6qTh16g/ojHgZjngjh3Ga2VfVRq6CYDcwYIsQQZHPFID32cZOPMKv7SKlZQgiiZu6mSR0AOx9/T0wuznbzM6o702GmR4ZjnYROJyA9fnGTjz3sv26qHRRqFarMwUGYYA9eR0wSdjbnvi+fSV5EfHFismxmI+/GMNYYKAkxrHIqY3rwCN4zHJfEZrYYE2MxAaxxmADozqDTsCPjB/DAHHePLl6RZz5KoEknpAvHU8sFBROKv28pu2VqFRqhwpYAEqttp2EwLHn64YLvZYOB8c+kZdK1hIlo2Uj2hJAiPPHfBuJitSDpsxJgi4MwQRJg/mMKsrw1TlFR6QvSElSAZ0C4gTqnnOB+ydMGhr7s3YgMYkhbXkzY6sTe0h0qstBc6gegI+MfljdSqSIthPncyKfiukAk6jYxePa39PngihnJIW6sbxfbqDsRiiQ9s7Bi09OeIKWbIBsNyfiZwBtXqX+pTPzqD8MTFyYj4kfonABriOZJp1D/5bj5YGqcVy6gqHQNqBYIJuDeTYE26zjeccKjM7SApaItYE7f8AOKGeJOAumofZYn1EdR54TQ0y/wBTtFQ0nTUOqLStp9zYh4dximgOqqrGIEoxG7ETHr+udD4zxOqtQBajKNCmBtJ3xnAeKVXrIruWUgyCB0npiKdFWi28Tp1MwhWnmlUkjUVou3hWTBAXaYOHmar0mUhme957qoPObL92KNwzO1iit3jAkvtK2BAHskTsb4ly3ahqlQ0vpDsRIK6qn1d97csCixtoufDyQpZ3/vLhlpVdJsAIlcZS4pTFVaZr01ULBBFTXI2sVAjFTftclGqBVrV7QTpLfI9f1fFly/7V+GlAj97HPXrY9ZJJwNMaVhGc4pEGm1IgQWlm1E7EBdF+VhhZleKVkZu/rUmYz3SqrAwZ3GmTy5dcLuHdvzUD6UpAqxBXSQYkgH2pA2MjBtXtWzjxUKLHqdc/+qxwVInQDneGCteqzPN2cyNMEgKBAIFx9U+uF3E+xiwHonWDbxVCBYzzAJ20kecgiLuX7U2CvSokdGVfxWTjg8fpEj+xUBBkEIwv5GMLFhoq1XsjmSI1UwL7tFt7wtvuxFluwlZgSa+XgdHJ/ARi41ONq0FqCnl7b8/8uB0zFIgr3Aibjv6w89lb9TgSaDRW8r2DIaatVSsbJM/FliPdgbM9jvET9IWJtqpn5wcXb6RSiBRpi0CamYP/AHY5WvTAUijRL8ye+I+BJnD2FFIpdk/F46yMp+yGBB5GDTII8pE9RgduytWfDUpW2JZh967/ABxf6tSgVJOXDObytSoo9yxaLc7+WF5yqsZ0CmALAszX9wt6zhioqOWylXLVVeV1BhDSGBk3Eeki/wBrF1PbBWF8uu42Ydf8mFee4GKgUd4QVIbVp6cgNUtPnHLADZR1JFrbSdx1gTHxxSYqLO/bCkInL79GH5YHyvbmi1TSaDgAHmCeUcx54qXEqbhNZiFvv6fG+FmUrkksDzA9fLDA9PpdqssSZFQC0WPTybBWR43Qr1u6pMbKzFmLKoCgEycecZipoSfwtfDXsbx/LUqtRszRasDopogCkBnO8kiDaLdb8sKVoaPQeEd3m2ZKFWWVdRu4Am3MYg4lm0oO1Ni7MvtFWMAxJAm+LD2V+jjLmvRywy1Nh3gA0y6hdQcxtIJEb48y4zmmZajn2qmpvUmSY64iLbG0kWWlxZbT3h6wwH4GMZin9qcnUqUVFJC5DyQOkMPfvjMUBaOIdtaKjTQdaz3JCmVUDdmbpy9SMVlu1+ZcOtWnS0uRCw07iLgnTsLnFfyCgJVCJURmAR7qBAJaCdPhBIvA5YnrdyBFT2QbANGqeZOnwj3SPliMmVSLPV7Y1fEgproUaCYcD7Mg6bAeYHL3dZftb9GoooVdOnV9f6zG9gRczz5Yq1bjbimtKmzBQCPCfDpYyN/EDY9Cd/M95ztBMhQIQhe9aTOmwEDy23wvuHos2Z7StWTT4FkMrBrECN4IsPMxgfM9pXpwlQ+GJWNwZAEE3HxHwxVcrnIqhnWiVnUUqhgpMi3hkk3+tbyx1xSkWcNWGpmkseZOmYULEQbREW5AjBb+QpfBaKHadmaW3KaNZjUI1FSFBgmWJNxyG+8rdqyo0oWaLEuPHcgSSBB+E9dr0huJQQFplSYUX9mOe42i09fjF9MVZXVUN5LFvugSAeuDYaL9mO1qlSGZGYqUC+Zi8THx64U5tkBpKtMCFLEQLWXwsYkgkSZkgNbphPTzFN1VQ51QJCDYGDAgRyuSZ9cc8RCgKsVPDzG8Wm0b79MLvsaePRbe0faTL0qCLkx3tZvbdx7AG6qm2onncgDrtWsr2kzCmWpahufCdjznceuA+DZRHqBu8IGqYiSABNwJN49PPlibhmfD1air4lmU1RPQ3iLQPScVdaJassa8VV0puotpJNwIliZuRbCfhGUQZtqgqyTq8ED607EMZjC/+kELSURdrammPcI26xywRT4ihcEo+grE8iQd4HK0b4pMlotlSrHocQmojCbGLG23qNx78V49o6a+Fah5eFlJHlflgvJVqVaqk94CSFimJYyYCraJJgXtfFMQRnMmhlvYcwNa2PtA77HYb47oPUWzaag+0PCfeD4T7iPTBHB+DtUJ8bCmGgtEiZBKgxFtptM7YzP8P7kz9U7MJHxAO+KsKZIrSOY9cL+P5ao9HTRnVqBs2m15vI8sbzebCimFcBtUkaxfeAwOymd55GdhjsV3Oz0/4T/vthWDVA3ZvKVqSVO+1E2IltRgAzFz5YI4tx4ZdlXui+oapBA8ue+2JKisR4VLMP6whLToudyYEXjyOF2cK1WXvcmztECSJje18Ahg3GD9HWstIkkxoMki5H1VY8unPBPDs41SnqZNBkiIbl/mVT8sLqOZdFC08vURRYKACN553xZ+xTCvXIq0WAVZGvYmenP0w2BHRyNRk16YQfXay+4nf3Y39E/fT4n7yIwL+07tGauZ7hDCUfDY2L8/h7I9D1xSKlZ/tt8Thq2hF6qJpMER+vnhdnHhvdiqrn3Ug62sepw4zfFgTsQYFmBBvI25THXCl0NA1HiYzFKoDTgLpMM6gHnEgiNo3G+O8pw3IEAGqA1pgttYkD+umY1bC0jkL7zRNOlIoqSy6gug+IAxMKLeRPPA/D8rQbKNUcxVpOGYNAkMugi51G8bdNrWzqxs3V4VTqsVTMqiQtq1RENxq+swJHMWm49S+4Jwvh4qFNalwVYFsymgshbTpIaTci15vjOBdncpmcvUqPnSKiB8w6ogL6SFUkAsRJ0mxmNU2sQr/s+XzCvlVqV1SnqL1VWkEOxLQvIEeIndrbYajboTdHqiZjRl1y9Mf1YTuo38IGkCesCCb4GfKLoIqIujnqgAfligp24rVJDV6WXWLGmms7Aj2jYQdwCfLCOvwjMZvvKgqvVRFmWcNO5JnVCBRFjB6DfHRcONGWMpdlvz2eyqVNGVatWq8koAv63HQSbTtjMef5PLmkAzMtrN/XaQSSYMgybfccZhPm9D+mF5IF2IdpINzq3ZrkhVO0A77QLYjrZM1KzIpaOZNgBymDa3nfDDs9wRaYJq3+tHnBAEje022v5YV8d4kQW0jRrJDCB12NyJ9PjjhTt0jrrVsnrqaQ8LB29kaSDHUbXPL0OM/o86e8cg6b6FiAN4k7knfCzLVx3TPU0iDbSuksSCbkROGWTyNWszq1TTTU7oPaI/7QfcbYd12JKyBctqJfUUCXeD4ojYeGxJtfrzAxNkO05FPRoV3BOmeXvO5+/C7OVRSp1KYcMXKlrQbbDpbp54H4UxKnSJYEAfibnYD78WurJegqpnK1ZouW5g2A67CI3AviPN5AaRqa/kLSbR6Y4zpdSrajBn09Rywbw3JsfDrZRU9oFZIAlj5AQP5YHKtiUbIeHVagPd02Mk6QALkkxCjcmSPgMPcvwZKFZjmqiv3K95UVHJlpAWkZEEkxMTYHA9LjdHLu7UToeCimCSoaxZZEB4m89euAMpn1INOmup61qju0wszyg/vGw9+IyvZeNaDKHEXzWaICAvWIVVWAB0HkoEyff54ftwGhRqLT1tUbdk8S0yZBhSPE6zIixMnocDcEyC03Dq7SARIREmYkWBgEWPODvhJx/jrJmmFJtNgC0eK+4BiwPON/vhSydIpxxVyLHneMZQUSlNJcnSyBSqpHQkeK8RfaPej4Pm0p16WsjQWGuQunmdogn1wJk6deoQTqVZ9sA872J3JjrjjiWXIqMKYDCmt2kGJ3LGwLQOnXfFquiX8l0VKLaqtLK00NIx39cSkj2RTVTFQ3sWnl6YT8K4upq1XZn1absgC8wtgNvaiOmFOc7SVlpCl4QtKAoW8mLsSG3Mk+8bXxEmbqIq9xTOsgqzqhk3kxbrz6AeeIUGXki8cP4mUp1XcVKNGCyhiJZuQCxaTcmAB88bTtPRq0Q1Twgr4wJlblRcAgSVaDvYdcUbMGpRC9+FcvBBY6tO1o2nqPIYA4jx16pEtCrsotfqY3bz5bCBit9Jk3XY6z/GKbu6kA0xZHElhpvOojUQbz7sW3heSopRpd6QHJMuDuATYsG0i0eIkbQL4oHC88vdhNPiJYeESWB9ATpEbbfPBfE1rrTUOwVQui7XaOYESIHhuJgYlp9WCaLfxvtFQp1qaUAj+ArKmwLeE6oHit59fXFer8c8YR2bSpuVXSxBHmxP/OK7w7JVZR1SQz6UiCWO3hXdoON5pHJLLDeIISpHtHYb3nadrYpKnQm9Fsz/ABaqr1O6Dd0plXZhGk+yWJsWO8SDfbE2S4zmKTa+/NJRc6VVnciSSoNlXVa/zwCeDLQywqVmNQSdKBoQvJUnqY03J3BGxNltbiYzDFqxdqhOjTTAJYbyFiwnp0wZNhikPckiZgFlVi5YktUIv9YsYNtwIi5IA3kRJwrvKq06brUqRLQQqA/ZlQRYbmYHXAfC822WqhaesM5Gnv1UaOpgE6jtZvhfBvDePfRjVqGqtSrWBEEKulQxlizSBLD2ALgDywspJ9lYprolq9k4qGkayPU0yFpAkknkNUT6j1th7/8ACgLn6UbACHFRF1EctN48r3xUcpx05erUriqMxXdWAgsVplvrMWUBzawW2Ey16uYrqjsxd2vqkm4nbla/LDcpvySlFeC98X7YLQstEmCO7PeDQAsAahSeHNt3k4hqZTXRWrVp0lWuySCzDwEzqMljfwkQZvOKtl3emsUn8T2NMQ2oDqACCMMeI8NetlKTuzarjSSCCS9jIJAEEADaByg4jryadoKynCMs71FoVWVgml6hgJpMAgAmSDEbxA3OGfBuF5bu3KVUNJGLVP60d5UgW39hfM2AWYJOF2U4Xl1yuhjUpuQNdQSZ3lo5UwNQAgEyJ3xLwzs1lwTVSs1RYlajKoVR1E2J/eI9BzCcm/IlH0cVeKVq76KFNSiQQuhe7SLjxOLH94nU198E8Q4iZrU3KrQnX3asNVQ+cEHu7aiJBNvMYWcWq169QZWiSadO5JYESd2d7mSbR0AEWwwq/s+VaAZ6rCTdiwFtzpWDFttR5gkDCteR0zjJ8Laqs/R0DbqQiooHRlcS5gnkYtfGYXZvjzMgIfwI3d011E2VR4jzcxAlvtHyjeHUvAaAOL5wCGFRSwg6RqPu2Cge/AuT4a9eoKtQTTDhSBfVz0qBy6sTAxZUyMhTlqaDWASXamsSNrsXMekeR3xDxLgua06aSlpJJNLSBvzgi8QJ540TpUQ1fYr4sypUeo1RpY+xIHyUkYMy+bWhkzUDai+w1SA0WUW3G5wt4r2WzCQe5dp5gTt5ATjrgfZ2uq1KzhqKUwJ161JJ6ALLWnpuL4KVBk7AaeRidaMzvp7sAHxMxkxa8bRhrwnI6g3gh2kQl2A2m2wn3Yaoyw9SgjGpVC0AxUgrraGM3CALpAA9STzK44yUHSmlGqVtqVFIUACASwksecWxLbfQ1SKXk8i715GpgrXbcc7/ABw94jkglBiBDaYkGN+XvHxxnF8xVkJQo93qG4ABi2xmFgk+fnhbw7heZFamj0XZS0hWBKkwb8xuR8cN29sE0tEfAuy7VvHVlKQEg7F/JZ5eeOeLZ+krlaFNQBaYvzB2j093OcMMxwbNmuTCu9NjIpuDpJvczb48vLBXCuA0kTvKqF3U6mU7CDtA9q+84WSu2xekQ5qlmqqI6SiQPExgMYkEWJNhvETzwqo5UI0BUqVm28YIBuZAMBbDdpPphh2h4zVrgMtIrRnSpZQSSB5/ht1xFwzhP93rphHXVUM69bKokGI0ovIliIgnDWkDabO86tasVp6lpkS9SSQiAcybmALczPrgPP8ACUpqD/W1dQBVlUohnmJBJHIG04fZLNDvSqAFmJZzbqYQAG4A33GIeJpTDIrvJY3ZmMrz1DSJLWgLYeyBG+JjOnVFON7FOS4TXDAtSkICQKmwgTJuABF79MEUc/XqNIenAuVDqJA5WkxYz5YfcXrO9CpTV10qgDMzbEjYkT4z7PmS3nFIywqhhTRgdZHsySCbfG2KTy2yWsR7WD1P/D1tuD4Tv1J2Hl88K8xw1ZZqjU+V0aQpkyDAhniLLPK4nDjg1AsTpB0AaBYiTvaDeNyfzGIPoGms9FA9RyRrqEf3c9TeBBkm3s4SdOhtWgHh2frpIoUSfDCsVuBNyOV/fsOmIs3la7lTVlncwibsZvsLL6G/liyZYMrugNPQqwjufG7xYtqaWiT5bRhFXautcKXqeE+0iwdr6CJkkH54pNNiadEnBaLU6izWQMpamEmdBdWUksLL6idsC5Gois1P2mZgASogEGARqkzfyw0bhuTy6q1bvjVbxBJiLyNQgGdjcjc2wsIWNdHLu0Ge8czfl0UXMxuYvhiHfE+MLSpqopKxXwguJJG59L3nzwBkuIvVliO5pxBNNdOrooIF7X6x64ZZp6dHLh2CmpUQSd+UmJtN4sMS1sp3GUp997dZhad2bmfJB05xiFSRbtsgyYpLTi6ahq0gsKjreGdt1SbxubbSGwvzIpuyqqhEXdyJdifszJvG5+62CavCqVFr5tVG5kTuN4FwRPzwNl3pl1JL38SAi7CSFbTN9yQJ5g7bv2hegPMUyzhakUKa7DSed5jd2PNj5eQw1TgNJUFTXAAgs/7x5La5ki564j4xwbvmqVA4RaaSQQSTH2osu+0k+WI8vlxWpLRpFqjswGpiQq6dzoAFgDMknbrGC76Cq7QPxPPIGIonuww0tpYXHQwNjEkajgzP8ZSKSFqgCoAlObKOTMRcuQNogA+eCKvZZ9Xe03SnSorEkkk6blibLqO/hJAtfC+jxil371qlOAFAVRBJJJOoXiYG/KcDSEmx9wp2rrrZl0jwsCtpIuxBkQNwsGTHXCjivFmqVhl0YhNQQSAADMFgq+FT53O8EYzO8bZqIYTTRi0LuzbiS3mZHnB2tI3ZihGbiqukIpd2YexaQTa0yB78JJbY27dDfI8XGViUimlwRBJnmR18z1GFHaHtTVzJJLkUxss2jz64DzubetUqJTVmDMYAvaYF+nywTwbgbM6SktJ8LQUMCdX7wXmOukc8NRS2wcm9IWZCnUfU4tTEBmMBZ5CTbUem+Mxae19AUspRpAACZgdYmT5kzjMNPLZLWOi41uxVTkybfvflhbn+zNampMGJ9pQ1vfAjHpf0x/sC/kP0MLc7w5aohkMeTkYvAnM8wzLV12qOPRyPxwZwniWYUMWZ2/zO3yvbFwPY7LkklKg9HBHzGJafZiitgKl/NcLB0PLYjy/amLFG9mSdRPuuJwZR7Tqfqtid+x9Ezd9o3xCOyCj2XPyxL42VmgL+ksoX1Gh4rX0gm231vLDHL57LuVcKAwsDpuJ5WwG3Y9hdX+OID2fzAmPk+F9NhkiwV6auIM+7l8vf+owtyPZ2jSLaWc6iWOppEnnEBZ92FP0XNI8EVLe8fEWONPl8yGsasehwsF0OxxxLg/fGe/ZLgjSqyI2gtJEb2i5wvpdjaYqa2r1a0iGWo8BhaA0CWUEAxtYY2Grkgf1g+OIM3mcyrgB2jzAj/wBOEoroGd1OwVA1C4q1Kc8k0gCdwJBOD81w1KWUZKGUo1KgACd4qOTJGp3L2Lb/ACAtYLTxaqNyDfmB/LBVDtEuzi/kP54HFS8iYj4f2VrMpFanTBDSmrSaayDJFKnCl9rtbYHbB2Z4WKCK2VyjtWVw2pyu4UiQFYIFMxEXnykOm4pS31R6jHDcapD68+gb8sDjYaFOYp5uuKCvSFGnqHfaHHeMNUsRyQbwAefuxLR4MqUyEy5W2pvGpaozEmCxafDMXIHOTthiO0VLqfh+f6GM/wDialH1tp25db8vPbCxZSoqHaHhlMqpzBYVSfBSo6TAkDQWjxHzUQD1wGCUKrl8pUT95WLySIkEgoptGoGbb4vi9o6JPPeNv0fz5TiHi2eWtl2CVWpEg+ICTHdu2n2huF62kHBTCr8lQyvBZL1atLvqrQEpA6tG/jqRE7QLxckzysWWyC1X7s+wgl106US8RdYP8RmOe+CuylcUsslN5Vqcg6o6sZBDEQIPP6pw0pLSBZlVQWPiIFyeckemM5Qkw6KXxWvTqNTp5bun8Z1qV3CbydJAQgTqn3Wx1xbU1Wn3qp3VAk6iQiOwWyqGhnQG0xeOQxdV0DZR8MCZnhGXqks9JXJ5tJ/HFJSQzzfL5upnc0DWXVTBhtKhFAMwGIFhbncgH1Bfa5aiMtRE0K4IDHSKjIQOU60BMwAB4dPXF9fgeWKBDRQotwsGATufW+OczwOmwAVaagbTSVtuVzYYbbu0LF0UXs/lAuVmuagWox7umo1VKkgDwruF/eNrjfmryPDqtF2dQUKhhFQhWGoEA326XjHpWX4JUWf7VUuIslMR6eExGw5DEXEOyNKsiq71CFiIKjYaR9TeMSm7fse9ehVX4ZX+gJRW9VlUMWO2s7ljsASBig5LKO9UUhLB2CEqpMwZtIBAt5W3x6/w3hhomA5NMABVZi0Af5re/CrifZJqtQutVaV9QIVyw+NXSPQKBhwlJN2KSsB4jlBSpstMKKq+ySlkUKP7sQdRMRq6CJjevUKPd1HqVGOlx/WSTJnloXxCI3JBGLB2g7Lqv9fWr1XAktGhZ03MSefRQcAcJ4AmfV6nfNIqkd2FCjTuNtzBFx1OBXXY7VhtbMgUNVNQKSpcRAllO/M2MczsfPCnhubqd9RBq0qSiahLmEaBdFi7WPP8sWStn+7T6NQcd9/dqxV9N/ackiNUyZki0xyxTOJ0nWsuVIZqpIIcgtrLDkriQDy25HnOCLz7DS6A+OcWWqQAzNpgSbAwCJi+N4tPDP2eUTUDOXYDUHpBgSCCVEtTDAbTEzt78xa5OOOrIacts9GptUiQw+H8sd968bgYIq9natyKXsjr917nAP0dydMMP9OOu0YUyVKtT7Q9SJx2WqdR/DiJMlBu4t+6ZHltgxMmrD+8g7QQ4Pwi+FaHTB2Ln6wxoCoPrT7v54nqcOGm1SpPKVgH37jEdPIVDtrPvJ/ngTTA5asw3j9e/EZrOdtMb4mqZGopB0kHqdU/MYKFWto06VYHfUl7iDNlsRhNjAqoKkTDSAwIIIIPnHrjJPl8sS5DLFaFQ16vdmkTp7wKVMm7Ag6oa3hsQwYwdWK5n+07QVp6f82mT7htzG/UWwJ2DQ8qVdIlioHnhRmu1NNLAhj5D9eQ/wCDisZhWqGXdj91+g25j4r1kQfRVHKPf62J6RY+S1PKABvm+2DNZQo9BP3+7pz9cJ63EWcyel5/L3e++0kDioFXcfGxte9vDteNpeLquNDTE7RO9trEmLi42G0BRcSksZ1PoPP0kkzfaDJ8juZxzoPmPLnyFwJ5kCL3OkajOnTNG2/zsATtYafCWOwIVRAQkcHMCPK1ttxYdbifOCY9o1ChnJXnbawnluDzAXmN+UapBPBrsLAmSZ6X2BjmdxvI2BBlcbOaXe/uifO/I8p2WRsKa6hatWd/yBt8gdvKmh2BuAYc+wsL+m1+nlvuIO+l4nGv6RJB2MiDvfVyveGgAsfE2whQcQ1WBBg+8+g3t08bDzRBa2IalQbReSDNz5z1J5gXb2RCicUIPPE+pkAkyPOCT5SqO3lqXGk4m6vZyOsMQLC9ugMqB0XzwuNWQfMG8jnAJ6GeZ/0rOJDU1BidiW5bSajX8wCJ6YKCy05btGxBBN+RBnaN5+/BycVfRM3n9csUtNa+yszO1zf0PWLEWOD+H8V6klTJ0zsR8QDtiXD4KUl5LPS4s0+yTfEx4zB9gn0P8sLMrmEYAqrEGD7Q/wBlvTHdUjWsg7Nz9P3cYts0SQwbj4B9g7Tv/LG6PaFTyI9cC0qq/wCHPq5/LHNOun+EB/qc/eMIBp/TKDk3WyziZOIg8t+oOBFzgCWpKbc5/KcCNx1g0dwnu1dfTD/6LfgK7RtqydcBQ3gNvvjnMThN+z9f7ICrXFRlYESLGRFwQYbfz9IK47xx/ozAU9JaF1ABok3MMIIiRHnhd2a4yUL0oUw7NIULAMCIVQGiN8PWIt2W+b2MeQVfyx552vy7jiRrTZO5qc9tSp8NQj34t47REcgInn64XZ7Mmu0s7rrptR8LGFuH1ztqm0bx85jpjasc0OFsGK067UVuYp0Egz1kEk+ZOMwFV4+1FVBXVACzJuQLnaDPljMYy4rev3/Cj1GnxKD7H/V+hgWrmXIIV2SW1WIn022wGC5P8xz92JO4aPb+U/ljvpHPslqMWiSZHO34CPgMavESR5gwccCm32h8MYKbfaO/QbYdIRLSqMswzX6mfvx39KcfXbAjh+Tfr4YFqCr9o+6P9uAClcQ7Y1v6VBq1qlPLLrXQW8J06lLQN/EJBMbRNrv+H5jOZ6mKuTq0BT1EMXRmgADmjEFpJtvt1sh472QOY4hRSm2lqoY1CwHhRTL1OhmSI5n1xdc5mQKqUaOtaSSdNJejMddxpZmZZMiPdibo0aQk7TJoZO8qFjAaALAgaz8tI6nV6YT5fLE2HKBPKQFE/FG/g9JC4nw/NFTVKVDSpFRrIgW0oIgQbU0BgkW3uMBtmnpeBvENAhkOoQeci0gBRH/lkWg4ZJYqPDpsB9gegZipn3NS+WI6vDgTMknSGO0SQ9Uj0Kpt++cG8L4mKo1CFJY2Mf4uWuY2iwv08sRcPzPdUpY/ZsQZIWnRpkKOZI70D0875tsuhfV4INtRLezYc5FMH/8AIKrf6QYsJF4lwQozFLoCQJ/cKoLCbam94T94yzzTaQNR/wAzC+y92x8yIzDDz09cL83WLDSRPIrNhEjTv9Z2qieQXVPhwthoUdzNgbQN72uwkcwAO9I5llGOHoEkDr7zc/Mk2PUzPhWMHvSHUG5BMW33I6FhMfYokYhrJt8PFJ62PukEc/HzcYokWVacc/OfdP3X5WvKiAYmF7/q/p+G99MiCVXO/WffvPxm9uckbJITKzSQCQBJtsNpPIDlO3L0YiNvWP1Px58738USIWp/8et7T+O92MgDB1LhNRzAUn02HO/n+twRg2pwMrIM8wRe5G4tub8r3vgySGosrdaRsf11n052IkXExiOmWmIna0W8rWt5W63w6znCShE2kWtYjeQLTE2FhNyZwnzA0n7JB3+6PvLXvikxUTZDOlTOuDYGZiJ1EnmSSBaNxh+iU6yghQlQRKja5gC8clSPfhPTz61QFqxqBs4X5H6vyWN74kpEiIuQZCg79Cxm+KQhjS4k+XZKmnwzpqIbX21D872jFjq8SoMQ694pgjcRePfyxWKjd5TaSDtf/LBPqMTPWif1fEyryNX4G9Tiiav7x1tF5H3SMbo+KIqBidoqAnCVtLc8QplwRBFvXGLS8GibLS2SqNaD8cEVuCVAqmHM8pPXpGKrk6tWjHc16iRcCQRc7QbEb/HFjyn7RK6ACrTp1r7gaGj5qT7hgx9jtm+I8JfuHJBGnxCeo2wu4JkXaXMyWOx9MXEdqMrmqLUzqRqgK6CsmeQBWQSbRhd2aVUy9dFBFQF9GoRfSStzYXjfBj7FfoSvVV8y1FNXhUSWJBJI8VjykmIm0YW8UZqdXQJ2Eep/lhV2qzbVszIUd5ZQUMm8QJG5EgYcsO9NGrocllUtAtMQfnONeTixp2KM7DGpEooIa3kfwxmLNSUFPYYesD7zjMZ4hkP6OeQ/+KT/AKf/AG4m+nIPrt8D/txyhvel8sdM6j6mNzI6TPodmPwP5Xxts4g+t9+B+9Q/+GfcP0MQ5nOLTR2FInSpMRvAmL4LBIYGuulnLAKt2M2G5udtgT7sKuFdsMnmJ0VlkHTDypPKQDuD5Y8/4t29NTuu+phQQ6BAWCBWkGoT9ZiRpHQJPMDCLsjQSvW7lagSSSGI8jFvUD+LEZF4pHsHEayBiUC62AQt+7uF32kkn0E7DEvCaYFSk1KoBVfpci1tVouNxykk74p/As7XrNQDFWWpTNNjJtUSrUC3i5ZSPXw88WjhGSfvKRphQ6tqljaeQMGV2NtzOHaJpl/z3DA9Mr4SGEPrE6hEbCBJ9Ix5Hxnhoy9cBGFOi5KtS22IUsPDINwCTcbcseqjjgpoGrAjVAtBAJA8MzJvO/Q+WFvF8pks2oLFHLGA9IyZjnp9qAZg8sSUeK8YerQrsq1AUkwNeuxGkyd5IAt5DmAcTp2k1DTBDEhiZHtCTMxAuzP01MTYKExbeNdlculPVQJcgkO2oQCASw0BQVI9YERhFw3uNZWuBEEAqYMx5AzeP1bFUmFsVVeKAX13mRBEACLAHoVB/wBCTYEtI7sKetlK07AMZC2ECJ9qBYdeftvptXG+zGW4cyZl3WprgUKbjmYl2G2hZ1RsSQOkVbtN2pp12A1Fytka0C51VCTcGPCqbD2ryMKgJEokqpkEvJVQGM6YJExACrp8VxuSfGcDd2XE6gIAa4vB2YiRpXaCSLCxspAWezCMGRCgIuCu+kDwaybFAfEQR4mvucVVs5Un2ibzBMyftGd28/dgxYrLzQ4MhqBDXQ6wdOnxTy5bWEmPCALmLC1cG4PlFSDV1mSCFIMxfqZIBPsyBPIkk+SZXiVVWVg0mCDP1rz4vtR52sMPcrxIuJaQX3vM3+Y8jiZQb8jUqPUkzOUpKe5qNTBsdLRJ2tYybR4Z25YUZjidHVJqM9Q+cta97gKB1LGJ2xReIHxBgRItN2ItyA3MW6DpgDuWV5Ekm8GCSOU/VRcSuNfJWbLrxXi9N05A3OpLGSInUCiavMKZxR80NR0QDyDAQY89r+Z+eHFCm2mXjV5GfvFvcMDZ3T6xv4iem4JxpGokNtldr5FkaDywXlq5ggMT06W9/wCGJMyogXn1I2922ADmNP5fr9XxViobZrOMtFmT2o36XvHzvgfJ1itPxNqJMkzO8YVZzNsUtIXYj54k4DxLu2IKU3B21pqg+Q8/TkMQ1ZadDkZmSDP87g/h88FnJ1q6OuXViyjUdIJsPTmdh1wdwrieZdgtKhRv/wDTU4HmTosPOcNuO5nOUaaMzoAVqKe5BVQYBUmIBaA0HGc/tNONZOirZcsKYDSWG8i/vx1T1GwVvgcN+w9bNhqYh3y7VjWYgn2kRlMmecqSDvAjni3dr+OUFyz0q9Qr3ibJdhte8ReN98S5DcaPOs++jLGooDPqM81CjSLRYtJvOwjDDs5xerUZAjkglQ2oFlGqAdXPSNp6KYxVM1naYyQoq9Q1O+LkT4CrKACL+1a89B0w34HwBzkO/SuKZaoyhZIZguiYA9ob72tvimlFZMF9zpfBHw3hRWvSZfEBVQHTuWDAmF84ty9MWTg3bFaOYo5RqZVYCMzSGV2vBHSW0nbrjngWTAqoquO9NYrTYqSikqkPBgk8lB2kk7AY44zwAZvMgFe7qvUAcqIuBp22sbn340cvqL0iVFw/k9BqAdMawXwrNCrQpVABLopN+cX59ZxmOY0MenOy/FZ/DGLlXIiUA/y/mMGDKjq38TY6+ijq38R/PHacti/+iDyePRVH3YSdr6Qp5St/aAjqFIvDeI2A0jVLQQIPXkDi3LlhG5+J/PFY7dcPoLQLugao7JRRiuphJOw3kAtEXviaRcW70eMcWy1RyCQSYB8Rv4vEDfeQZ9+LR+zfhoTM0WZfGdXP91o8uU4V59TGskwwEDppJSPcFA9MXvs52eOX4hlqbT4st309GKww25Eke8YpwUYqiXJyk7GlDgFCg1V2zPcKW16FaSCRaPCNhygna9owLxbt5lqR0oXqNYtVhVdo6/f7sWPOPprKplkMhzsfLTyPvGFtfs5SrOrAlZhfYpkzz+p545ZcdyujWMlRWR+0oh7lqlI70ySv/Ur3PqD5RgvMftEotNXL1O5qWBpVKSD+GoohxbnB8rYtuU/Zim5dyI9kLTBv5lT92CR+z1u5aiqoqMQxZtLPIHUItsNccfKE2eent0XbS9NfFAnSs7nYnltz64tHCuDq1I1q4pCjTBeo40AyFBj2eRJIjrGCuL9hKeWRXau7FT4VAQCxm3hkYW5XiC1aRyrUFdXMbeIEx4gfqwROxw3CPhCTKXxzt5VzNUnucu1NfDSWrRVyqg2BJ8rmIvOEz9qXuPomT92WX5Ri5drf2cNlAj0yKisoMEDUs+guNr4qdfhDqTKgf6f5YMI/AAjdqDzyuUnf+4H4HHQ7WCBOSyW3+CZPmYfE78Kabx8P5YHGUPT5DDxj8Cpmx2tQ75LKe6mw/wD2WxJl+0gIg5XLiOitYfx4ynw8kiJn0wzyvBus/LBjH9YbBl7UpYfQ6BjnFX8KkYkqdpVM/wBipGd/73/+mLLkOF5dRL09U7yZ87RthjSyeT/wqfoQfxnEOK/WyijUeM2gZRfjU/34gqZ8NE5GmTJkl6wN/Sr+GPSU4ZliJWjTj/KDjf8AROX/AMGkf9C/lhOv2ykjzdFpkXyVIDp3tf8A3nDLhPZ/LVPbRF9DVn4l4+WLsOHZf/BpfwL+WOlyFHlSpfwL+WGq9/2FHn3avJU6IejRXwvRFSZJko7g7now26YV/suX/wCYKbQKbkz6R95GPQe1HDUbLkgKumfZUXkTFo+yPhgL9nWWQU6raF1a9M6RMQDE7xP3YpPTBrotfe/vD9e/HOdoI+Xqa1DwCQJifCxjpyPMYk1jyx0XXRBFiyi28mYjr0jEwishttLRVv2d1gMs6zEVJuftAfKB9+KL+0D+sq/SJI11KlLuzugpBAJ8zqnpi9diVC1M2sWFSBPkXH5Y47d9m6NWg1b2XBUGDAYmRMR7QA36C+wxckoz0SncNnjtJNRjFp7O5winoZhpUkiTtqvA998A0uAL3iAObsBy5nGq+XNNmQqQVJBEcuvpHTByQXJFxDjk4PIv1Gv3OUqZhNDVKRWqoaSpDaYmCDK6FNjvY2JGKtQ/aBXq5xKjCkGaoJOkwCxgk+I2vi/VaYfgZVFBJyvXosnfzBx5twzspmFzOUJot4ytQyLQHEmx2C6Sf82FxpRVD5G5Oz1/hqijRp0hVU6FCyCL9Teec4zEhVZ9hfhjMZ6KdliRf0cdmnGNI1h6Ee//AIxyBvPT/jHYcpsHFf484+m5OdqQq1zYnkFWwFvFsfLD+kvnz5/8YTf0alHMmooI71Sp6QDImPfhMqLKNluGCq2UoxAaqzNInwqxcgcxYkfDFy4tnGHFMnBMGnWUgKYuAQZiPq7YQrQCZhagdlZNQ5EAtpU+1PIR92HmWzBfM0mZgSocCRygTEYiMnVMvkSvQ2zNHUxN7743lVCvS8mnEwedjyn9XxLpv6QPfimjMff03TQGWUfr1xXuK9tIMI3XoR8vzxLXpgi5OEeb4ZJsx9+IoqwPiufqVwBqgDlED7r/AM8Lcplip1BrjDapkiu0H5cx+WBRRYdPjidlaIMxn6hdWZiwACwbfngHirB12jBubpm1187jAWaNsIoBdQRBnf8ACMCjJqOU4P0iPaHz/LEb+o+f5YABhCkELt1nBNHiZE+H78RMt7Efr3Y5Vev3jCoBinFpGw9wxz9IYzAH692BUrxtONsZvfBQWTvVrj2VI+F7/wAsQ/S6xJkspnkZ+V/vxFWUmwxqjknnfFohhaZiqtyZHOTH34Y5OszbkfEYFynDX5Ej/Ufzw+yeQbmMWkSL+0uZC5YJImpqFok6UZvvAmMM+yHD6dHJ0johqiio5gmSRY3mLRthD2o4aDnMsHMKFaABvIYGG5E2BkbYsfZlHOWQEFVWUTUQxKqYViRAuBiU/uZb/BBz91zX5YrPa3R/Zig06cwhb0vHzj44tL5Unm3u/wCMIe02SASmGltVVQJ63IPujbFS6FB7Aex2hcjRmCzBnJIO7MTvgTtsoOXDQPCwG/W3mMFdneCTRSpS1AONWmSQJ8jIB9McdqOF1foxEm70xy5uANh1IxDuuiqTl2UZ+C1VenT7ti7IKgGkgw159BtPli55rhwObV2CsSxkWNvo6DSRyHliD6O44pVLGStJeQPtRbaOR+OD6VYBmIMFjLWIkgRJhheAPhiJWaRpA9dAuTrUFPhQ6J6Aur6fPTMe71wTqP04dKeXgD/M8fh92JKpBUhtJU7yD+L4h+h0S4HdywWwESB5DePliaHY3Lk3Kn4fljMA0+EA7Aj+Ef8AbjMPBk5If0iRcGMabOPIE4zGY6qOckGfYdOu2OHqmrCtb0/W2MxmJkNFX4/kjRqU116wx1HwgdYBI39cScKqf2xB9W8D1xmMxLLZdUjaPLEhN/njMZimZguZqGNz7o/LCqo5+038X8sZjMSMgNc+fx9MRWPX4+uMxmEM4fJA8zgOtRUz7X8Q/wBuMxmJC2BNlwBz+P8ALEbURbf44zGYGUjkIP0TjRQdPmfzxmMwIZItJfsjBFKgv2f18MZjMMkKp5VOh+OGWWyikbYzGYZI0p5JRyGJqdMchtjMZihCHttlwadNualo96H8sNezlScpR/8AtqPgMZjMQvyZo/wQxnCrj9DUtI9Kqn78ZjMWyF2BdjK5NFk5U2Kj+JsT9q6erK1BqInSLR9tb7TjMZhPopfkVurlW/phgKrzoGo+E6gqLYjTF+sYTV8+/fMQYv8AgMZjMZs0j3/A7p1m7otIkLO3P47YjoZx9aDwwRJgEH3GbfPGYzGlIgcpm2mAzj/VjMZjMJomz//Z"/>
          <p:cNvSpPr>
            <a:spLocks noChangeAspect="1" noChangeArrowheads="1"/>
          </p:cNvSpPr>
          <p:nvPr/>
        </p:nvSpPr>
        <p:spPr bwMode="auto">
          <a:xfrm>
            <a:off x="1587501" y="-836613"/>
            <a:ext cx="2657475" cy="17240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95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US" sz="5200"/>
              <a:t>Constraints on Adaptationism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r>
              <a:rPr lang="en-US" sz="2200" u="sng"/>
              <a:t>Tradeoffs</a:t>
            </a:r>
          </a:p>
          <a:p>
            <a:r>
              <a:rPr lang="en-US" sz="2200"/>
              <a:t>Human female pelvis: designed for walking vs. giving birth</a:t>
            </a:r>
          </a:p>
        </p:txBody>
      </p:sp>
      <p:pic>
        <p:nvPicPr>
          <p:cNvPr id="12290" name="Picture 2" descr="File:Gray242.png">
            <a:hlinkClick r:id="rId3" invalidUrl="file:///.\upload.wikimedia.org\wikipedia\commons\0\0f\Gray242.png"/>
          </p:cNvPr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7494066" y="1879797"/>
            <a:ext cx="4237686" cy="30228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923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Constraints on Adaptationism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u="sng" dirty="0"/>
              <a:t>Historical contingency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u="sng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Example: the human eye and ‘blind spot’; see p. 27 of the textbook for details.</a:t>
            </a:r>
          </a:p>
          <a:p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7D2196C-CD0E-364A-A577-7A78D616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892" y="2835217"/>
            <a:ext cx="4802404" cy="287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7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Vas deferens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winding path of contingency: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3730" name="Picture 2" descr="http://upload.wikimedia.org/wikipedia/commons/0/08/Route_of_vas_deferens_from_testis_to_the_penis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405683" y="625683"/>
            <a:ext cx="3764212" cy="5455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185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Constraints on Adaptationism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708" y="885651"/>
            <a:ext cx="6525220" cy="4616849"/>
          </a:xfrm>
        </p:spPr>
        <p:txBody>
          <a:bodyPr anchor="ctr"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u="sng" dirty="0"/>
              <a:t>Available genetic variation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Genetic variation ultimately traces back to </a:t>
            </a:r>
            <a:r>
              <a:rPr lang="en-US" u="sng" dirty="0"/>
              <a:t>mutations</a:t>
            </a:r>
            <a:r>
              <a:rPr lang="en-US" dirty="0"/>
              <a:t> (e.g., point mutations, gene duplications), but one can’t “will” or predict whether a desirable mutation will arise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1741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Other Processes of Evolution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Besides selection, there are three </a:t>
            </a:r>
            <a:r>
              <a:rPr lang="en-US" u="sng" dirty="0"/>
              <a:t>other forces capable of changing “gene frequencies in a population over time”</a:t>
            </a:r>
            <a:r>
              <a:rPr lang="en-US" dirty="0"/>
              <a:t> (one definition of evolution)</a:t>
            </a:r>
          </a:p>
          <a:p>
            <a:pPr lvl="1"/>
            <a:r>
              <a:rPr lang="en-US" dirty="0"/>
              <a:t>Mutation </a:t>
            </a:r>
          </a:p>
          <a:p>
            <a:pPr lvl="1"/>
            <a:r>
              <a:rPr lang="en-US" dirty="0"/>
              <a:t>Gene flow</a:t>
            </a:r>
          </a:p>
          <a:p>
            <a:pPr lvl="1"/>
            <a:r>
              <a:rPr lang="en-US" dirty="0"/>
              <a:t>Genetic drift</a:t>
            </a:r>
          </a:p>
        </p:txBody>
      </p:sp>
    </p:spTree>
    <p:extLst>
      <p:ext uri="{BB962C8B-B14F-4D97-AF65-F5344CB8AC3E}">
        <p14:creationId xmlns:p14="http://schemas.microsoft.com/office/powerpoint/2010/main" val="1887307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2854001-B4AF-4E18-9D2E-33E37F97A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3600" dirty="0"/>
              <a:t>Examples of Gene Flow (and a subset: Founder Effect)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270" y="3355848"/>
            <a:ext cx="6244957" cy="282549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200" dirty="0"/>
              <a:t>Polydactyly among Amish</a:t>
            </a:r>
          </a:p>
          <a:p>
            <a:pPr lvl="1"/>
            <a:r>
              <a:rPr lang="en-US" sz="2200" dirty="0"/>
              <a:t>More than 5 fingers/toes on each hand/foot</a:t>
            </a:r>
          </a:p>
          <a:p>
            <a:pPr eaLnBrk="1" hangingPunct="1"/>
            <a:r>
              <a:rPr lang="en-US" sz="2200" dirty="0"/>
              <a:t>Eastern Finnish population may be descended from 20-30 families, and have higher prevalence of some diseases compared with the larger surrounding population</a:t>
            </a:r>
          </a:p>
          <a:p>
            <a:pPr eaLnBrk="1" hangingPunct="1"/>
            <a:endParaRPr lang="en-US" sz="2200" dirty="0"/>
          </a:p>
        </p:txBody>
      </p:sp>
      <p:pic>
        <p:nvPicPr>
          <p:cNvPr id="20484" name="Picture 5" descr="ng0300_203_I1"/>
          <p:cNvPicPr>
            <a:picLocks noChangeAspect="1" noChangeArrowheads="1"/>
          </p:cNvPicPr>
          <p:nvPr/>
        </p:nvPicPr>
        <p:blipFill rotWithShape="1">
          <a:blip r:embed="rId2" cstate="print"/>
          <a:srcRect b="213"/>
          <a:stretch/>
        </p:blipFill>
        <p:spPr bwMode="auto">
          <a:xfrm>
            <a:off x="7684007" y="603504"/>
            <a:ext cx="4050792" cy="5577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2196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0" name="Picture 21509">
            <a:extLst>
              <a:ext uri="{FF2B5EF4-FFF2-40B4-BE49-F238E27FC236}">
                <a16:creationId xmlns:a16="http://schemas.microsoft.com/office/drawing/2014/main" id="{0E376822-4E07-4F9C-A6E5-167FF3B47C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1520" name="Rectangle 73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9873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3467" y="321734"/>
            <a:ext cx="6891186" cy="113573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/>
              <a:t>Does evolution have a direction?</a:t>
            </a:r>
            <a:endParaRPr lang="en-US" sz="3600" dirty="0"/>
          </a:p>
        </p:txBody>
      </p:sp>
      <p:grpSp>
        <p:nvGrpSpPr>
          <p:cNvPr id="21521" name="Group 75">
            <a:extLst>
              <a:ext uri="{FF2B5EF4-FFF2-40B4-BE49-F238E27FC236}">
                <a16:creationId xmlns:a16="http://schemas.microsoft.com/office/drawing/2014/main" id="{07EAA094-9CF6-4695-958A-33D9BCAA9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23132" y="713128"/>
            <a:ext cx="1068867" cy="2126625"/>
            <a:chOff x="10918968" y="713127"/>
            <a:chExt cx="1273032" cy="2532832"/>
          </a:xfrm>
        </p:grpSpPr>
        <p:sp>
          <p:nvSpPr>
            <p:cNvPr id="21522" name="Rectangle 76">
              <a:extLst>
                <a:ext uri="{FF2B5EF4-FFF2-40B4-BE49-F238E27FC236}">
                  <a16:creationId xmlns:a16="http://schemas.microsoft.com/office/drawing/2014/main" id="{2E80C965-DB6D-4F81-9E9E-B027384D0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3" name="Isosceles Triangle 77">
              <a:extLst>
                <a:ext uri="{FF2B5EF4-FFF2-40B4-BE49-F238E27FC236}">
                  <a16:creationId xmlns:a16="http://schemas.microsoft.com/office/drawing/2014/main" id="{A580F890-B085-4E95-96AA-55AEBEC5C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24" name="Isosceles Triangle 79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5" name="Rectangle 81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509" name="Rectangle 3">
            <a:extLst>
              <a:ext uri="{FF2B5EF4-FFF2-40B4-BE49-F238E27FC236}">
                <a16:creationId xmlns:a16="http://schemas.microsoft.com/office/drawing/2014/main" id="{C937A9A4-1BE2-44FE-9FB6-365C2ECE59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834862"/>
              </p:ext>
            </p:extLst>
          </p:nvPr>
        </p:nvGraphicFramePr>
        <p:xfrm>
          <a:off x="643467" y="1782981"/>
          <a:ext cx="6891187" cy="439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5733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834</Words>
  <Application>Microsoft Macintosh PowerPoint</Application>
  <PresentationFormat>Widescreen</PresentationFormat>
  <Paragraphs>100</Paragraphs>
  <Slides>23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ANTH 3380: Evolutionary Medicine and Health</vt:lpstr>
      <vt:lpstr>Natural Selection</vt:lpstr>
      <vt:lpstr>Evolution by Natural Selection</vt:lpstr>
      <vt:lpstr>Great Moments in the History of the Universe: Publication of Darwin’s (1859) Origin of Species</vt:lpstr>
      <vt:lpstr>Natural Selection</vt:lpstr>
      <vt:lpstr>Natural Selection</vt:lpstr>
      <vt:lpstr>Natural Selection</vt:lpstr>
      <vt:lpstr>Genotype and Phenotype</vt:lpstr>
      <vt:lpstr>Environment</vt:lpstr>
      <vt:lpstr>From Genotype to Phenotype: Evo-Devo</vt:lpstr>
      <vt:lpstr>Levels of Selection:  At which level does selection act?</vt:lpstr>
      <vt:lpstr>Sexual Selection (yet another type of selection)</vt:lpstr>
      <vt:lpstr>Sexual Selection</vt:lpstr>
      <vt:lpstr>Artificial Selection</vt:lpstr>
      <vt:lpstr>Constraints on Adaptationism</vt:lpstr>
      <vt:lpstr>Constraints on Adaptationism</vt:lpstr>
      <vt:lpstr>Constraints on Adaptationism</vt:lpstr>
      <vt:lpstr>Constraints on Adaptationism</vt:lpstr>
      <vt:lpstr>Vas deferens</vt:lpstr>
      <vt:lpstr>Constraints on Adaptationism</vt:lpstr>
      <vt:lpstr>Other Processes of Evolution</vt:lpstr>
      <vt:lpstr>Examples of Gene Flow (and a subset: Founder Effect)</vt:lpstr>
      <vt:lpstr>Does evolution have a direction?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 3380: Evolutionary Medicine and Health</dc:title>
  <dc:creator>Michelle Dorne</dc:creator>
  <cp:lastModifiedBy>Michelle Dorne</cp:lastModifiedBy>
  <cp:revision>8</cp:revision>
  <dcterms:created xsi:type="dcterms:W3CDTF">2021-06-03T18:17:27Z</dcterms:created>
  <dcterms:modified xsi:type="dcterms:W3CDTF">2021-06-20T17:09:16Z</dcterms:modified>
</cp:coreProperties>
</file>