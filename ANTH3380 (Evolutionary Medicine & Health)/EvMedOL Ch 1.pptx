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60" r:id="rId3"/>
    <p:sldId id="374" r:id="rId4"/>
    <p:sldId id="324" r:id="rId5"/>
    <p:sldId id="323" r:id="rId6"/>
    <p:sldId id="385" r:id="rId7"/>
    <p:sldId id="373" r:id="rId8"/>
    <p:sldId id="328" r:id="rId9"/>
    <p:sldId id="330" r:id="rId10"/>
    <p:sldId id="331" r:id="rId11"/>
    <p:sldId id="337" r:id="rId12"/>
    <p:sldId id="336" r:id="rId13"/>
    <p:sldId id="338" r:id="rId14"/>
    <p:sldId id="339" r:id="rId15"/>
    <p:sldId id="366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275" r:id="rId25"/>
    <p:sldId id="340" r:id="rId26"/>
    <p:sldId id="34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2817"/>
  </p:normalViewPr>
  <p:slideViewPr>
    <p:cSldViewPr>
      <p:cViewPr varScale="1">
        <p:scale>
          <a:sx n="114" d="100"/>
          <a:sy n="114" d="100"/>
        </p:scale>
        <p:origin x="15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8881AC-F59D-4122-8F0E-BA1053BCAD9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621BCA-9B95-416B-8BFB-4B7A820CF359}">
      <dgm:prSet/>
      <dgm:spPr/>
      <dgm:t>
        <a:bodyPr/>
        <a:lstStyle/>
        <a:p>
          <a:r>
            <a:rPr lang="en-US"/>
            <a:t>What is the </a:t>
          </a:r>
          <a:r>
            <a:rPr lang="en-US" u="sng"/>
            <a:t>mechanism</a:t>
          </a:r>
          <a:r>
            <a:rPr lang="en-US"/>
            <a:t> underlying the phenomenon of interest?</a:t>
          </a:r>
        </a:p>
      </dgm:t>
    </dgm:pt>
    <dgm:pt modelId="{1EB102EE-485A-4FE8-B903-58CBF0DEF3EA}" type="parTrans" cxnId="{9DDECAC1-8B0B-4E4D-82D3-2D2371D122E4}">
      <dgm:prSet/>
      <dgm:spPr/>
      <dgm:t>
        <a:bodyPr/>
        <a:lstStyle/>
        <a:p>
          <a:endParaRPr lang="en-US"/>
        </a:p>
      </dgm:t>
    </dgm:pt>
    <dgm:pt modelId="{9B6EF314-7E1A-43D3-A3B7-1037EA773C55}" type="sibTrans" cxnId="{9DDECAC1-8B0B-4E4D-82D3-2D2371D122E4}">
      <dgm:prSet/>
      <dgm:spPr/>
      <dgm:t>
        <a:bodyPr/>
        <a:lstStyle/>
        <a:p>
          <a:endParaRPr lang="en-US"/>
        </a:p>
      </dgm:t>
    </dgm:pt>
    <dgm:pt modelId="{26F88965-BF46-4575-8079-3C026D64D9FB}">
      <dgm:prSet/>
      <dgm:spPr/>
      <dgm:t>
        <a:bodyPr/>
        <a:lstStyle/>
        <a:p>
          <a:r>
            <a:rPr lang="en-US"/>
            <a:t>How does the phenomenon </a:t>
          </a:r>
          <a:r>
            <a:rPr lang="en-US" u="sng"/>
            <a:t>develop</a:t>
          </a:r>
          <a:r>
            <a:rPr lang="en-US"/>
            <a:t> during the lifetime of the individual?</a:t>
          </a:r>
        </a:p>
      </dgm:t>
    </dgm:pt>
    <dgm:pt modelId="{57BE8806-FB69-4D0A-87EE-00F17CD9F392}" type="parTrans" cxnId="{35E9FAEB-F2AF-4D41-B785-BB775DCEE6DA}">
      <dgm:prSet/>
      <dgm:spPr/>
      <dgm:t>
        <a:bodyPr/>
        <a:lstStyle/>
        <a:p>
          <a:endParaRPr lang="en-US"/>
        </a:p>
      </dgm:t>
    </dgm:pt>
    <dgm:pt modelId="{576BD6E6-8A05-4684-9C1C-326EA5CA839F}" type="sibTrans" cxnId="{35E9FAEB-F2AF-4D41-B785-BB775DCEE6DA}">
      <dgm:prSet/>
      <dgm:spPr/>
      <dgm:t>
        <a:bodyPr/>
        <a:lstStyle/>
        <a:p>
          <a:endParaRPr lang="en-US"/>
        </a:p>
      </dgm:t>
    </dgm:pt>
    <dgm:pt modelId="{3B1F190C-03E5-44B2-839E-ACBDE05943B2}">
      <dgm:prSet/>
      <dgm:spPr/>
      <dgm:t>
        <a:bodyPr/>
        <a:lstStyle/>
        <a:p>
          <a:r>
            <a:rPr lang="en-US"/>
            <a:t>What is the </a:t>
          </a:r>
          <a:r>
            <a:rPr lang="en-US" u="sng"/>
            <a:t>function</a:t>
          </a:r>
          <a:r>
            <a:rPr lang="en-US"/>
            <a:t> of the phenomenon? How does it serve the organism’s interests?</a:t>
          </a:r>
        </a:p>
      </dgm:t>
    </dgm:pt>
    <dgm:pt modelId="{38428150-76FF-434B-B46F-F8A31C6001E1}" type="parTrans" cxnId="{B9CC055E-A5D4-44F5-AB12-C932B8D09D56}">
      <dgm:prSet/>
      <dgm:spPr/>
      <dgm:t>
        <a:bodyPr/>
        <a:lstStyle/>
        <a:p>
          <a:endParaRPr lang="en-US"/>
        </a:p>
      </dgm:t>
    </dgm:pt>
    <dgm:pt modelId="{853F8CAD-89BF-4048-A8C7-76A4502A94F3}" type="sibTrans" cxnId="{B9CC055E-A5D4-44F5-AB12-C932B8D09D56}">
      <dgm:prSet/>
      <dgm:spPr/>
      <dgm:t>
        <a:bodyPr/>
        <a:lstStyle/>
        <a:p>
          <a:endParaRPr lang="en-US"/>
        </a:p>
      </dgm:t>
    </dgm:pt>
    <dgm:pt modelId="{357A60B7-88BA-4616-BFA0-F5D5998F9D05}">
      <dgm:prSet/>
      <dgm:spPr/>
      <dgm:t>
        <a:bodyPr/>
        <a:lstStyle/>
        <a:p>
          <a:r>
            <a:rPr lang="en-US"/>
            <a:t>How did the phenomenon evolve? What is its evolutionary history (</a:t>
          </a:r>
          <a:r>
            <a:rPr lang="en-US" u="sng"/>
            <a:t>phylogeny</a:t>
          </a:r>
          <a:r>
            <a:rPr lang="en-US"/>
            <a:t>)?</a:t>
          </a:r>
        </a:p>
      </dgm:t>
    </dgm:pt>
    <dgm:pt modelId="{7664999A-A385-4D06-A3F1-31877C83F8F8}" type="parTrans" cxnId="{BE417DB2-18A0-47C2-B8AB-E5F19E9BA121}">
      <dgm:prSet/>
      <dgm:spPr/>
      <dgm:t>
        <a:bodyPr/>
        <a:lstStyle/>
        <a:p>
          <a:endParaRPr lang="en-US"/>
        </a:p>
      </dgm:t>
    </dgm:pt>
    <dgm:pt modelId="{DEF238F4-34B0-4AA9-88AE-94E07FA63FFC}" type="sibTrans" cxnId="{BE417DB2-18A0-47C2-B8AB-E5F19E9BA121}">
      <dgm:prSet/>
      <dgm:spPr/>
      <dgm:t>
        <a:bodyPr/>
        <a:lstStyle/>
        <a:p>
          <a:endParaRPr lang="en-US"/>
        </a:p>
      </dgm:t>
    </dgm:pt>
    <dgm:pt modelId="{EB4A8252-B151-9341-99E6-9467833C942C}" type="pres">
      <dgm:prSet presAssocID="{1D8881AC-F59D-4122-8F0E-BA1053BCAD96}" presName="linear" presStyleCnt="0">
        <dgm:presLayoutVars>
          <dgm:animLvl val="lvl"/>
          <dgm:resizeHandles val="exact"/>
        </dgm:presLayoutVars>
      </dgm:prSet>
      <dgm:spPr/>
    </dgm:pt>
    <dgm:pt modelId="{6718C7D8-EDB1-B94E-9D45-981978416386}" type="pres">
      <dgm:prSet presAssocID="{7F621BCA-9B95-416B-8BFB-4B7A820CF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F4E43F-3138-664A-9CB4-33A55E8705E8}" type="pres">
      <dgm:prSet presAssocID="{9B6EF314-7E1A-43D3-A3B7-1037EA773C55}" presName="spacer" presStyleCnt="0"/>
      <dgm:spPr/>
    </dgm:pt>
    <dgm:pt modelId="{5094BCA0-85FB-204C-A2F5-CE9AD8C8DF97}" type="pres">
      <dgm:prSet presAssocID="{26F88965-BF46-4575-8079-3C026D64D9F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279FF3-E342-1E4E-A182-9BC573DABEA0}" type="pres">
      <dgm:prSet presAssocID="{576BD6E6-8A05-4684-9C1C-326EA5CA839F}" presName="spacer" presStyleCnt="0"/>
      <dgm:spPr/>
    </dgm:pt>
    <dgm:pt modelId="{720F9707-97A0-FD4F-AA9A-B9F9EA0B13CC}" type="pres">
      <dgm:prSet presAssocID="{3B1F190C-03E5-44B2-839E-ACBDE05943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EFA2B07-94EF-3C40-B8D6-4A29B30C77CF}" type="pres">
      <dgm:prSet presAssocID="{853F8CAD-89BF-4048-A8C7-76A4502A94F3}" presName="spacer" presStyleCnt="0"/>
      <dgm:spPr/>
    </dgm:pt>
    <dgm:pt modelId="{0B688AF7-E217-F642-8B55-38C30B780A33}" type="pres">
      <dgm:prSet presAssocID="{357A60B7-88BA-4616-BFA0-F5D5998F9D0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422146-91A2-BD45-B951-E838897C10E9}" type="presOf" srcId="{357A60B7-88BA-4616-BFA0-F5D5998F9D05}" destId="{0B688AF7-E217-F642-8B55-38C30B780A33}" srcOrd="0" destOrd="0" presId="urn:microsoft.com/office/officeart/2005/8/layout/vList2"/>
    <dgm:cxn modelId="{B9CC055E-A5D4-44F5-AB12-C932B8D09D56}" srcId="{1D8881AC-F59D-4122-8F0E-BA1053BCAD96}" destId="{3B1F190C-03E5-44B2-839E-ACBDE05943B2}" srcOrd="2" destOrd="0" parTransId="{38428150-76FF-434B-B46F-F8A31C6001E1}" sibTransId="{853F8CAD-89BF-4048-A8C7-76A4502A94F3}"/>
    <dgm:cxn modelId="{F40DA66F-9855-2449-B9FD-45D1C5422EDA}" type="presOf" srcId="{26F88965-BF46-4575-8079-3C026D64D9FB}" destId="{5094BCA0-85FB-204C-A2F5-CE9AD8C8DF97}" srcOrd="0" destOrd="0" presId="urn:microsoft.com/office/officeart/2005/8/layout/vList2"/>
    <dgm:cxn modelId="{40DA1582-5B4D-654C-8DCE-FD255AAB67BB}" type="presOf" srcId="{7F621BCA-9B95-416B-8BFB-4B7A820CF359}" destId="{6718C7D8-EDB1-B94E-9D45-981978416386}" srcOrd="0" destOrd="0" presId="urn:microsoft.com/office/officeart/2005/8/layout/vList2"/>
    <dgm:cxn modelId="{0079CF88-F072-0F4C-94DB-0EAC39206081}" type="presOf" srcId="{3B1F190C-03E5-44B2-839E-ACBDE05943B2}" destId="{720F9707-97A0-FD4F-AA9A-B9F9EA0B13CC}" srcOrd="0" destOrd="0" presId="urn:microsoft.com/office/officeart/2005/8/layout/vList2"/>
    <dgm:cxn modelId="{9EA211A5-0D04-A144-9142-256CCDEE83FF}" type="presOf" srcId="{1D8881AC-F59D-4122-8F0E-BA1053BCAD96}" destId="{EB4A8252-B151-9341-99E6-9467833C942C}" srcOrd="0" destOrd="0" presId="urn:microsoft.com/office/officeart/2005/8/layout/vList2"/>
    <dgm:cxn modelId="{BE417DB2-18A0-47C2-B8AB-E5F19E9BA121}" srcId="{1D8881AC-F59D-4122-8F0E-BA1053BCAD96}" destId="{357A60B7-88BA-4616-BFA0-F5D5998F9D05}" srcOrd="3" destOrd="0" parTransId="{7664999A-A385-4D06-A3F1-31877C83F8F8}" sibTransId="{DEF238F4-34B0-4AA9-88AE-94E07FA63FFC}"/>
    <dgm:cxn modelId="{9DDECAC1-8B0B-4E4D-82D3-2D2371D122E4}" srcId="{1D8881AC-F59D-4122-8F0E-BA1053BCAD96}" destId="{7F621BCA-9B95-416B-8BFB-4B7A820CF359}" srcOrd="0" destOrd="0" parTransId="{1EB102EE-485A-4FE8-B903-58CBF0DEF3EA}" sibTransId="{9B6EF314-7E1A-43D3-A3B7-1037EA773C55}"/>
    <dgm:cxn modelId="{35E9FAEB-F2AF-4D41-B785-BB775DCEE6DA}" srcId="{1D8881AC-F59D-4122-8F0E-BA1053BCAD96}" destId="{26F88965-BF46-4575-8079-3C026D64D9FB}" srcOrd="1" destOrd="0" parTransId="{57BE8806-FB69-4D0A-87EE-00F17CD9F392}" sibTransId="{576BD6E6-8A05-4684-9C1C-326EA5CA839F}"/>
    <dgm:cxn modelId="{B5612D59-D768-634B-B7E1-DA9DE91B6CD4}" type="presParOf" srcId="{EB4A8252-B151-9341-99E6-9467833C942C}" destId="{6718C7D8-EDB1-B94E-9D45-981978416386}" srcOrd="0" destOrd="0" presId="urn:microsoft.com/office/officeart/2005/8/layout/vList2"/>
    <dgm:cxn modelId="{A64BFEE0-B3B1-1340-A47E-94FA760EDFFB}" type="presParOf" srcId="{EB4A8252-B151-9341-99E6-9467833C942C}" destId="{F7F4E43F-3138-664A-9CB4-33A55E8705E8}" srcOrd="1" destOrd="0" presId="urn:microsoft.com/office/officeart/2005/8/layout/vList2"/>
    <dgm:cxn modelId="{B20E23A7-FE3A-5941-82FE-372308C47D6E}" type="presParOf" srcId="{EB4A8252-B151-9341-99E6-9467833C942C}" destId="{5094BCA0-85FB-204C-A2F5-CE9AD8C8DF97}" srcOrd="2" destOrd="0" presId="urn:microsoft.com/office/officeart/2005/8/layout/vList2"/>
    <dgm:cxn modelId="{D10BEB40-6E75-D145-BC59-FED9EA864273}" type="presParOf" srcId="{EB4A8252-B151-9341-99E6-9467833C942C}" destId="{8A279FF3-E342-1E4E-A182-9BC573DABEA0}" srcOrd="3" destOrd="0" presId="urn:microsoft.com/office/officeart/2005/8/layout/vList2"/>
    <dgm:cxn modelId="{3A57A856-D0CB-6F4D-8FB6-A5D95116FF5C}" type="presParOf" srcId="{EB4A8252-B151-9341-99E6-9467833C942C}" destId="{720F9707-97A0-FD4F-AA9A-B9F9EA0B13CC}" srcOrd="4" destOrd="0" presId="urn:microsoft.com/office/officeart/2005/8/layout/vList2"/>
    <dgm:cxn modelId="{3E87B575-4B38-A043-9792-35509EE964D7}" type="presParOf" srcId="{EB4A8252-B151-9341-99E6-9467833C942C}" destId="{4EFA2B07-94EF-3C40-B8D6-4A29B30C77CF}" srcOrd="5" destOrd="0" presId="urn:microsoft.com/office/officeart/2005/8/layout/vList2"/>
    <dgm:cxn modelId="{440B77F3-2C17-294B-93A6-25854DF117CB}" type="presParOf" srcId="{EB4A8252-B151-9341-99E6-9467833C942C}" destId="{0B688AF7-E217-F642-8B55-38C30B780A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34D56D-9E31-4EC9-B652-0EE430237EF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8296002-C768-4433-BC81-05F54FC72AC2}">
      <dgm:prSet/>
      <dgm:spPr/>
      <dgm:t>
        <a:bodyPr/>
        <a:lstStyle/>
        <a:p>
          <a:r>
            <a:rPr lang="en-US"/>
            <a:t>The basics of </a:t>
          </a:r>
          <a:r>
            <a:rPr lang="en-US" u="sng"/>
            <a:t>evolutionary theory </a:t>
          </a:r>
          <a:r>
            <a:rPr lang="en-US"/>
            <a:t>help account for the processes by which humans (and other species) have evolved</a:t>
          </a:r>
        </a:p>
      </dgm:t>
    </dgm:pt>
    <dgm:pt modelId="{3FC92C66-D173-402C-9915-4F11BFB2BAF3}" type="parTrans" cxnId="{0AE66FDA-CECC-4C42-A9C9-48713F2CF0A1}">
      <dgm:prSet/>
      <dgm:spPr/>
      <dgm:t>
        <a:bodyPr/>
        <a:lstStyle/>
        <a:p>
          <a:endParaRPr lang="en-US"/>
        </a:p>
      </dgm:t>
    </dgm:pt>
    <dgm:pt modelId="{BC5D8434-DB0C-4FB7-A2B8-CF3BC339ABE8}" type="sibTrans" cxnId="{0AE66FDA-CECC-4C42-A9C9-48713F2CF0A1}">
      <dgm:prSet/>
      <dgm:spPr/>
      <dgm:t>
        <a:bodyPr/>
        <a:lstStyle/>
        <a:p>
          <a:endParaRPr lang="en-US"/>
        </a:p>
      </dgm:t>
    </dgm:pt>
    <dgm:pt modelId="{57EFE71E-4D9A-438D-9E89-AE7227B4C3EE}">
      <dgm:prSet/>
      <dgm:spPr/>
      <dgm:t>
        <a:bodyPr/>
        <a:lstStyle/>
        <a:p>
          <a:r>
            <a:rPr lang="en-US"/>
            <a:t>By understanding evolutionary theory, we can apply these principles to better understand modern day health and disease.</a:t>
          </a:r>
        </a:p>
      </dgm:t>
    </dgm:pt>
    <dgm:pt modelId="{DBB682F8-E55F-4AE4-9AD2-4CE77CC96253}" type="parTrans" cxnId="{C6C55DA4-3BDD-4C9E-8562-5B37F191DC80}">
      <dgm:prSet/>
      <dgm:spPr/>
      <dgm:t>
        <a:bodyPr/>
        <a:lstStyle/>
        <a:p>
          <a:endParaRPr lang="en-US"/>
        </a:p>
      </dgm:t>
    </dgm:pt>
    <dgm:pt modelId="{AD35745C-94CC-457C-9237-1A53EC5DC998}" type="sibTrans" cxnId="{C6C55DA4-3BDD-4C9E-8562-5B37F191DC80}">
      <dgm:prSet/>
      <dgm:spPr/>
      <dgm:t>
        <a:bodyPr/>
        <a:lstStyle/>
        <a:p>
          <a:endParaRPr lang="en-US"/>
        </a:p>
      </dgm:t>
    </dgm:pt>
    <dgm:pt modelId="{F878DD89-D13C-6A41-BB40-4F78257AEB0B}" type="pres">
      <dgm:prSet presAssocID="{BB34D56D-9E31-4EC9-B652-0EE430237EF1}" presName="linear" presStyleCnt="0">
        <dgm:presLayoutVars>
          <dgm:animLvl val="lvl"/>
          <dgm:resizeHandles val="exact"/>
        </dgm:presLayoutVars>
      </dgm:prSet>
      <dgm:spPr/>
    </dgm:pt>
    <dgm:pt modelId="{63B02BDA-9FAE-6E43-96AA-EE24705D0EA0}" type="pres">
      <dgm:prSet presAssocID="{18296002-C768-4433-BC81-05F54FC72AC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B761A8-BEC9-154A-A761-9BDF7038A5E7}" type="pres">
      <dgm:prSet presAssocID="{BC5D8434-DB0C-4FB7-A2B8-CF3BC339ABE8}" presName="spacer" presStyleCnt="0"/>
      <dgm:spPr/>
    </dgm:pt>
    <dgm:pt modelId="{34D15AE0-DA24-0441-81DC-E37BCB4769D5}" type="pres">
      <dgm:prSet presAssocID="{57EFE71E-4D9A-438D-9E89-AE7227B4C3E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806064A-8E8B-DE4E-9047-A7EB72A66182}" type="presOf" srcId="{BB34D56D-9E31-4EC9-B652-0EE430237EF1}" destId="{F878DD89-D13C-6A41-BB40-4F78257AEB0B}" srcOrd="0" destOrd="0" presId="urn:microsoft.com/office/officeart/2005/8/layout/vList2"/>
    <dgm:cxn modelId="{E512C37F-5C2D-DA45-A96C-633DBB9A004E}" type="presOf" srcId="{18296002-C768-4433-BC81-05F54FC72AC2}" destId="{63B02BDA-9FAE-6E43-96AA-EE24705D0EA0}" srcOrd="0" destOrd="0" presId="urn:microsoft.com/office/officeart/2005/8/layout/vList2"/>
    <dgm:cxn modelId="{C6C55DA4-3BDD-4C9E-8562-5B37F191DC80}" srcId="{BB34D56D-9E31-4EC9-B652-0EE430237EF1}" destId="{57EFE71E-4D9A-438D-9E89-AE7227B4C3EE}" srcOrd="1" destOrd="0" parTransId="{DBB682F8-E55F-4AE4-9AD2-4CE77CC96253}" sibTransId="{AD35745C-94CC-457C-9237-1A53EC5DC998}"/>
    <dgm:cxn modelId="{9F0EE4D2-94A3-1D43-AD0B-1ED38D2D8F2F}" type="presOf" srcId="{57EFE71E-4D9A-438D-9E89-AE7227B4C3EE}" destId="{34D15AE0-DA24-0441-81DC-E37BCB4769D5}" srcOrd="0" destOrd="0" presId="urn:microsoft.com/office/officeart/2005/8/layout/vList2"/>
    <dgm:cxn modelId="{0AE66FDA-CECC-4C42-A9C9-48713F2CF0A1}" srcId="{BB34D56D-9E31-4EC9-B652-0EE430237EF1}" destId="{18296002-C768-4433-BC81-05F54FC72AC2}" srcOrd="0" destOrd="0" parTransId="{3FC92C66-D173-402C-9915-4F11BFB2BAF3}" sibTransId="{BC5D8434-DB0C-4FB7-A2B8-CF3BC339ABE8}"/>
    <dgm:cxn modelId="{B769A138-E26C-7340-8F5B-F45FE97137DA}" type="presParOf" srcId="{F878DD89-D13C-6A41-BB40-4F78257AEB0B}" destId="{63B02BDA-9FAE-6E43-96AA-EE24705D0EA0}" srcOrd="0" destOrd="0" presId="urn:microsoft.com/office/officeart/2005/8/layout/vList2"/>
    <dgm:cxn modelId="{917DAF86-8FB7-B74F-BC7E-384233DF145C}" type="presParOf" srcId="{F878DD89-D13C-6A41-BB40-4F78257AEB0B}" destId="{62B761A8-BEC9-154A-A761-9BDF7038A5E7}" srcOrd="1" destOrd="0" presId="urn:microsoft.com/office/officeart/2005/8/layout/vList2"/>
    <dgm:cxn modelId="{232EC723-E969-DA41-B787-A96FF755A5C3}" type="presParOf" srcId="{F878DD89-D13C-6A41-BB40-4F78257AEB0B}" destId="{34D15AE0-DA24-0441-81DC-E37BCB4769D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8C7D8-EDB1-B94E-9D45-981978416386}">
      <dsp:nvSpPr>
        <dsp:cNvPr id="0" name=""/>
        <dsp:cNvSpPr/>
      </dsp:nvSpPr>
      <dsp:spPr>
        <a:xfrm>
          <a:off x="0" y="95441"/>
          <a:ext cx="5175384" cy="128663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What is the </a:t>
          </a:r>
          <a:r>
            <a:rPr lang="en-US" sz="2300" u="sng" kern="1200"/>
            <a:t>mechanism</a:t>
          </a:r>
          <a:r>
            <a:rPr lang="en-US" sz="2300" kern="1200"/>
            <a:t> underlying the phenomenon of interest?</a:t>
          </a:r>
        </a:p>
      </dsp:txBody>
      <dsp:txXfrm>
        <a:off x="62808" y="158249"/>
        <a:ext cx="5049768" cy="1161018"/>
      </dsp:txXfrm>
    </dsp:sp>
    <dsp:sp modelId="{5094BCA0-85FB-204C-A2F5-CE9AD8C8DF97}">
      <dsp:nvSpPr>
        <dsp:cNvPr id="0" name=""/>
        <dsp:cNvSpPr/>
      </dsp:nvSpPr>
      <dsp:spPr>
        <a:xfrm>
          <a:off x="0" y="1448316"/>
          <a:ext cx="5175384" cy="128663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How does the phenomenon </a:t>
          </a:r>
          <a:r>
            <a:rPr lang="en-US" sz="2300" u="sng" kern="1200"/>
            <a:t>develop</a:t>
          </a:r>
          <a:r>
            <a:rPr lang="en-US" sz="2300" kern="1200"/>
            <a:t> during the lifetime of the individual?</a:t>
          </a:r>
        </a:p>
      </dsp:txBody>
      <dsp:txXfrm>
        <a:off x="62808" y="1511124"/>
        <a:ext cx="5049768" cy="1161018"/>
      </dsp:txXfrm>
    </dsp:sp>
    <dsp:sp modelId="{720F9707-97A0-FD4F-AA9A-B9F9EA0B13CC}">
      <dsp:nvSpPr>
        <dsp:cNvPr id="0" name=""/>
        <dsp:cNvSpPr/>
      </dsp:nvSpPr>
      <dsp:spPr>
        <a:xfrm>
          <a:off x="0" y="2801190"/>
          <a:ext cx="5175384" cy="128663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What is the </a:t>
          </a:r>
          <a:r>
            <a:rPr lang="en-US" sz="2300" u="sng" kern="1200"/>
            <a:t>function</a:t>
          </a:r>
          <a:r>
            <a:rPr lang="en-US" sz="2300" kern="1200"/>
            <a:t> of the phenomenon? How does it serve the organism’s interests?</a:t>
          </a:r>
        </a:p>
      </dsp:txBody>
      <dsp:txXfrm>
        <a:off x="62808" y="2863998"/>
        <a:ext cx="5049768" cy="1161018"/>
      </dsp:txXfrm>
    </dsp:sp>
    <dsp:sp modelId="{0B688AF7-E217-F642-8B55-38C30B780A33}">
      <dsp:nvSpPr>
        <dsp:cNvPr id="0" name=""/>
        <dsp:cNvSpPr/>
      </dsp:nvSpPr>
      <dsp:spPr>
        <a:xfrm>
          <a:off x="0" y="4154064"/>
          <a:ext cx="5175384" cy="128663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How did the phenomenon evolve? What is its evolutionary history (</a:t>
          </a:r>
          <a:r>
            <a:rPr lang="en-US" sz="2300" u="sng" kern="1200"/>
            <a:t>phylogeny</a:t>
          </a:r>
          <a:r>
            <a:rPr lang="en-US" sz="2300" kern="1200"/>
            <a:t>)?</a:t>
          </a:r>
        </a:p>
      </dsp:txBody>
      <dsp:txXfrm>
        <a:off x="62808" y="4216872"/>
        <a:ext cx="5049768" cy="1161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B02BDA-9FAE-6E43-96AA-EE24705D0EA0}">
      <dsp:nvSpPr>
        <dsp:cNvPr id="0" name=""/>
        <dsp:cNvSpPr/>
      </dsp:nvSpPr>
      <dsp:spPr>
        <a:xfrm>
          <a:off x="0" y="199763"/>
          <a:ext cx="4697730" cy="25108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basics of </a:t>
          </a:r>
          <a:r>
            <a:rPr lang="en-US" sz="2900" u="sng" kern="1200"/>
            <a:t>evolutionary theory </a:t>
          </a:r>
          <a:r>
            <a:rPr lang="en-US" sz="2900" kern="1200"/>
            <a:t>help account for the processes by which humans (and other species) have evolved</a:t>
          </a:r>
        </a:p>
      </dsp:txBody>
      <dsp:txXfrm>
        <a:off x="122568" y="322331"/>
        <a:ext cx="4452594" cy="2265683"/>
      </dsp:txXfrm>
    </dsp:sp>
    <dsp:sp modelId="{34D15AE0-DA24-0441-81DC-E37BCB4769D5}">
      <dsp:nvSpPr>
        <dsp:cNvPr id="0" name=""/>
        <dsp:cNvSpPr/>
      </dsp:nvSpPr>
      <dsp:spPr>
        <a:xfrm>
          <a:off x="0" y="2794103"/>
          <a:ext cx="4697730" cy="251081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By understanding evolutionary theory, we can apply these principles to better understand modern day health and disease.</a:t>
          </a:r>
        </a:p>
      </dsp:txBody>
      <dsp:txXfrm>
        <a:off x="122568" y="2916671"/>
        <a:ext cx="4452594" cy="2265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6049A-A6F0-4052-9C3A-57365DE3849F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E2801-63A7-4F3C-B932-90D554B48E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08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E2801-63A7-4F3C-B932-90D554B48E8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65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E2801-63A7-4F3C-B932-90D554B48E8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E2801-63A7-4F3C-B932-90D554B48E8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49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E2801-63A7-4F3C-B932-90D554B48E8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78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E2801-63A7-4F3C-B932-90D554B48E8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14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E2801-63A7-4F3C-B932-90D554B48E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E2801-63A7-4F3C-B932-90D554B48E8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55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E2801-63A7-4F3C-B932-90D554B48E8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79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5E2801-63A7-4F3C-B932-90D554B48E8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54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557D5-215E-40DD-89F1-2A504912585A}" type="datetimeFigureOut">
              <a:rPr lang="en-US" smtClean="0"/>
              <a:pPr/>
              <a:t>6/3/21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55015-9D2B-4B8F-BABB-780528A8966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kDF2-ScA5gw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DF2-ScA5gw?feature=oembed" TargetMode="Externa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Evolutionary Medicine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</a:t>
            </a:r>
          </a:p>
          <a:p>
            <a:r>
              <a:rPr lang="en-US"/>
              <a:t>Evolutionary Medicine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Some Non-Evolutionary Views of Human Health and Disease</a:t>
            </a:r>
          </a:p>
          <a:p>
            <a:r>
              <a:rPr lang="en-US" dirty="0"/>
              <a:t>An Evolutionary Approach to Human Health and Disease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Biological Anthropology?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Biological Anthropologists view humans as the products of:</a:t>
            </a:r>
          </a:p>
          <a:p>
            <a:pPr lvl="1"/>
            <a:r>
              <a:rPr lang="en-US" dirty="0"/>
              <a:t>1. A long evolutionary history</a:t>
            </a:r>
          </a:p>
          <a:p>
            <a:pPr lvl="1"/>
            <a:r>
              <a:rPr lang="en-US" dirty="0"/>
              <a:t>2. An individual life history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3992581"/>
            <a:ext cx="4419600" cy="284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82" y="4290124"/>
            <a:ext cx="3810000" cy="1765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213326"/>
            <a:ext cx="2746618" cy="179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1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3600"/>
              <a:t>Introduction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830629 w 4480560"/>
              <a:gd name="connsiteY3" fmla="*/ 0 h 13716"/>
              <a:gd name="connsiteX4" fmla="*/ 2425903 w 4480560"/>
              <a:gd name="connsiteY4" fmla="*/ 0 h 13716"/>
              <a:gd name="connsiteX5" fmla="*/ 3021178 w 4480560"/>
              <a:gd name="connsiteY5" fmla="*/ 0 h 13716"/>
              <a:gd name="connsiteX6" fmla="*/ 3750869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930091 w 4480560"/>
              <a:gd name="connsiteY9" fmla="*/ 13716 h 13716"/>
              <a:gd name="connsiteX10" fmla="*/ 3290011 w 4480560"/>
              <a:gd name="connsiteY10" fmla="*/ 13716 h 13716"/>
              <a:gd name="connsiteX11" fmla="*/ 2649931 w 4480560"/>
              <a:gd name="connsiteY11" fmla="*/ 13716 h 13716"/>
              <a:gd name="connsiteX12" fmla="*/ 2054657 w 4480560"/>
              <a:gd name="connsiteY12" fmla="*/ 13716 h 13716"/>
              <a:gd name="connsiteX13" fmla="*/ 1324966 w 4480560"/>
              <a:gd name="connsiteY13" fmla="*/ 13716 h 13716"/>
              <a:gd name="connsiteX14" fmla="*/ 595274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0642" y="3611"/>
                  <a:pt x="4480510" y="9346"/>
                  <a:pt x="4480560" y="13716"/>
                </a:cubicBezTo>
                <a:cubicBezTo>
                  <a:pt x="4305601" y="36948"/>
                  <a:pt x="4025154" y="21890"/>
                  <a:pt x="3840480" y="13716"/>
                </a:cubicBezTo>
                <a:cubicBezTo>
                  <a:pt x="3668919" y="-16903"/>
                  <a:pt x="3556555" y="-17246"/>
                  <a:pt x="3290011" y="13716"/>
                </a:cubicBezTo>
                <a:cubicBezTo>
                  <a:pt x="2991827" y="13600"/>
                  <a:pt x="2862038" y="-27094"/>
                  <a:pt x="2560320" y="13716"/>
                </a:cubicBezTo>
                <a:cubicBezTo>
                  <a:pt x="2273396" y="32804"/>
                  <a:pt x="2159701" y="35426"/>
                  <a:pt x="1965046" y="13716"/>
                </a:cubicBezTo>
                <a:cubicBezTo>
                  <a:pt x="1785994" y="24616"/>
                  <a:pt x="1686680" y="47748"/>
                  <a:pt x="1459382" y="13716"/>
                </a:cubicBezTo>
                <a:cubicBezTo>
                  <a:pt x="1260610" y="398"/>
                  <a:pt x="913962" y="26960"/>
                  <a:pt x="774497" y="13716"/>
                </a:cubicBezTo>
                <a:cubicBezTo>
                  <a:pt x="689426" y="-2719"/>
                  <a:pt x="378264" y="1751"/>
                  <a:pt x="0" y="13716"/>
                </a:cubicBezTo>
                <a:cubicBezTo>
                  <a:pt x="-173" y="8371"/>
                  <a:pt x="-387" y="6213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397" y="3458"/>
                  <a:pt x="4481383" y="8632"/>
                  <a:pt x="4480560" y="13716"/>
                </a:cubicBezTo>
                <a:cubicBezTo>
                  <a:pt x="4261480" y="-10003"/>
                  <a:pt x="4206199" y="28529"/>
                  <a:pt x="3930091" y="13716"/>
                </a:cubicBezTo>
                <a:cubicBezTo>
                  <a:pt x="3666932" y="-15474"/>
                  <a:pt x="3493645" y="14804"/>
                  <a:pt x="3290011" y="13716"/>
                </a:cubicBezTo>
                <a:cubicBezTo>
                  <a:pt x="3137078" y="-41032"/>
                  <a:pt x="2894690" y="-17948"/>
                  <a:pt x="2649931" y="13716"/>
                </a:cubicBezTo>
                <a:cubicBezTo>
                  <a:pt x="2413020" y="21294"/>
                  <a:pt x="2225991" y="-10559"/>
                  <a:pt x="2054657" y="13716"/>
                </a:cubicBezTo>
                <a:cubicBezTo>
                  <a:pt x="1886877" y="37541"/>
                  <a:pt x="1548763" y="45390"/>
                  <a:pt x="1324966" y="13716"/>
                </a:cubicBezTo>
                <a:cubicBezTo>
                  <a:pt x="1040995" y="1897"/>
                  <a:pt x="786929" y="-17655"/>
                  <a:pt x="595274" y="13716"/>
                </a:cubicBezTo>
                <a:cubicBezTo>
                  <a:pt x="371401" y="32831"/>
                  <a:pt x="168483" y="23167"/>
                  <a:pt x="0" y="13716"/>
                </a:cubicBezTo>
                <a:cubicBezTo>
                  <a:pt x="-740" y="8467"/>
                  <a:pt x="-279" y="4434"/>
                  <a:pt x="0" y="0"/>
                </a:cubicBezTo>
                <a:close/>
              </a:path>
              <a:path w="4480560" h="13716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0546" y="3532"/>
                  <a:pt x="4481771" y="9530"/>
                  <a:pt x="4480560" y="13716"/>
                </a:cubicBezTo>
                <a:cubicBezTo>
                  <a:pt x="4299745" y="8025"/>
                  <a:pt x="4055484" y="54224"/>
                  <a:pt x="3840480" y="13716"/>
                </a:cubicBezTo>
                <a:cubicBezTo>
                  <a:pt x="3665362" y="14404"/>
                  <a:pt x="3548412" y="6532"/>
                  <a:pt x="3290011" y="13716"/>
                </a:cubicBezTo>
                <a:cubicBezTo>
                  <a:pt x="3037450" y="36923"/>
                  <a:pt x="2862123" y="43167"/>
                  <a:pt x="2560320" y="13716"/>
                </a:cubicBezTo>
                <a:cubicBezTo>
                  <a:pt x="2308793" y="7156"/>
                  <a:pt x="2153402" y="-25971"/>
                  <a:pt x="1965046" y="13716"/>
                </a:cubicBezTo>
                <a:cubicBezTo>
                  <a:pt x="1778601" y="25944"/>
                  <a:pt x="1672011" y="23840"/>
                  <a:pt x="1459382" y="13716"/>
                </a:cubicBezTo>
                <a:cubicBezTo>
                  <a:pt x="1212351" y="-9856"/>
                  <a:pt x="906131" y="12859"/>
                  <a:pt x="774497" y="13716"/>
                </a:cubicBezTo>
                <a:cubicBezTo>
                  <a:pt x="636671" y="-47283"/>
                  <a:pt x="331670" y="1705"/>
                  <a:pt x="0" y="13716"/>
                </a:cubicBezTo>
                <a:cubicBezTo>
                  <a:pt x="-561" y="8546"/>
                  <a:pt x="-377" y="61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3716"/>
                      <a:gd name="connsiteX1" fmla="*/ 595274 w 4480560"/>
                      <a:gd name="connsiteY1" fmla="*/ 0 h 13716"/>
                      <a:gd name="connsiteX2" fmla="*/ 1100938 w 4480560"/>
                      <a:gd name="connsiteY2" fmla="*/ 0 h 13716"/>
                      <a:gd name="connsiteX3" fmla="*/ 1651406 w 4480560"/>
                      <a:gd name="connsiteY3" fmla="*/ 0 h 13716"/>
                      <a:gd name="connsiteX4" fmla="*/ 2336292 w 4480560"/>
                      <a:gd name="connsiteY4" fmla="*/ 0 h 13716"/>
                      <a:gd name="connsiteX5" fmla="*/ 2931566 w 4480560"/>
                      <a:gd name="connsiteY5" fmla="*/ 0 h 13716"/>
                      <a:gd name="connsiteX6" fmla="*/ 3482035 w 4480560"/>
                      <a:gd name="connsiteY6" fmla="*/ 0 h 13716"/>
                      <a:gd name="connsiteX7" fmla="*/ 4480560 w 4480560"/>
                      <a:gd name="connsiteY7" fmla="*/ 0 h 13716"/>
                      <a:gd name="connsiteX8" fmla="*/ 4480560 w 4480560"/>
                      <a:gd name="connsiteY8" fmla="*/ 13716 h 13716"/>
                      <a:gd name="connsiteX9" fmla="*/ 3840480 w 4480560"/>
                      <a:gd name="connsiteY9" fmla="*/ 13716 h 13716"/>
                      <a:gd name="connsiteX10" fmla="*/ 3290011 w 4480560"/>
                      <a:gd name="connsiteY10" fmla="*/ 13716 h 13716"/>
                      <a:gd name="connsiteX11" fmla="*/ 2560320 w 4480560"/>
                      <a:gd name="connsiteY11" fmla="*/ 13716 h 13716"/>
                      <a:gd name="connsiteX12" fmla="*/ 1965046 w 4480560"/>
                      <a:gd name="connsiteY12" fmla="*/ 13716 h 13716"/>
                      <a:gd name="connsiteX13" fmla="*/ 1459382 w 4480560"/>
                      <a:gd name="connsiteY13" fmla="*/ 13716 h 13716"/>
                      <a:gd name="connsiteX14" fmla="*/ 774497 w 4480560"/>
                      <a:gd name="connsiteY14" fmla="*/ 13716 h 13716"/>
                      <a:gd name="connsiteX15" fmla="*/ 0 w 4480560"/>
                      <a:gd name="connsiteY15" fmla="*/ 13716 h 13716"/>
                      <a:gd name="connsiteX16" fmla="*/ 0 w 4480560"/>
                      <a:gd name="connsiteY16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3716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0273" y="3379"/>
                          <a:pt x="4480768" y="9289"/>
                          <a:pt x="4480560" y="13716"/>
                        </a:cubicBezTo>
                        <a:cubicBezTo>
                          <a:pt x="4314132" y="10352"/>
                          <a:pt x="4028383" y="32060"/>
                          <a:pt x="3840480" y="13716"/>
                        </a:cubicBezTo>
                        <a:cubicBezTo>
                          <a:pt x="3652577" y="-4628"/>
                          <a:pt x="3547615" y="-1724"/>
                          <a:pt x="3290011" y="13716"/>
                        </a:cubicBezTo>
                        <a:cubicBezTo>
                          <a:pt x="3032407" y="29156"/>
                          <a:pt x="2830268" y="4147"/>
                          <a:pt x="2560320" y="13716"/>
                        </a:cubicBezTo>
                        <a:cubicBezTo>
                          <a:pt x="2290372" y="23285"/>
                          <a:pt x="2147422" y="2156"/>
                          <a:pt x="1965046" y="13716"/>
                        </a:cubicBezTo>
                        <a:cubicBezTo>
                          <a:pt x="1782670" y="25276"/>
                          <a:pt x="1689791" y="36108"/>
                          <a:pt x="1459382" y="13716"/>
                        </a:cubicBezTo>
                        <a:cubicBezTo>
                          <a:pt x="1228973" y="-8676"/>
                          <a:pt x="915486" y="31929"/>
                          <a:pt x="774497" y="13716"/>
                        </a:cubicBezTo>
                        <a:cubicBezTo>
                          <a:pt x="633508" y="-4497"/>
                          <a:pt x="361442" y="-15679"/>
                          <a:pt x="0" y="13716"/>
                        </a:cubicBezTo>
                        <a:cubicBezTo>
                          <a:pt x="-362" y="8190"/>
                          <a:pt x="-434" y="6098"/>
                          <a:pt x="0" y="0"/>
                        </a:cubicBezTo>
                        <a:close/>
                      </a:path>
                      <a:path w="4480560" h="13716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360" y="3832"/>
                          <a:pt x="4481152" y="9314"/>
                          <a:pt x="4480560" y="13716"/>
                        </a:cubicBezTo>
                        <a:cubicBezTo>
                          <a:pt x="4279652" y="-11422"/>
                          <a:pt x="4200762" y="36994"/>
                          <a:pt x="3930091" y="13716"/>
                        </a:cubicBezTo>
                        <a:cubicBezTo>
                          <a:pt x="3659420" y="-9562"/>
                          <a:pt x="3456052" y="17722"/>
                          <a:pt x="3290011" y="13716"/>
                        </a:cubicBezTo>
                        <a:cubicBezTo>
                          <a:pt x="3123970" y="9710"/>
                          <a:pt x="2882392" y="28246"/>
                          <a:pt x="2649931" y="13716"/>
                        </a:cubicBezTo>
                        <a:cubicBezTo>
                          <a:pt x="2417470" y="-814"/>
                          <a:pt x="2238426" y="2765"/>
                          <a:pt x="2054657" y="13716"/>
                        </a:cubicBezTo>
                        <a:cubicBezTo>
                          <a:pt x="1870888" y="24667"/>
                          <a:pt x="1566368" y="40468"/>
                          <a:pt x="1324966" y="13716"/>
                        </a:cubicBezTo>
                        <a:cubicBezTo>
                          <a:pt x="1083564" y="-13036"/>
                          <a:pt x="787410" y="6374"/>
                          <a:pt x="595274" y="13716"/>
                        </a:cubicBezTo>
                        <a:cubicBezTo>
                          <a:pt x="403138" y="21058"/>
                          <a:pt x="169622" y="5927"/>
                          <a:pt x="0" y="13716"/>
                        </a:cubicBezTo>
                        <a:cubicBezTo>
                          <a:pt x="-475" y="8699"/>
                          <a:pt x="-565" y="44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/>
              <a:t>“We propose that each person presenting to a physician has three relevant histories: the history of the complaint itself; the developmental history of that individual; and his or her evolutionary history.” </a:t>
            </a:r>
          </a:p>
          <a:p>
            <a:pPr lvl="1"/>
            <a:r>
              <a:rPr lang="en-US" sz="1900"/>
              <a:t>Gluckman et al., 2009, p. xv.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Non-Evolutionary Views of Human Health and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/>
          <a:lstStyle/>
          <a:p>
            <a:r>
              <a:rPr lang="en-US" u="sng" dirty="0"/>
              <a:t>Much of “western” medical science today</a:t>
            </a:r>
          </a:p>
          <a:p>
            <a:pPr lvl="1"/>
            <a:r>
              <a:rPr lang="en-US" dirty="0"/>
              <a:t>Focused on proximate mechanisms</a:t>
            </a:r>
          </a:p>
          <a:p>
            <a:pPr lvl="1"/>
            <a:r>
              <a:rPr lang="en-US" dirty="0"/>
              <a:t>Normal/healthy vs. dysfunctional/pathological</a:t>
            </a:r>
          </a:p>
          <a:p>
            <a:pPr lvl="1"/>
            <a:r>
              <a:rPr lang="en-US" dirty="0"/>
              <a:t>Less concerned with human variation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E3FA-AC5A-0D42-A97E-08D935E2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5417F-7D58-6549-99CE-EA44E392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Complementary, alternative, and integrative medicine</a:t>
            </a:r>
          </a:p>
          <a:p>
            <a:pPr lvl="1"/>
            <a:r>
              <a:rPr lang="en-US" dirty="0"/>
              <a:t>Yoga, meditation, mindfulness</a:t>
            </a:r>
          </a:p>
          <a:p>
            <a:pPr lvl="1"/>
            <a:r>
              <a:rPr lang="en-US" dirty="0"/>
              <a:t>Acupuncture</a:t>
            </a:r>
          </a:p>
          <a:p>
            <a:pPr lvl="1"/>
            <a:r>
              <a:rPr lang="en-US" dirty="0"/>
              <a:t>Homeopathy</a:t>
            </a:r>
          </a:p>
          <a:p>
            <a:pPr lvl="1"/>
            <a:r>
              <a:rPr lang="en-US" dirty="0"/>
              <a:t>Vitamins and supplements</a:t>
            </a:r>
          </a:p>
        </p:txBody>
      </p:sp>
    </p:spTree>
    <p:extLst>
      <p:ext uri="{BB962C8B-B14F-4D97-AF65-F5344CB8AC3E}">
        <p14:creationId xmlns:p14="http://schemas.microsoft.com/office/powerpoint/2010/main" val="71536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/>
              <a:t>Chinese Traditional Medicine (CTM)</a:t>
            </a:r>
          </a:p>
        </p:txBody>
      </p:sp>
      <p:sp>
        <p:nvSpPr>
          <p:cNvPr id="73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t="13005" r="1" b="1"/>
          <a:stretch/>
        </p:blipFill>
        <p:spPr bwMode="auto">
          <a:xfrm>
            <a:off x="429369" y="2002056"/>
            <a:ext cx="2957886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9466" y="2071316"/>
            <a:ext cx="5035164" cy="4114800"/>
          </a:xfrm>
        </p:spPr>
        <p:txBody>
          <a:bodyPr anchor="t"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1900" u="sng"/>
              <a:t>Examples</a:t>
            </a:r>
            <a:r>
              <a:rPr lang="en-US" sz="1900"/>
              <a:t>: 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/>
              <a:t>Ginseng a special herb (effects </a:t>
            </a:r>
          </a:p>
          <a:p>
            <a:pPr marL="342900" lvl="1" indent="-342900">
              <a:buNone/>
            </a:pPr>
            <a:r>
              <a:rPr lang="en-US" sz="1900"/>
              <a:t>	perhaps through saponins, placebo,</a:t>
            </a:r>
          </a:p>
          <a:p>
            <a:pPr marL="342900" lvl="1" indent="-342900">
              <a:buNone/>
            </a:pPr>
            <a:r>
              <a:rPr lang="en-US" sz="1900"/>
              <a:t>	 etc.)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/>
              <a:t>Artemisinin, derived from </a:t>
            </a:r>
          </a:p>
          <a:p>
            <a:pPr marL="342900" lvl="1" indent="-342900">
              <a:buNone/>
            </a:pPr>
            <a:r>
              <a:rPr lang="en-US" sz="1900"/>
              <a:t>	wormwood, has been used widely </a:t>
            </a:r>
          </a:p>
          <a:p>
            <a:pPr marL="342900" lvl="1" indent="-342900">
              <a:buNone/>
            </a:pPr>
            <a:r>
              <a:rPr lang="en-US" sz="1900"/>
              <a:t>	against malaria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/>
              <a:t>Tai chi 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1900"/>
              <a:t>Acupuncture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1900"/>
          </a:p>
          <a:p>
            <a:endParaRPr lang="en-US" sz="1900"/>
          </a:p>
        </p:txBody>
      </p:sp>
      <p:sp>
        <p:nvSpPr>
          <p:cNvPr id="4" name="TextBox 3"/>
          <p:cNvSpPr txBox="1"/>
          <p:nvPr/>
        </p:nvSpPr>
        <p:spPr>
          <a:xfrm>
            <a:off x="609600" y="6172200"/>
            <a:ext cx="8128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Yuqun</a:t>
            </a:r>
            <a:r>
              <a:rPr lang="en-US" dirty="0"/>
              <a:t> L. 2011. </a:t>
            </a:r>
            <a:r>
              <a:rPr lang="en-US" i="1" dirty="0"/>
              <a:t>Traditional Chinese Medicine</a:t>
            </a:r>
            <a:r>
              <a:rPr lang="en-US" dirty="0"/>
              <a:t>. Cambridge: Cambridge University Press.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Social Etiology of Health and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Haitian zombies, Salem witch trials, etc.</a:t>
            </a:r>
          </a:p>
        </p:txBody>
      </p:sp>
      <p:pic>
        <p:nvPicPr>
          <p:cNvPr id="31746" name="Picture 2" descr="http://upload.wikimedia.org/wikipedia/commons/thumb/7/7e/Witchcraft_at_Salem_Village.jpg/400px-Witchcraft_at_Salem_Villag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2819400"/>
            <a:ext cx="3810000" cy="2647951"/>
          </a:xfrm>
          <a:prstGeom prst="rect">
            <a:avLst/>
          </a:prstGeom>
          <a:noFill/>
        </p:spPr>
      </p:pic>
      <p:pic>
        <p:nvPicPr>
          <p:cNvPr id="31748" name="Picture 4" descr="http://1.bp.blogspot.com/_a_OtuBHakFg/THkmudc0lTI/AAAAAAAAAHM/ECJ3kFH2MR4/s1600/serpentdavi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2514600"/>
            <a:ext cx="2133600" cy="3333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722" y="329184"/>
            <a:ext cx="5170932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An Evolutionary Approach to Human Health and Disease</a:t>
            </a:r>
          </a:p>
        </p:txBody>
      </p:sp>
      <p:pic>
        <p:nvPicPr>
          <p:cNvPr id="5" name="Picture 4" descr="A row of samples for medical testing">
            <a:extLst>
              <a:ext uri="{FF2B5EF4-FFF2-40B4-BE49-F238E27FC236}">
                <a16:creationId xmlns:a16="http://schemas.microsoft.com/office/drawing/2014/main" id="{3F55C5D2-332B-436C-8A92-6DC66EF6D6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880" r="9881"/>
          <a:stretch/>
        </p:blipFill>
        <p:spPr>
          <a:xfrm>
            <a:off x="20" y="1"/>
            <a:ext cx="3039386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2395728"/>
            <a:ext cx="3182691" cy="18288"/>
          </a:xfrm>
          <a:custGeom>
            <a:avLst/>
            <a:gdLst>
              <a:gd name="connsiteX0" fmla="*/ 0 w 3182691"/>
              <a:gd name="connsiteY0" fmla="*/ 0 h 18288"/>
              <a:gd name="connsiteX1" fmla="*/ 636538 w 3182691"/>
              <a:gd name="connsiteY1" fmla="*/ 0 h 18288"/>
              <a:gd name="connsiteX2" fmla="*/ 1273076 w 3182691"/>
              <a:gd name="connsiteY2" fmla="*/ 0 h 18288"/>
              <a:gd name="connsiteX3" fmla="*/ 1909615 w 3182691"/>
              <a:gd name="connsiteY3" fmla="*/ 0 h 18288"/>
              <a:gd name="connsiteX4" fmla="*/ 2482499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609807 w 3182691"/>
              <a:gd name="connsiteY7" fmla="*/ 18288 h 18288"/>
              <a:gd name="connsiteX8" fmla="*/ 2068749 w 3182691"/>
              <a:gd name="connsiteY8" fmla="*/ 18288 h 18288"/>
              <a:gd name="connsiteX9" fmla="*/ 1432211 w 3182691"/>
              <a:gd name="connsiteY9" fmla="*/ 18288 h 18288"/>
              <a:gd name="connsiteX10" fmla="*/ 859327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  <a:gd name="connsiteX0" fmla="*/ 0 w 3182691"/>
              <a:gd name="connsiteY0" fmla="*/ 0 h 18288"/>
              <a:gd name="connsiteX1" fmla="*/ 572884 w 3182691"/>
              <a:gd name="connsiteY1" fmla="*/ 0 h 18288"/>
              <a:gd name="connsiteX2" fmla="*/ 1113942 w 3182691"/>
              <a:gd name="connsiteY2" fmla="*/ 0 h 18288"/>
              <a:gd name="connsiteX3" fmla="*/ 1686826 w 3182691"/>
              <a:gd name="connsiteY3" fmla="*/ 0 h 18288"/>
              <a:gd name="connsiteX4" fmla="*/ 2323364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546153 w 3182691"/>
              <a:gd name="connsiteY7" fmla="*/ 18288 h 18288"/>
              <a:gd name="connsiteX8" fmla="*/ 1845961 w 3182691"/>
              <a:gd name="connsiteY8" fmla="*/ 18288 h 18288"/>
              <a:gd name="connsiteX9" fmla="*/ 1304903 w 3182691"/>
              <a:gd name="connsiteY9" fmla="*/ 18288 h 18288"/>
              <a:gd name="connsiteX10" fmla="*/ 604711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25870" y="33585"/>
                  <a:pt x="418138" y="17639"/>
                  <a:pt x="636538" y="0"/>
                </a:cubicBezTo>
                <a:cubicBezTo>
                  <a:pt x="866402" y="-9774"/>
                  <a:pt x="1016900" y="-17532"/>
                  <a:pt x="1273076" y="0"/>
                </a:cubicBezTo>
                <a:cubicBezTo>
                  <a:pt x="1519343" y="-34410"/>
                  <a:pt x="1705438" y="-53754"/>
                  <a:pt x="1909615" y="0"/>
                </a:cubicBezTo>
                <a:cubicBezTo>
                  <a:pt x="2120433" y="2855"/>
                  <a:pt x="2209200" y="-17463"/>
                  <a:pt x="2482499" y="0"/>
                </a:cubicBezTo>
                <a:cubicBezTo>
                  <a:pt x="2733571" y="54170"/>
                  <a:pt x="2997997" y="-48885"/>
                  <a:pt x="3182691" y="0"/>
                </a:cubicBezTo>
                <a:cubicBezTo>
                  <a:pt x="3182657" y="4844"/>
                  <a:pt x="3182281" y="11009"/>
                  <a:pt x="3182691" y="18288"/>
                </a:cubicBezTo>
                <a:cubicBezTo>
                  <a:pt x="2941063" y="3169"/>
                  <a:pt x="2872422" y="16194"/>
                  <a:pt x="2609807" y="18288"/>
                </a:cubicBezTo>
                <a:cubicBezTo>
                  <a:pt x="2341801" y="10032"/>
                  <a:pt x="2328606" y="28832"/>
                  <a:pt x="2068749" y="18288"/>
                </a:cubicBezTo>
                <a:cubicBezTo>
                  <a:pt x="1813820" y="1121"/>
                  <a:pt x="1714804" y="37605"/>
                  <a:pt x="1432211" y="18288"/>
                </a:cubicBezTo>
                <a:cubicBezTo>
                  <a:pt x="1164810" y="-27006"/>
                  <a:pt x="993140" y="27575"/>
                  <a:pt x="859327" y="18288"/>
                </a:cubicBezTo>
                <a:cubicBezTo>
                  <a:pt x="750703" y="-24974"/>
                  <a:pt x="236193" y="38731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3084" y="-23531"/>
                  <a:pt x="399010" y="-30989"/>
                  <a:pt x="572884" y="0"/>
                </a:cubicBezTo>
                <a:cubicBezTo>
                  <a:pt x="745196" y="46048"/>
                  <a:pt x="956262" y="22379"/>
                  <a:pt x="1113942" y="0"/>
                </a:cubicBezTo>
                <a:cubicBezTo>
                  <a:pt x="1345494" y="6575"/>
                  <a:pt x="1537971" y="57434"/>
                  <a:pt x="1686826" y="0"/>
                </a:cubicBezTo>
                <a:cubicBezTo>
                  <a:pt x="1847487" y="-5870"/>
                  <a:pt x="2194651" y="-1232"/>
                  <a:pt x="2323364" y="0"/>
                </a:cubicBezTo>
                <a:cubicBezTo>
                  <a:pt x="2488731" y="36406"/>
                  <a:pt x="2902092" y="-40336"/>
                  <a:pt x="3182691" y="0"/>
                </a:cubicBezTo>
                <a:cubicBezTo>
                  <a:pt x="3182166" y="5049"/>
                  <a:pt x="3182884" y="12044"/>
                  <a:pt x="3182691" y="18288"/>
                </a:cubicBezTo>
                <a:cubicBezTo>
                  <a:pt x="3012562" y="-37820"/>
                  <a:pt x="2765408" y="35618"/>
                  <a:pt x="2546153" y="18288"/>
                </a:cubicBezTo>
                <a:cubicBezTo>
                  <a:pt x="2331952" y="13878"/>
                  <a:pt x="2142129" y="19805"/>
                  <a:pt x="1845961" y="18288"/>
                </a:cubicBezTo>
                <a:cubicBezTo>
                  <a:pt x="1537526" y="31994"/>
                  <a:pt x="1468653" y="-6175"/>
                  <a:pt x="1304903" y="18288"/>
                </a:cubicBezTo>
                <a:cubicBezTo>
                  <a:pt x="1191987" y="26138"/>
                  <a:pt x="927061" y="14626"/>
                  <a:pt x="604711" y="18288"/>
                </a:cubicBezTo>
                <a:cubicBezTo>
                  <a:pt x="273947" y="45577"/>
                  <a:pt x="111622" y="-2455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182691" h="18288" fill="none" stroke="0" extrusionOk="0">
                <a:moveTo>
                  <a:pt x="0" y="0"/>
                </a:moveTo>
                <a:cubicBezTo>
                  <a:pt x="245832" y="29445"/>
                  <a:pt x="388924" y="-28919"/>
                  <a:pt x="636538" y="0"/>
                </a:cubicBezTo>
                <a:cubicBezTo>
                  <a:pt x="838014" y="3247"/>
                  <a:pt x="1005059" y="8075"/>
                  <a:pt x="1273076" y="0"/>
                </a:cubicBezTo>
                <a:cubicBezTo>
                  <a:pt x="1555121" y="-15110"/>
                  <a:pt x="1674116" y="-4878"/>
                  <a:pt x="1909615" y="0"/>
                </a:cubicBezTo>
                <a:cubicBezTo>
                  <a:pt x="2127874" y="21642"/>
                  <a:pt x="2229467" y="-10228"/>
                  <a:pt x="2482499" y="0"/>
                </a:cubicBezTo>
                <a:cubicBezTo>
                  <a:pt x="2772379" y="28915"/>
                  <a:pt x="3003217" y="-43687"/>
                  <a:pt x="3182691" y="0"/>
                </a:cubicBezTo>
                <a:cubicBezTo>
                  <a:pt x="3183005" y="4158"/>
                  <a:pt x="3181712" y="12539"/>
                  <a:pt x="3182691" y="18288"/>
                </a:cubicBezTo>
                <a:cubicBezTo>
                  <a:pt x="2948637" y="17089"/>
                  <a:pt x="2873728" y="22327"/>
                  <a:pt x="2609807" y="18288"/>
                </a:cubicBezTo>
                <a:cubicBezTo>
                  <a:pt x="2342839" y="11870"/>
                  <a:pt x="2331621" y="30535"/>
                  <a:pt x="2068749" y="18288"/>
                </a:cubicBezTo>
                <a:cubicBezTo>
                  <a:pt x="1813814" y="-7352"/>
                  <a:pt x="1700576" y="36739"/>
                  <a:pt x="1432211" y="18288"/>
                </a:cubicBezTo>
                <a:cubicBezTo>
                  <a:pt x="1148444" y="-27053"/>
                  <a:pt x="987622" y="2403"/>
                  <a:pt x="859327" y="18288"/>
                </a:cubicBezTo>
                <a:cubicBezTo>
                  <a:pt x="743387" y="37422"/>
                  <a:pt x="194182" y="1878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182691"/>
                      <a:gd name="connsiteY0" fmla="*/ 0 h 18288"/>
                      <a:gd name="connsiteX1" fmla="*/ 636538 w 3182691"/>
                      <a:gd name="connsiteY1" fmla="*/ 0 h 18288"/>
                      <a:gd name="connsiteX2" fmla="*/ 1273076 w 3182691"/>
                      <a:gd name="connsiteY2" fmla="*/ 0 h 18288"/>
                      <a:gd name="connsiteX3" fmla="*/ 1909615 w 3182691"/>
                      <a:gd name="connsiteY3" fmla="*/ 0 h 18288"/>
                      <a:gd name="connsiteX4" fmla="*/ 2482499 w 3182691"/>
                      <a:gd name="connsiteY4" fmla="*/ 0 h 18288"/>
                      <a:gd name="connsiteX5" fmla="*/ 3182691 w 3182691"/>
                      <a:gd name="connsiteY5" fmla="*/ 0 h 18288"/>
                      <a:gd name="connsiteX6" fmla="*/ 3182691 w 3182691"/>
                      <a:gd name="connsiteY6" fmla="*/ 18288 h 18288"/>
                      <a:gd name="connsiteX7" fmla="*/ 2609807 w 3182691"/>
                      <a:gd name="connsiteY7" fmla="*/ 18288 h 18288"/>
                      <a:gd name="connsiteX8" fmla="*/ 2068749 w 3182691"/>
                      <a:gd name="connsiteY8" fmla="*/ 18288 h 18288"/>
                      <a:gd name="connsiteX9" fmla="*/ 1432211 w 3182691"/>
                      <a:gd name="connsiteY9" fmla="*/ 18288 h 18288"/>
                      <a:gd name="connsiteX10" fmla="*/ 859327 w 3182691"/>
                      <a:gd name="connsiteY10" fmla="*/ 18288 h 18288"/>
                      <a:gd name="connsiteX11" fmla="*/ 0 w 3182691"/>
                      <a:gd name="connsiteY11" fmla="*/ 18288 h 18288"/>
                      <a:gd name="connsiteX12" fmla="*/ 0 w 3182691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182691" h="18288" fill="none" extrusionOk="0">
                        <a:moveTo>
                          <a:pt x="0" y="0"/>
                        </a:moveTo>
                        <a:cubicBezTo>
                          <a:pt x="253588" y="25878"/>
                          <a:pt x="409323" y="-5359"/>
                          <a:pt x="636538" y="0"/>
                        </a:cubicBezTo>
                        <a:cubicBezTo>
                          <a:pt x="863753" y="5359"/>
                          <a:pt x="1013406" y="3458"/>
                          <a:pt x="1273076" y="0"/>
                        </a:cubicBezTo>
                        <a:cubicBezTo>
                          <a:pt x="1532746" y="-3458"/>
                          <a:pt x="1697408" y="-16840"/>
                          <a:pt x="1909615" y="0"/>
                        </a:cubicBezTo>
                        <a:cubicBezTo>
                          <a:pt x="2121822" y="16840"/>
                          <a:pt x="2213494" y="-18555"/>
                          <a:pt x="2482499" y="0"/>
                        </a:cubicBezTo>
                        <a:cubicBezTo>
                          <a:pt x="2751504" y="18555"/>
                          <a:pt x="3004132" y="-28750"/>
                          <a:pt x="3182691" y="0"/>
                        </a:cubicBezTo>
                        <a:cubicBezTo>
                          <a:pt x="3183133" y="4516"/>
                          <a:pt x="3181864" y="12266"/>
                          <a:pt x="3182691" y="18288"/>
                        </a:cubicBezTo>
                        <a:cubicBezTo>
                          <a:pt x="2947041" y="16687"/>
                          <a:pt x="2875741" y="22937"/>
                          <a:pt x="2609807" y="18288"/>
                        </a:cubicBezTo>
                        <a:cubicBezTo>
                          <a:pt x="2343873" y="13639"/>
                          <a:pt x="2331203" y="31729"/>
                          <a:pt x="2068749" y="18288"/>
                        </a:cubicBezTo>
                        <a:cubicBezTo>
                          <a:pt x="1806295" y="4847"/>
                          <a:pt x="1713773" y="47088"/>
                          <a:pt x="1432211" y="18288"/>
                        </a:cubicBezTo>
                        <a:cubicBezTo>
                          <a:pt x="1150649" y="-10512"/>
                          <a:pt x="982765" y="3747"/>
                          <a:pt x="859327" y="18288"/>
                        </a:cubicBezTo>
                        <a:cubicBezTo>
                          <a:pt x="735889" y="32829"/>
                          <a:pt x="254183" y="35231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182691" h="18288" stroke="0" extrusionOk="0">
                        <a:moveTo>
                          <a:pt x="0" y="0"/>
                        </a:moveTo>
                        <a:cubicBezTo>
                          <a:pt x="247695" y="-19360"/>
                          <a:pt x="392581" y="-28596"/>
                          <a:pt x="572884" y="0"/>
                        </a:cubicBezTo>
                        <a:cubicBezTo>
                          <a:pt x="753187" y="28596"/>
                          <a:pt x="922042" y="4121"/>
                          <a:pt x="1113942" y="0"/>
                        </a:cubicBezTo>
                        <a:cubicBezTo>
                          <a:pt x="1305842" y="-4121"/>
                          <a:pt x="1501806" y="28092"/>
                          <a:pt x="1686826" y="0"/>
                        </a:cubicBezTo>
                        <a:cubicBezTo>
                          <a:pt x="1871846" y="-28092"/>
                          <a:pt x="2170181" y="-20672"/>
                          <a:pt x="2323364" y="0"/>
                        </a:cubicBezTo>
                        <a:cubicBezTo>
                          <a:pt x="2476547" y="20672"/>
                          <a:pt x="2919163" y="6097"/>
                          <a:pt x="3182691" y="0"/>
                        </a:cubicBezTo>
                        <a:cubicBezTo>
                          <a:pt x="3183268" y="4624"/>
                          <a:pt x="3183510" y="11191"/>
                          <a:pt x="3182691" y="18288"/>
                        </a:cubicBezTo>
                        <a:cubicBezTo>
                          <a:pt x="3026064" y="-10849"/>
                          <a:pt x="2775005" y="23067"/>
                          <a:pt x="2546153" y="18288"/>
                        </a:cubicBezTo>
                        <a:cubicBezTo>
                          <a:pt x="2317301" y="13509"/>
                          <a:pt x="2164351" y="-9884"/>
                          <a:pt x="1845961" y="18288"/>
                        </a:cubicBezTo>
                        <a:cubicBezTo>
                          <a:pt x="1527571" y="46460"/>
                          <a:pt x="1455006" y="5824"/>
                          <a:pt x="1304903" y="18288"/>
                        </a:cubicBezTo>
                        <a:cubicBezTo>
                          <a:pt x="1154800" y="30752"/>
                          <a:pt x="942107" y="-12056"/>
                          <a:pt x="604711" y="18288"/>
                        </a:cubicBezTo>
                        <a:cubicBezTo>
                          <a:pt x="267315" y="48632"/>
                          <a:pt x="141927" y="-8395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2" y="2706624"/>
            <a:ext cx="5170932" cy="3483864"/>
          </a:xfrm>
        </p:spPr>
        <p:txBody>
          <a:bodyPr>
            <a:normAutofit/>
          </a:bodyPr>
          <a:lstStyle/>
          <a:p>
            <a:r>
              <a:rPr lang="en-US" sz="1900"/>
              <a:t>An understanding of </a:t>
            </a:r>
            <a:r>
              <a:rPr lang="en-US" sz="1900" u="sng"/>
              <a:t>how the body has been ‘designed’ by evolutionary processes</a:t>
            </a:r>
            <a:r>
              <a:rPr lang="en-US" sz="1900"/>
              <a:t>, including natural selection, may also help understand health and illness</a:t>
            </a:r>
          </a:p>
          <a:p>
            <a:r>
              <a:rPr lang="en-US" sz="1900"/>
              <a:t>As an example, </a:t>
            </a:r>
            <a:r>
              <a:rPr lang="en-US" sz="1900" u="sng"/>
              <a:t>selection favors traits that enhance reproductive success rather than health or longevity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Evolutionary Approach to Human Health and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Explicit interest in </a:t>
            </a:r>
            <a:r>
              <a:rPr lang="en-US" u="sng" dirty="0"/>
              <a:t>individual and population variation </a:t>
            </a:r>
            <a:r>
              <a:rPr lang="en-US" dirty="0"/>
              <a:t>rather than ideal types (e.g., “the rat” or “the human”)</a:t>
            </a:r>
          </a:p>
          <a:p>
            <a:r>
              <a:rPr lang="en-US" dirty="0"/>
              <a:t>Often features a </a:t>
            </a:r>
            <a:r>
              <a:rPr lang="en-US" u="sng" dirty="0"/>
              <a:t>life course perspective</a:t>
            </a:r>
            <a:r>
              <a:rPr lang="en-US" dirty="0"/>
              <a:t>, highlighting the role of </a:t>
            </a:r>
            <a:r>
              <a:rPr lang="en-US" u="sng" dirty="0"/>
              <a:t>development</a:t>
            </a:r>
            <a:r>
              <a:rPr lang="en-US" dirty="0"/>
              <a:t> and </a:t>
            </a:r>
            <a:r>
              <a:rPr lang="en-US" u="sng" dirty="0"/>
              <a:t>life history tradeoffs</a:t>
            </a:r>
            <a:r>
              <a:rPr lang="en-US" dirty="0"/>
              <a:t> among competing agendas of growth, maintenance and reproduction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6"/>
            <a:ext cx="2699766" cy="1463040"/>
          </a:xfrm>
        </p:spPr>
        <p:txBody>
          <a:bodyPr anchor="ctr"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Variable Time Scales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355598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  <a:gd name="connsiteX0" fmla="*/ 0 w 1554480"/>
              <a:gd name="connsiteY0" fmla="*/ 0 h 13716"/>
              <a:gd name="connsiteX1" fmla="*/ 502615 w 1554480"/>
              <a:gd name="connsiteY1" fmla="*/ 0 h 13716"/>
              <a:gd name="connsiteX2" fmla="*/ 974141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1816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69558" y="-27075"/>
                  <a:pt x="365297" y="14897"/>
                  <a:pt x="549250" y="0"/>
                </a:cubicBezTo>
                <a:cubicBezTo>
                  <a:pt x="762323" y="14872"/>
                  <a:pt x="864871" y="21041"/>
                  <a:pt x="1082954" y="0"/>
                </a:cubicBezTo>
                <a:cubicBezTo>
                  <a:pt x="1306037" y="9403"/>
                  <a:pt x="1371926" y="14821"/>
                  <a:pt x="1554480" y="0"/>
                </a:cubicBezTo>
                <a:cubicBezTo>
                  <a:pt x="1554010" y="4793"/>
                  <a:pt x="1554680" y="10394"/>
                  <a:pt x="1554480" y="13716"/>
                </a:cubicBezTo>
                <a:cubicBezTo>
                  <a:pt x="1328957" y="3179"/>
                  <a:pt x="1207025" y="27731"/>
                  <a:pt x="1067410" y="13716"/>
                </a:cubicBezTo>
                <a:cubicBezTo>
                  <a:pt x="897316" y="-7440"/>
                  <a:pt x="788951" y="-24962"/>
                  <a:pt x="549250" y="13716"/>
                </a:cubicBezTo>
                <a:cubicBezTo>
                  <a:pt x="300394" y="-2982"/>
                  <a:pt x="129576" y="35301"/>
                  <a:pt x="0" y="13716"/>
                </a:cubicBezTo>
                <a:cubicBezTo>
                  <a:pt x="354" y="8869"/>
                  <a:pt x="649" y="6738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513" y="10124"/>
                  <a:pt x="389298" y="10419"/>
                  <a:pt x="502615" y="0"/>
                </a:cubicBezTo>
                <a:cubicBezTo>
                  <a:pt x="616735" y="10147"/>
                  <a:pt x="791037" y="-19212"/>
                  <a:pt x="974141" y="0"/>
                </a:cubicBezTo>
                <a:cubicBezTo>
                  <a:pt x="1141919" y="34853"/>
                  <a:pt x="1248514" y="16971"/>
                  <a:pt x="1554480" y="0"/>
                </a:cubicBezTo>
                <a:cubicBezTo>
                  <a:pt x="1554288" y="3835"/>
                  <a:pt x="1554171" y="7531"/>
                  <a:pt x="1554480" y="13716"/>
                </a:cubicBezTo>
                <a:cubicBezTo>
                  <a:pt x="1337806" y="9080"/>
                  <a:pt x="1308467" y="19887"/>
                  <a:pt x="1067410" y="13716"/>
                </a:cubicBezTo>
                <a:cubicBezTo>
                  <a:pt x="824349" y="13143"/>
                  <a:pt x="783437" y="24151"/>
                  <a:pt x="518160" y="13716"/>
                </a:cubicBezTo>
                <a:cubicBezTo>
                  <a:pt x="271530" y="4598"/>
                  <a:pt x="132568" y="-7659"/>
                  <a:pt x="0" y="13716"/>
                </a:cubicBezTo>
                <a:cubicBezTo>
                  <a:pt x="768" y="9617"/>
                  <a:pt x="-274" y="4847"/>
                  <a:pt x="0" y="0"/>
                </a:cubicBezTo>
                <a:close/>
              </a:path>
              <a:path w="1554480" h="13716" fill="none" stroke="0" extrusionOk="0">
                <a:moveTo>
                  <a:pt x="0" y="0"/>
                </a:moveTo>
                <a:cubicBezTo>
                  <a:pt x="95687" y="-31247"/>
                  <a:pt x="331569" y="3404"/>
                  <a:pt x="549250" y="0"/>
                </a:cubicBezTo>
                <a:cubicBezTo>
                  <a:pt x="776590" y="6530"/>
                  <a:pt x="844530" y="-5109"/>
                  <a:pt x="1082954" y="0"/>
                </a:cubicBezTo>
                <a:cubicBezTo>
                  <a:pt x="1293569" y="15486"/>
                  <a:pt x="1361850" y="13824"/>
                  <a:pt x="1554480" y="0"/>
                </a:cubicBezTo>
                <a:cubicBezTo>
                  <a:pt x="1553504" y="4786"/>
                  <a:pt x="1554832" y="10912"/>
                  <a:pt x="1554480" y="13716"/>
                </a:cubicBezTo>
                <a:cubicBezTo>
                  <a:pt x="1366718" y="4861"/>
                  <a:pt x="1218290" y="26644"/>
                  <a:pt x="1067410" y="13716"/>
                </a:cubicBezTo>
                <a:cubicBezTo>
                  <a:pt x="900327" y="-8822"/>
                  <a:pt x="792178" y="6310"/>
                  <a:pt x="549250" y="13716"/>
                </a:cubicBezTo>
                <a:cubicBezTo>
                  <a:pt x="295300" y="2843"/>
                  <a:pt x="142619" y="40779"/>
                  <a:pt x="0" y="13716"/>
                </a:cubicBezTo>
                <a:cubicBezTo>
                  <a:pt x="813" y="8812"/>
                  <a:pt x="948" y="672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4480"/>
                      <a:gd name="connsiteY0" fmla="*/ 0 h 13716"/>
                      <a:gd name="connsiteX1" fmla="*/ 549250 w 1554480"/>
                      <a:gd name="connsiteY1" fmla="*/ 0 h 13716"/>
                      <a:gd name="connsiteX2" fmla="*/ 1082954 w 1554480"/>
                      <a:gd name="connsiteY2" fmla="*/ 0 h 13716"/>
                      <a:gd name="connsiteX3" fmla="*/ 1554480 w 1554480"/>
                      <a:gd name="connsiteY3" fmla="*/ 0 h 13716"/>
                      <a:gd name="connsiteX4" fmla="*/ 1554480 w 1554480"/>
                      <a:gd name="connsiteY4" fmla="*/ 13716 h 13716"/>
                      <a:gd name="connsiteX5" fmla="*/ 1067410 w 1554480"/>
                      <a:gd name="connsiteY5" fmla="*/ 13716 h 13716"/>
                      <a:gd name="connsiteX6" fmla="*/ 549250 w 1554480"/>
                      <a:gd name="connsiteY6" fmla="*/ 13716 h 13716"/>
                      <a:gd name="connsiteX7" fmla="*/ 0 w 1554480"/>
                      <a:gd name="connsiteY7" fmla="*/ 13716 h 13716"/>
                      <a:gd name="connsiteX8" fmla="*/ 0 w 1554480"/>
                      <a:gd name="connsiteY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0" h="13716" fill="none" extrusionOk="0">
                        <a:moveTo>
                          <a:pt x="0" y="0"/>
                        </a:moveTo>
                        <a:cubicBezTo>
                          <a:pt x="114141" y="-19864"/>
                          <a:pt x="345055" y="-1657"/>
                          <a:pt x="549250" y="0"/>
                        </a:cubicBezTo>
                        <a:cubicBezTo>
                          <a:pt x="753445" y="1657"/>
                          <a:pt x="862292" y="-5674"/>
                          <a:pt x="1082954" y="0"/>
                        </a:cubicBezTo>
                        <a:cubicBezTo>
                          <a:pt x="1303616" y="5674"/>
                          <a:pt x="1363530" y="4537"/>
                          <a:pt x="1554480" y="0"/>
                        </a:cubicBezTo>
                        <a:cubicBezTo>
                          <a:pt x="1553820" y="4959"/>
                          <a:pt x="1554594" y="10798"/>
                          <a:pt x="1554480" y="13716"/>
                        </a:cubicBezTo>
                        <a:cubicBezTo>
                          <a:pt x="1338847" y="1555"/>
                          <a:pt x="1215066" y="33279"/>
                          <a:pt x="1067410" y="13716"/>
                        </a:cubicBezTo>
                        <a:cubicBezTo>
                          <a:pt x="919754" y="-5847"/>
                          <a:pt x="800465" y="-1492"/>
                          <a:pt x="549250" y="13716"/>
                        </a:cubicBezTo>
                        <a:cubicBezTo>
                          <a:pt x="298035" y="28924"/>
                          <a:pt x="158868" y="18197"/>
                          <a:pt x="0" y="13716"/>
                        </a:cubicBezTo>
                        <a:cubicBezTo>
                          <a:pt x="488" y="8630"/>
                          <a:pt x="480" y="6612"/>
                          <a:pt x="0" y="0"/>
                        </a:cubicBezTo>
                        <a:close/>
                      </a:path>
                      <a:path w="1554480" h="13716" stroke="0" extrusionOk="0">
                        <a:moveTo>
                          <a:pt x="0" y="0"/>
                        </a:moveTo>
                        <a:cubicBezTo>
                          <a:pt x="249941" y="-58"/>
                          <a:pt x="367334" y="23448"/>
                          <a:pt x="502615" y="0"/>
                        </a:cubicBezTo>
                        <a:cubicBezTo>
                          <a:pt x="637897" y="-23448"/>
                          <a:pt x="813653" y="-20418"/>
                          <a:pt x="974141" y="0"/>
                        </a:cubicBezTo>
                        <a:cubicBezTo>
                          <a:pt x="1134629" y="20418"/>
                          <a:pt x="1268772" y="6288"/>
                          <a:pt x="1554480" y="0"/>
                        </a:cubicBezTo>
                        <a:cubicBezTo>
                          <a:pt x="1554232" y="4157"/>
                          <a:pt x="1554673" y="7559"/>
                          <a:pt x="1554480" y="13716"/>
                        </a:cubicBezTo>
                        <a:cubicBezTo>
                          <a:pt x="1336087" y="7600"/>
                          <a:pt x="1310024" y="15187"/>
                          <a:pt x="1067410" y="13716"/>
                        </a:cubicBezTo>
                        <a:cubicBezTo>
                          <a:pt x="824796" y="12246"/>
                          <a:pt x="787902" y="30075"/>
                          <a:pt x="518160" y="13716"/>
                        </a:cubicBezTo>
                        <a:cubicBezTo>
                          <a:pt x="248418" y="-2643"/>
                          <a:pt x="133160" y="4633"/>
                          <a:pt x="0" y="13716"/>
                        </a:cubicBezTo>
                        <a:cubicBezTo>
                          <a:pt x="43" y="9160"/>
                          <a:pt x="-111" y="48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5846" y="630936"/>
            <a:ext cx="5305807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>
                <a:solidFill>
                  <a:srgbClr val="FFFFFF"/>
                </a:solidFill>
              </a:rPr>
              <a:t>“[T]he density of innervation and thus the capacity to sweat and tolerate extreme heat is influenced by whether the infant is brought up in a warm or cold environment.” Gluckman et al., p. 13</a:t>
            </a:r>
          </a:p>
        </p:txBody>
      </p:sp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1AAB5F8B-2E86-AE44-B735-56482244F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02" y="3382776"/>
            <a:ext cx="8188452" cy="24565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sz="3600"/>
              <a:t>Mismatches</a:t>
            </a:r>
          </a:p>
        </p:txBody>
      </p:sp>
      <p:sp>
        <p:nvSpPr>
          <p:cNvPr id="7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  <a:gd name="connsiteX0" fmla="*/ 0 w 1554480"/>
              <a:gd name="connsiteY0" fmla="*/ 0 h 13716"/>
              <a:gd name="connsiteX1" fmla="*/ 502615 w 1554480"/>
              <a:gd name="connsiteY1" fmla="*/ 0 h 13716"/>
              <a:gd name="connsiteX2" fmla="*/ 974141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1816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69558" y="-27075"/>
                  <a:pt x="365297" y="14897"/>
                  <a:pt x="549250" y="0"/>
                </a:cubicBezTo>
                <a:cubicBezTo>
                  <a:pt x="762323" y="14872"/>
                  <a:pt x="864871" y="21041"/>
                  <a:pt x="1082954" y="0"/>
                </a:cubicBezTo>
                <a:cubicBezTo>
                  <a:pt x="1306037" y="9403"/>
                  <a:pt x="1371926" y="14821"/>
                  <a:pt x="1554480" y="0"/>
                </a:cubicBezTo>
                <a:cubicBezTo>
                  <a:pt x="1554010" y="4793"/>
                  <a:pt x="1554680" y="10394"/>
                  <a:pt x="1554480" y="13716"/>
                </a:cubicBezTo>
                <a:cubicBezTo>
                  <a:pt x="1328957" y="3179"/>
                  <a:pt x="1207025" y="27731"/>
                  <a:pt x="1067410" y="13716"/>
                </a:cubicBezTo>
                <a:cubicBezTo>
                  <a:pt x="897316" y="-7440"/>
                  <a:pt x="788951" y="-24962"/>
                  <a:pt x="549250" y="13716"/>
                </a:cubicBezTo>
                <a:cubicBezTo>
                  <a:pt x="300394" y="-2982"/>
                  <a:pt x="129576" y="35301"/>
                  <a:pt x="0" y="13716"/>
                </a:cubicBezTo>
                <a:cubicBezTo>
                  <a:pt x="354" y="8869"/>
                  <a:pt x="649" y="6738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513" y="10124"/>
                  <a:pt x="389298" y="10419"/>
                  <a:pt x="502615" y="0"/>
                </a:cubicBezTo>
                <a:cubicBezTo>
                  <a:pt x="616735" y="10147"/>
                  <a:pt x="791037" y="-19212"/>
                  <a:pt x="974141" y="0"/>
                </a:cubicBezTo>
                <a:cubicBezTo>
                  <a:pt x="1141919" y="34853"/>
                  <a:pt x="1248514" y="16971"/>
                  <a:pt x="1554480" y="0"/>
                </a:cubicBezTo>
                <a:cubicBezTo>
                  <a:pt x="1554288" y="3835"/>
                  <a:pt x="1554171" y="7531"/>
                  <a:pt x="1554480" y="13716"/>
                </a:cubicBezTo>
                <a:cubicBezTo>
                  <a:pt x="1337806" y="9080"/>
                  <a:pt x="1308467" y="19887"/>
                  <a:pt x="1067410" y="13716"/>
                </a:cubicBezTo>
                <a:cubicBezTo>
                  <a:pt x="824349" y="13143"/>
                  <a:pt x="783437" y="24151"/>
                  <a:pt x="518160" y="13716"/>
                </a:cubicBezTo>
                <a:cubicBezTo>
                  <a:pt x="271530" y="4598"/>
                  <a:pt x="132568" y="-7659"/>
                  <a:pt x="0" y="13716"/>
                </a:cubicBezTo>
                <a:cubicBezTo>
                  <a:pt x="768" y="9617"/>
                  <a:pt x="-274" y="4847"/>
                  <a:pt x="0" y="0"/>
                </a:cubicBezTo>
                <a:close/>
              </a:path>
              <a:path w="1554480" h="13716" fill="none" stroke="0" extrusionOk="0">
                <a:moveTo>
                  <a:pt x="0" y="0"/>
                </a:moveTo>
                <a:cubicBezTo>
                  <a:pt x="95687" y="-31247"/>
                  <a:pt x="331569" y="3404"/>
                  <a:pt x="549250" y="0"/>
                </a:cubicBezTo>
                <a:cubicBezTo>
                  <a:pt x="776590" y="6530"/>
                  <a:pt x="844530" y="-5109"/>
                  <a:pt x="1082954" y="0"/>
                </a:cubicBezTo>
                <a:cubicBezTo>
                  <a:pt x="1293569" y="15486"/>
                  <a:pt x="1361850" y="13824"/>
                  <a:pt x="1554480" y="0"/>
                </a:cubicBezTo>
                <a:cubicBezTo>
                  <a:pt x="1553504" y="4786"/>
                  <a:pt x="1554832" y="10912"/>
                  <a:pt x="1554480" y="13716"/>
                </a:cubicBezTo>
                <a:cubicBezTo>
                  <a:pt x="1366718" y="4861"/>
                  <a:pt x="1218290" y="26644"/>
                  <a:pt x="1067410" y="13716"/>
                </a:cubicBezTo>
                <a:cubicBezTo>
                  <a:pt x="900327" y="-8822"/>
                  <a:pt x="792178" y="6310"/>
                  <a:pt x="549250" y="13716"/>
                </a:cubicBezTo>
                <a:cubicBezTo>
                  <a:pt x="295300" y="2843"/>
                  <a:pt x="142619" y="40779"/>
                  <a:pt x="0" y="13716"/>
                </a:cubicBezTo>
                <a:cubicBezTo>
                  <a:pt x="813" y="8812"/>
                  <a:pt x="948" y="672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4480"/>
                      <a:gd name="connsiteY0" fmla="*/ 0 h 13716"/>
                      <a:gd name="connsiteX1" fmla="*/ 549250 w 1554480"/>
                      <a:gd name="connsiteY1" fmla="*/ 0 h 13716"/>
                      <a:gd name="connsiteX2" fmla="*/ 1082954 w 1554480"/>
                      <a:gd name="connsiteY2" fmla="*/ 0 h 13716"/>
                      <a:gd name="connsiteX3" fmla="*/ 1554480 w 1554480"/>
                      <a:gd name="connsiteY3" fmla="*/ 0 h 13716"/>
                      <a:gd name="connsiteX4" fmla="*/ 1554480 w 1554480"/>
                      <a:gd name="connsiteY4" fmla="*/ 13716 h 13716"/>
                      <a:gd name="connsiteX5" fmla="*/ 1067410 w 1554480"/>
                      <a:gd name="connsiteY5" fmla="*/ 13716 h 13716"/>
                      <a:gd name="connsiteX6" fmla="*/ 549250 w 1554480"/>
                      <a:gd name="connsiteY6" fmla="*/ 13716 h 13716"/>
                      <a:gd name="connsiteX7" fmla="*/ 0 w 1554480"/>
                      <a:gd name="connsiteY7" fmla="*/ 13716 h 13716"/>
                      <a:gd name="connsiteX8" fmla="*/ 0 w 1554480"/>
                      <a:gd name="connsiteY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0" h="13716" fill="none" extrusionOk="0">
                        <a:moveTo>
                          <a:pt x="0" y="0"/>
                        </a:moveTo>
                        <a:cubicBezTo>
                          <a:pt x="114141" y="-19864"/>
                          <a:pt x="345055" y="-1657"/>
                          <a:pt x="549250" y="0"/>
                        </a:cubicBezTo>
                        <a:cubicBezTo>
                          <a:pt x="753445" y="1657"/>
                          <a:pt x="862292" y="-5674"/>
                          <a:pt x="1082954" y="0"/>
                        </a:cubicBezTo>
                        <a:cubicBezTo>
                          <a:pt x="1303616" y="5674"/>
                          <a:pt x="1363530" y="4537"/>
                          <a:pt x="1554480" y="0"/>
                        </a:cubicBezTo>
                        <a:cubicBezTo>
                          <a:pt x="1553820" y="4959"/>
                          <a:pt x="1554594" y="10798"/>
                          <a:pt x="1554480" y="13716"/>
                        </a:cubicBezTo>
                        <a:cubicBezTo>
                          <a:pt x="1338847" y="1555"/>
                          <a:pt x="1215066" y="33279"/>
                          <a:pt x="1067410" y="13716"/>
                        </a:cubicBezTo>
                        <a:cubicBezTo>
                          <a:pt x="919754" y="-5847"/>
                          <a:pt x="800465" y="-1492"/>
                          <a:pt x="549250" y="13716"/>
                        </a:cubicBezTo>
                        <a:cubicBezTo>
                          <a:pt x="298035" y="28924"/>
                          <a:pt x="158868" y="18197"/>
                          <a:pt x="0" y="13716"/>
                        </a:cubicBezTo>
                        <a:cubicBezTo>
                          <a:pt x="488" y="8630"/>
                          <a:pt x="480" y="6612"/>
                          <a:pt x="0" y="0"/>
                        </a:cubicBezTo>
                        <a:close/>
                      </a:path>
                      <a:path w="1554480" h="13716" stroke="0" extrusionOk="0">
                        <a:moveTo>
                          <a:pt x="0" y="0"/>
                        </a:moveTo>
                        <a:cubicBezTo>
                          <a:pt x="249941" y="-58"/>
                          <a:pt x="367334" y="23448"/>
                          <a:pt x="502615" y="0"/>
                        </a:cubicBezTo>
                        <a:cubicBezTo>
                          <a:pt x="637897" y="-23448"/>
                          <a:pt x="813653" y="-20418"/>
                          <a:pt x="974141" y="0"/>
                        </a:cubicBezTo>
                        <a:cubicBezTo>
                          <a:pt x="1134629" y="20418"/>
                          <a:pt x="1268772" y="6288"/>
                          <a:pt x="1554480" y="0"/>
                        </a:cubicBezTo>
                        <a:cubicBezTo>
                          <a:pt x="1554232" y="4157"/>
                          <a:pt x="1554673" y="7559"/>
                          <a:pt x="1554480" y="13716"/>
                        </a:cubicBezTo>
                        <a:cubicBezTo>
                          <a:pt x="1336087" y="7600"/>
                          <a:pt x="1310024" y="15187"/>
                          <a:pt x="1067410" y="13716"/>
                        </a:cubicBezTo>
                        <a:cubicBezTo>
                          <a:pt x="824796" y="12246"/>
                          <a:pt x="787902" y="30075"/>
                          <a:pt x="518160" y="13716"/>
                        </a:cubicBezTo>
                        <a:cubicBezTo>
                          <a:pt x="248418" y="-2643"/>
                          <a:pt x="133160" y="4633"/>
                          <a:pt x="0" y="13716"/>
                        </a:cubicBezTo>
                        <a:cubicBezTo>
                          <a:pt x="43" y="9160"/>
                          <a:pt x="-111" y="48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sz="1900"/>
              <a:t>An evolutionary approach sometimes points to rapid environmental changes having health consequences.</a:t>
            </a:r>
          </a:p>
        </p:txBody>
      </p:sp>
      <p:pic>
        <p:nvPicPr>
          <p:cNvPr id="4" name="Picture 3" descr="Timeline&#10;&#10;Description automatically generated">
            <a:extLst>
              <a:ext uri="{FF2B5EF4-FFF2-40B4-BE49-F238E27FC236}">
                <a16:creationId xmlns:a16="http://schemas.microsoft.com/office/drawing/2014/main" id="{3F38CA7D-ECBF-F74C-A256-44ADF4A410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860" y="2290936"/>
            <a:ext cx="5279136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Proximate vs. Ultimate Causation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  <a:gd name="connsiteX0" fmla="*/ 0 w 5410200"/>
              <a:gd name="connsiteY0" fmla="*/ 0 h 13716"/>
              <a:gd name="connsiteX1" fmla="*/ 622173 w 5410200"/>
              <a:gd name="connsiteY1" fmla="*/ 0 h 13716"/>
              <a:gd name="connsiteX2" fmla="*/ 1136142 w 5410200"/>
              <a:gd name="connsiteY2" fmla="*/ 0 h 13716"/>
              <a:gd name="connsiteX3" fmla="*/ 1920621 w 5410200"/>
              <a:gd name="connsiteY3" fmla="*/ 0 h 13716"/>
              <a:gd name="connsiteX4" fmla="*/ 2542794 w 5410200"/>
              <a:gd name="connsiteY4" fmla="*/ 0 h 13716"/>
              <a:gd name="connsiteX5" fmla="*/ 3164967 w 5410200"/>
              <a:gd name="connsiteY5" fmla="*/ 0 h 13716"/>
              <a:gd name="connsiteX6" fmla="*/ 3949446 w 5410200"/>
              <a:gd name="connsiteY6" fmla="*/ 0 h 13716"/>
              <a:gd name="connsiteX7" fmla="*/ 4517517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165854 w 5410200"/>
              <a:gd name="connsiteY11" fmla="*/ 13716 h 13716"/>
              <a:gd name="connsiteX12" fmla="*/ 3543681 w 5410200"/>
              <a:gd name="connsiteY12" fmla="*/ 13716 h 13716"/>
              <a:gd name="connsiteX13" fmla="*/ 2759202 w 5410200"/>
              <a:gd name="connsiteY13" fmla="*/ 13716 h 13716"/>
              <a:gd name="connsiteX14" fmla="*/ 1974723 w 5410200"/>
              <a:gd name="connsiteY14" fmla="*/ 13716 h 13716"/>
              <a:gd name="connsiteX15" fmla="*/ 1406652 w 5410200"/>
              <a:gd name="connsiteY15" fmla="*/ 13716 h 13716"/>
              <a:gd name="connsiteX16" fmla="*/ 730377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76940" y="8795"/>
                  <a:pt x="295530" y="-3818"/>
                  <a:pt x="568071" y="0"/>
                </a:cubicBezTo>
                <a:cubicBezTo>
                  <a:pt x="821049" y="-7814"/>
                  <a:pt x="977778" y="-9274"/>
                  <a:pt x="1298448" y="0"/>
                </a:cubicBezTo>
                <a:cubicBezTo>
                  <a:pt x="1590381" y="13044"/>
                  <a:pt x="1630605" y="-28"/>
                  <a:pt x="1920621" y="0"/>
                </a:cubicBezTo>
                <a:cubicBezTo>
                  <a:pt x="2206035" y="10386"/>
                  <a:pt x="2357755" y="-28028"/>
                  <a:pt x="2488692" y="0"/>
                </a:cubicBezTo>
                <a:cubicBezTo>
                  <a:pt x="2633521" y="25625"/>
                  <a:pt x="3022777" y="-45440"/>
                  <a:pt x="3219069" y="0"/>
                </a:cubicBezTo>
                <a:cubicBezTo>
                  <a:pt x="3460337" y="63290"/>
                  <a:pt x="3645640" y="26494"/>
                  <a:pt x="3895344" y="0"/>
                </a:cubicBezTo>
                <a:cubicBezTo>
                  <a:pt x="4126339" y="-535"/>
                  <a:pt x="4382665" y="-55222"/>
                  <a:pt x="4571619" y="0"/>
                </a:cubicBezTo>
                <a:cubicBezTo>
                  <a:pt x="4776405" y="-816"/>
                  <a:pt x="5201098" y="-43036"/>
                  <a:pt x="5410200" y="0"/>
                </a:cubicBezTo>
                <a:cubicBezTo>
                  <a:pt x="5409052" y="2649"/>
                  <a:pt x="5410186" y="9063"/>
                  <a:pt x="5410200" y="13716"/>
                </a:cubicBezTo>
                <a:cubicBezTo>
                  <a:pt x="5133704" y="5182"/>
                  <a:pt x="5123444" y="31477"/>
                  <a:pt x="4842129" y="13716"/>
                </a:cubicBezTo>
                <a:cubicBezTo>
                  <a:pt x="4568650" y="-219"/>
                  <a:pt x="4447390" y="8221"/>
                  <a:pt x="4328160" y="13716"/>
                </a:cubicBezTo>
                <a:cubicBezTo>
                  <a:pt x="4227436" y="28078"/>
                  <a:pt x="3754725" y="-2253"/>
                  <a:pt x="3597783" y="13716"/>
                </a:cubicBezTo>
                <a:cubicBezTo>
                  <a:pt x="3459353" y="10223"/>
                  <a:pt x="3317740" y="47315"/>
                  <a:pt x="3029712" y="13716"/>
                </a:cubicBezTo>
                <a:cubicBezTo>
                  <a:pt x="2766446" y="5245"/>
                  <a:pt x="2645518" y="35922"/>
                  <a:pt x="2299335" y="13716"/>
                </a:cubicBezTo>
                <a:cubicBezTo>
                  <a:pt x="1977844" y="23735"/>
                  <a:pt x="1781583" y="-1801"/>
                  <a:pt x="1514856" y="13716"/>
                </a:cubicBezTo>
                <a:cubicBezTo>
                  <a:pt x="1212648" y="18781"/>
                  <a:pt x="1087880" y="-4407"/>
                  <a:pt x="892683" y="13716"/>
                </a:cubicBezTo>
                <a:cubicBezTo>
                  <a:pt x="745769" y="11772"/>
                  <a:pt x="183254" y="-32062"/>
                  <a:pt x="0" y="13716"/>
                </a:cubicBezTo>
                <a:cubicBezTo>
                  <a:pt x="-907" y="9799"/>
                  <a:pt x="-75" y="7151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69468" y="-22806"/>
                  <a:pt x="392563" y="4840"/>
                  <a:pt x="622173" y="0"/>
                </a:cubicBezTo>
                <a:cubicBezTo>
                  <a:pt x="884216" y="-2196"/>
                  <a:pt x="1034637" y="7784"/>
                  <a:pt x="1136142" y="0"/>
                </a:cubicBezTo>
                <a:cubicBezTo>
                  <a:pt x="1204956" y="5920"/>
                  <a:pt x="1559779" y="-61408"/>
                  <a:pt x="1920621" y="0"/>
                </a:cubicBezTo>
                <a:cubicBezTo>
                  <a:pt x="2280250" y="-18581"/>
                  <a:pt x="2372470" y="4128"/>
                  <a:pt x="2542794" y="0"/>
                </a:cubicBezTo>
                <a:cubicBezTo>
                  <a:pt x="2688150" y="-17189"/>
                  <a:pt x="2885478" y="-51412"/>
                  <a:pt x="3164967" y="0"/>
                </a:cubicBezTo>
                <a:cubicBezTo>
                  <a:pt x="3470933" y="16143"/>
                  <a:pt x="3588003" y="-4313"/>
                  <a:pt x="3949446" y="0"/>
                </a:cubicBezTo>
                <a:cubicBezTo>
                  <a:pt x="4331172" y="1470"/>
                  <a:pt x="4289286" y="5331"/>
                  <a:pt x="4517517" y="0"/>
                </a:cubicBezTo>
                <a:cubicBezTo>
                  <a:pt x="4736577" y="41911"/>
                  <a:pt x="5141868" y="443"/>
                  <a:pt x="5410200" y="0"/>
                </a:cubicBezTo>
                <a:cubicBezTo>
                  <a:pt x="5410845" y="2936"/>
                  <a:pt x="5409877" y="9829"/>
                  <a:pt x="5410200" y="13716"/>
                </a:cubicBezTo>
                <a:cubicBezTo>
                  <a:pt x="5130880" y="48304"/>
                  <a:pt x="5008082" y="-27188"/>
                  <a:pt x="4842129" y="13716"/>
                </a:cubicBezTo>
                <a:cubicBezTo>
                  <a:pt x="4629232" y="38478"/>
                  <a:pt x="4430159" y="43872"/>
                  <a:pt x="4165854" y="13716"/>
                </a:cubicBezTo>
                <a:cubicBezTo>
                  <a:pt x="3880517" y="17026"/>
                  <a:pt x="3820863" y="-12209"/>
                  <a:pt x="3543681" y="13716"/>
                </a:cubicBezTo>
                <a:cubicBezTo>
                  <a:pt x="3267577" y="39687"/>
                  <a:pt x="3047131" y="-8774"/>
                  <a:pt x="2759202" y="13716"/>
                </a:cubicBezTo>
                <a:cubicBezTo>
                  <a:pt x="2418778" y="17929"/>
                  <a:pt x="2206820" y="-35095"/>
                  <a:pt x="1974723" y="13716"/>
                </a:cubicBezTo>
                <a:cubicBezTo>
                  <a:pt x="1740429" y="35710"/>
                  <a:pt x="1599301" y="34493"/>
                  <a:pt x="1406652" y="13716"/>
                </a:cubicBezTo>
                <a:cubicBezTo>
                  <a:pt x="1196601" y="3966"/>
                  <a:pt x="938578" y="38717"/>
                  <a:pt x="730377" y="13716"/>
                </a:cubicBezTo>
                <a:cubicBezTo>
                  <a:pt x="524173" y="26651"/>
                  <a:pt x="336004" y="-17469"/>
                  <a:pt x="0" y="13716"/>
                </a:cubicBezTo>
                <a:cubicBezTo>
                  <a:pt x="-377" y="9245"/>
                  <a:pt x="1157" y="3819"/>
                  <a:pt x="0" y="0"/>
                </a:cubicBezTo>
                <a:close/>
              </a:path>
              <a:path w="5410200" h="13716" fill="none" stroke="0" extrusionOk="0">
                <a:moveTo>
                  <a:pt x="0" y="0"/>
                </a:moveTo>
                <a:cubicBezTo>
                  <a:pt x="148438" y="-27720"/>
                  <a:pt x="315263" y="-14841"/>
                  <a:pt x="568071" y="0"/>
                </a:cubicBezTo>
                <a:cubicBezTo>
                  <a:pt x="840209" y="21288"/>
                  <a:pt x="982180" y="-6281"/>
                  <a:pt x="1298448" y="0"/>
                </a:cubicBezTo>
                <a:cubicBezTo>
                  <a:pt x="1577021" y="13763"/>
                  <a:pt x="1630910" y="1060"/>
                  <a:pt x="1920621" y="0"/>
                </a:cubicBezTo>
                <a:cubicBezTo>
                  <a:pt x="2200928" y="-1340"/>
                  <a:pt x="2382869" y="-10369"/>
                  <a:pt x="2488692" y="0"/>
                </a:cubicBezTo>
                <a:cubicBezTo>
                  <a:pt x="2620356" y="20061"/>
                  <a:pt x="3042766" y="-74691"/>
                  <a:pt x="3219069" y="0"/>
                </a:cubicBezTo>
                <a:cubicBezTo>
                  <a:pt x="3395755" y="31704"/>
                  <a:pt x="3646717" y="33546"/>
                  <a:pt x="3895344" y="0"/>
                </a:cubicBezTo>
                <a:cubicBezTo>
                  <a:pt x="4131847" y="-43416"/>
                  <a:pt x="4371681" y="11418"/>
                  <a:pt x="4571619" y="0"/>
                </a:cubicBezTo>
                <a:cubicBezTo>
                  <a:pt x="4799447" y="47677"/>
                  <a:pt x="5212547" y="1562"/>
                  <a:pt x="5410200" y="0"/>
                </a:cubicBezTo>
                <a:cubicBezTo>
                  <a:pt x="5408905" y="2744"/>
                  <a:pt x="5410401" y="9950"/>
                  <a:pt x="5410200" y="13716"/>
                </a:cubicBezTo>
                <a:cubicBezTo>
                  <a:pt x="5139576" y="2947"/>
                  <a:pt x="5122299" y="33775"/>
                  <a:pt x="4842129" y="13716"/>
                </a:cubicBezTo>
                <a:cubicBezTo>
                  <a:pt x="4566356" y="6655"/>
                  <a:pt x="4456854" y="15426"/>
                  <a:pt x="4328160" y="13716"/>
                </a:cubicBezTo>
                <a:cubicBezTo>
                  <a:pt x="4234703" y="-822"/>
                  <a:pt x="3768176" y="-16062"/>
                  <a:pt x="3597783" y="13716"/>
                </a:cubicBezTo>
                <a:cubicBezTo>
                  <a:pt x="3430303" y="10148"/>
                  <a:pt x="3287506" y="20215"/>
                  <a:pt x="3029712" y="13716"/>
                </a:cubicBezTo>
                <a:cubicBezTo>
                  <a:pt x="2742636" y="-2421"/>
                  <a:pt x="2637847" y="18109"/>
                  <a:pt x="2299335" y="13716"/>
                </a:cubicBezTo>
                <a:cubicBezTo>
                  <a:pt x="1959433" y="-7861"/>
                  <a:pt x="1779456" y="37101"/>
                  <a:pt x="1514856" y="13716"/>
                </a:cubicBezTo>
                <a:cubicBezTo>
                  <a:pt x="1212431" y="31797"/>
                  <a:pt x="1086601" y="7282"/>
                  <a:pt x="892683" y="13716"/>
                </a:cubicBezTo>
                <a:cubicBezTo>
                  <a:pt x="721500" y="45800"/>
                  <a:pt x="194249" y="-29802"/>
                  <a:pt x="0" y="13716"/>
                </a:cubicBezTo>
                <a:cubicBezTo>
                  <a:pt x="-508" y="9800"/>
                  <a:pt x="-280" y="682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410200"/>
                      <a:gd name="connsiteY0" fmla="*/ 0 h 13716"/>
                      <a:gd name="connsiteX1" fmla="*/ 568071 w 5410200"/>
                      <a:gd name="connsiteY1" fmla="*/ 0 h 13716"/>
                      <a:gd name="connsiteX2" fmla="*/ 1298448 w 5410200"/>
                      <a:gd name="connsiteY2" fmla="*/ 0 h 13716"/>
                      <a:gd name="connsiteX3" fmla="*/ 1920621 w 5410200"/>
                      <a:gd name="connsiteY3" fmla="*/ 0 h 13716"/>
                      <a:gd name="connsiteX4" fmla="*/ 2488692 w 5410200"/>
                      <a:gd name="connsiteY4" fmla="*/ 0 h 13716"/>
                      <a:gd name="connsiteX5" fmla="*/ 3219069 w 5410200"/>
                      <a:gd name="connsiteY5" fmla="*/ 0 h 13716"/>
                      <a:gd name="connsiteX6" fmla="*/ 3895344 w 5410200"/>
                      <a:gd name="connsiteY6" fmla="*/ 0 h 13716"/>
                      <a:gd name="connsiteX7" fmla="*/ 4571619 w 5410200"/>
                      <a:gd name="connsiteY7" fmla="*/ 0 h 13716"/>
                      <a:gd name="connsiteX8" fmla="*/ 5410200 w 5410200"/>
                      <a:gd name="connsiteY8" fmla="*/ 0 h 13716"/>
                      <a:gd name="connsiteX9" fmla="*/ 5410200 w 5410200"/>
                      <a:gd name="connsiteY9" fmla="*/ 13716 h 13716"/>
                      <a:gd name="connsiteX10" fmla="*/ 4842129 w 5410200"/>
                      <a:gd name="connsiteY10" fmla="*/ 13716 h 13716"/>
                      <a:gd name="connsiteX11" fmla="*/ 4328160 w 5410200"/>
                      <a:gd name="connsiteY11" fmla="*/ 13716 h 13716"/>
                      <a:gd name="connsiteX12" fmla="*/ 3597783 w 5410200"/>
                      <a:gd name="connsiteY12" fmla="*/ 13716 h 13716"/>
                      <a:gd name="connsiteX13" fmla="*/ 3029712 w 5410200"/>
                      <a:gd name="connsiteY13" fmla="*/ 13716 h 13716"/>
                      <a:gd name="connsiteX14" fmla="*/ 2299335 w 5410200"/>
                      <a:gd name="connsiteY14" fmla="*/ 13716 h 13716"/>
                      <a:gd name="connsiteX15" fmla="*/ 1514856 w 5410200"/>
                      <a:gd name="connsiteY15" fmla="*/ 13716 h 13716"/>
                      <a:gd name="connsiteX16" fmla="*/ 892683 w 5410200"/>
                      <a:gd name="connsiteY16" fmla="*/ 13716 h 13716"/>
                      <a:gd name="connsiteX17" fmla="*/ 0 w 5410200"/>
                      <a:gd name="connsiteY17" fmla="*/ 13716 h 13716"/>
                      <a:gd name="connsiteX18" fmla="*/ 0 w 5410200"/>
                      <a:gd name="connsiteY1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5410200" h="13716" fill="none" extrusionOk="0">
                        <a:moveTo>
                          <a:pt x="0" y="0"/>
                        </a:moveTo>
                        <a:cubicBezTo>
                          <a:pt x="163050" y="-18707"/>
                          <a:pt x="319321" y="-16364"/>
                          <a:pt x="568071" y="0"/>
                        </a:cubicBezTo>
                        <a:cubicBezTo>
                          <a:pt x="816821" y="16364"/>
                          <a:pt x="1013224" y="-7268"/>
                          <a:pt x="1298448" y="0"/>
                        </a:cubicBezTo>
                        <a:cubicBezTo>
                          <a:pt x="1583672" y="7268"/>
                          <a:pt x="1631711" y="-3367"/>
                          <a:pt x="1920621" y="0"/>
                        </a:cubicBezTo>
                        <a:cubicBezTo>
                          <a:pt x="2209531" y="3367"/>
                          <a:pt x="2364420" y="-19184"/>
                          <a:pt x="2488692" y="0"/>
                        </a:cubicBezTo>
                        <a:cubicBezTo>
                          <a:pt x="2612964" y="19184"/>
                          <a:pt x="3023298" y="-34627"/>
                          <a:pt x="3219069" y="0"/>
                        </a:cubicBezTo>
                        <a:cubicBezTo>
                          <a:pt x="3414840" y="34627"/>
                          <a:pt x="3656810" y="24043"/>
                          <a:pt x="3895344" y="0"/>
                        </a:cubicBezTo>
                        <a:cubicBezTo>
                          <a:pt x="4133879" y="-24043"/>
                          <a:pt x="4393984" y="-19577"/>
                          <a:pt x="4571619" y="0"/>
                        </a:cubicBezTo>
                        <a:cubicBezTo>
                          <a:pt x="4749255" y="19577"/>
                          <a:pt x="5179928" y="-6281"/>
                          <a:pt x="5410200" y="0"/>
                        </a:cubicBezTo>
                        <a:cubicBezTo>
                          <a:pt x="5409587" y="2854"/>
                          <a:pt x="5409791" y="9451"/>
                          <a:pt x="5410200" y="13716"/>
                        </a:cubicBezTo>
                        <a:cubicBezTo>
                          <a:pt x="5139060" y="2179"/>
                          <a:pt x="5121593" y="26463"/>
                          <a:pt x="4842129" y="13716"/>
                        </a:cubicBezTo>
                        <a:cubicBezTo>
                          <a:pt x="4562665" y="969"/>
                          <a:pt x="4448273" y="4915"/>
                          <a:pt x="4328160" y="13716"/>
                        </a:cubicBezTo>
                        <a:cubicBezTo>
                          <a:pt x="4208047" y="22517"/>
                          <a:pt x="3760936" y="17995"/>
                          <a:pt x="3597783" y="13716"/>
                        </a:cubicBezTo>
                        <a:cubicBezTo>
                          <a:pt x="3434630" y="9437"/>
                          <a:pt x="3299718" y="28641"/>
                          <a:pt x="3029712" y="13716"/>
                        </a:cubicBezTo>
                        <a:cubicBezTo>
                          <a:pt x="2759706" y="-1209"/>
                          <a:pt x="2640159" y="22822"/>
                          <a:pt x="2299335" y="13716"/>
                        </a:cubicBezTo>
                        <a:cubicBezTo>
                          <a:pt x="1958511" y="4610"/>
                          <a:pt x="1801186" y="24413"/>
                          <a:pt x="1514856" y="13716"/>
                        </a:cubicBezTo>
                        <a:cubicBezTo>
                          <a:pt x="1228526" y="3019"/>
                          <a:pt x="1063509" y="-9877"/>
                          <a:pt x="892683" y="13716"/>
                        </a:cubicBezTo>
                        <a:cubicBezTo>
                          <a:pt x="721857" y="37309"/>
                          <a:pt x="186945" y="-25469"/>
                          <a:pt x="0" y="13716"/>
                        </a:cubicBezTo>
                        <a:cubicBezTo>
                          <a:pt x="-342" y="9537"/>
                          <a:pt x="-97" y="6817"/>
                          <a:pt x="0" y="0"/>
                        </a:cubicBezTo>
                        <a:close/>
                      </a:path>
                      <a:path w="5410200" h="13716" stroke="0" extrusionOk="0">
                        <a:moveTo>
                          <a:pt x="0" y="0"/>
                        </a:moveTo>
                        <a:cubicBezTo>
                          <a:pt x="285096" y="-4925"/>
                          <a:pt x="376456" y="22268"/>
                          <a:pt x="622173" y="0"/>
                        </a:cubicBezTo>
                        <a:cubicBezTo>
                          <a:pt x="867890" y="-22268"/>
                          <a:pt x="1031392" y="7228"/>
                          <a:pt x="1136142" y="0"/>
                        </a:cubicBezTo>
                        <a:cubicBezTo>
                          <a:pt x="1240892" y="-7228"/>
                          <a:pt x="1561853" y="9877"/>
                          <a:pt x="1920621" y="0"/>
                        </a:cubicBezTo>
                        <a:cubicBezTo>
                          <a:pt x="2279389" y="-9877"/>
                          <a:pt x="2367255" y="19546"/>
                          <a:pt x="2542794" y="0"/>
                        </a:cubicBezTo>
                        <a:cubicBezTo>
                          <a:pt x="2718333" y="-19546"/>
                          <a:pt x="2866732" y="-22226"/>
                          <a:pt x="3164967" y="0"/>
                        </a:cubicBezTo>
                        <a:cubicBezTo>
                          <a:pt x="3463202" y="22226"/>
                          <a:pt x="3568055" y="-2765"/>
                          <a:pt x="3949446" y="0"/>
                        </a:cubicBezTo>
                        <a:cubicBezTo>
                          <a:pt x="4330837" y="2765"/>
                          <a:pt x="4287895" y="10557"/>
                          <a:pt x="4517517" y="0"/>
                        </a:cubicBezTo>
                        <a:cubicBezTo>
                          <a:pt x="4747139" y="-10557"/>
                          <a:pt x="5149588" y="8716"/>
                          <a:pt x="5410200" y="0"/>
                        </a:cubicBezTo>
                        <a:cubicBezTo>
                          <a:pt x="5410660" y="2787"/>
                          <a:pt x="5410166" y="9748"/>
                          <a:pt x="5410200" y="13716"/>
                        </a:cubicBezTo>
                        <a:cubicBezTo>
                          <a:pt x="5163327" y="36922"/>
                          <a:pt x="5008749" y="6121"/>
                          <a:pt x="4842129" y="13716"/>
                        </a:cubicBezTo>
                        <a:cubicBezTo>
                          <a:pt x="4675509" y="21311"/>
                          <a:pt x="4433401" y="-5187"/>
                          <a:pt x="4165854" y="13716"/>
                        </a:cubicBezTo>
                        <a:cubicBezTo>
                          <a:pt x="3898308" y="32619"/>
                          <a:pt x="3809032" y="-13282"/>
                          <a:pt x="3543681" y="13716"/>
                        </a:cubicBezTo>
                        <a:cubicBezTo>
                          <a:pt x="3278330" y="40714"/>
                          <a:pt x="3073876" y="-20489"/>
                          <a:pt x="2759202" y="13716"/>
                        </a:cubicBezTo>
                        <a:cubicBezTo>
                          <a:pt x="2444528" y="47921"/>
                          <a:pt x="2204144" y="-1200"/>
                          <a:pt x="1974723" y="13716"/>
                        </a:cubicBezTo>
                        <a:cubicBezTo>
                          <a:pt x="1745302" y="28632"/>
                          <a:pt x="1602335" y="26918"/>
                          <a:pt x="1406652" y="13716"/>
                        </a:cubicBezTo>
                        <a:cubicBezTo>
                          <a:pt x="1210969" y="514"/>
                          <a:pt x="923948" y="-1411"/>
                          <a:pt x="730377" y="13716"/>
                        </a:cubicBezTo>
                        <a:cubicBezTo>
                          <a:pt x="536806" y="28843"/>
                          <a:pt x="336496" y="-4713"/>
                          <a:pt x="0" y="13716"/>
                        </a:cubicBezTo>
                        <a:cubicBezTo>
                          <a:pt x="-535" y="9547"/>
                          <a:pt x="488" y="45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3D8321-BE2C-43EC-8678-235A0C8EFA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24030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Why do you sweat when you’re nervous or frightened?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  <a:gd name="connsiteX0" fmla="*/ 0 w 1554480"/>
              <a:gd name="connsiteY0" fmla="*/ 0 h 13716"/>
              <a:gd name="connsiteX1" fmla="*/ 502615 w 1554480"/>
              <a:gd name="connsiteY1" fmla="*/ 0 h 13716"/>
              <a:gd name="connsiteX2" fmla="*/ 974141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1816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69558" y="-27075"/>
                  <a:pt x="365297" y="14897"/>
                  <a:pt x="549250" y="0"/>
                </a:cubicBezTo>
                <a:cubicBezTo>
                  <a:pt x="762323" y="14872"/>
                  <a:pt x="864871" y="21041"/>
                  <a:pt x="1082954" y="0"/>
                </a:cubicBezTo>
                <a:cubicBezTo>
                  <a:pt x="1306037" y="9403"/>
                  <a:pt x="1371926" y="14821"/>
                  <a:pt x="1554480" y="0"/>
                </a:cubicBezTo>
                <a:cubicBezTo>
                  <a:pt x="1554010" y="4793"/>
                  <a:pt x="1554680" y="10394"/>
                  <a:pt x="1554480" y="13716"/>
                </a:cubicBezTo>
                <a:cubicBezTo>
                  <a:pt x="1328957" y="3179"/>
                  <a:pt x="1207025" y="27731"/>
                  <a:pt x="1067410" y="13716"/>
                </a:cubicBezTo>
                <a:cubicBezTo>
                  <a:pt x="897316" y="-7440"/>
                  <a:pt x="788951" y="-24962"/>
                  <a:pt x="549250" y="13716"/>
                </a:cubicBezTo>
                <a:cubicBezTo>
                  <a:pt x="300394" y="-2982"/>
                  <a:pt x="129576" y="35301"/>
                  <a:pt x="0" y="13716"/>
                </a:cubicBezTo>
                <a:cubicBezTo>
                  <a:pt x="354" y="8869"/>
                  <a:pt x="649" y="6738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513" y="10124"/>
                  <a:pt x="389298" y="10419"/>
                  <a:pt x="502615" y="0"/>
                </a:cubicBezTo>
                <a:cubicBezTo>
                  <a:pt x="616735" y="10147"/>
                  <a:pt x="791037" y="-19212"/>
                  <a:pt x="974141" y="0"/>
                </a:cubicBezTo>
                <a:cubicBezTo>
                  <a:pt x="1141919" y="34853"/>
                  <a:pt x="1248514" y="16971"/>
                  <a:pt x="1554480" y="0"/>
                </a:cubicBezTo>
                <a:cubicBezTo>
                  <a:pt x="1554288" y="3835"/>
                  <a:pt x="1554171" y="7531"/>
                  <a:pt x="1554480" y="13716"/>
                </a:cubicBezTo>
                <a:cubicBezTo>
                  <a:pt x="1337806" y="9080"/>
                  <a:pt x="1308467" y="19887"/>
                  <a:pt x="1067410" y="13716"/>
                </a:cubicBezTo>
                <a:cubicBezTo>
                  <a:pt x="824349" y="13143"/>
                  <a:pt x="783437" y="24151"/>
                  <a:pt x="518160" y="13716"/>
                </a:cubicBezTo>
                <a:cubicBezTo>
                  <a:pt x="271530" y="4598"/>
                  <a:pt x="132568" y="-7659"/>
                  <a:pt x="0" y="13716"/>
                </a:cubicBezTo>
                <a:cubicBezTo>
                  <a:pt x="768" y="9617"/>
                  <a:pt x="-274" y="4847"/>
                  <a:pt x="0" y="0"/>
                </a:cubicBezTo>
                <a:close/>
              </a:path>
              <a:path w="1554480" h="13716" fill="none" stroke="0" extrusionOk="0">
                <a:moveTo>
                  <a:pt x="0" y="0"/>
                </a:moveTo>
                <a:cubicBezTo>
                  <a:pt x="95687" y="-31247"/>
                  <a:pt x="331569" y="3404"/>
                  <a:pt x="549250" y="0"/>
                </a:cubicBezTo>
                <a:cubicBezTo>
                  <a:pt x="776590" y="6530"/>
                  <a:pt x="844530" y="-5109"/>
                  <a:pt x="1082954" y="0"/>
                </a:cubicBezTo>
                <a:cubicBezTo>
                  <a:pt x="1293569" y="15486"/>
                  <a:pt x="1361850" y="13824"/>
                  <a:pt x="1554480" y="0"/>
                </a:cubicBezTo>
                <a:cubicBezTo>
                  <a:pt x="1553504" y="4786"/>
                  <a:pt x="1554832" y="10912"/>
                  <a:pt x="1554480" y="13716"/>
                </a:cubicBezTo>
                <a:cubicBezTo>
                  <a:pt x="1366718" y="4861"/>
                  <a:pt x="1218290" y="26644"/>
                  <a:pt x="1067410" y="13716"/>
                </a:cubicBezTo>
                <a:cubicBezTo>
                  <a:pt x="900327" y="-8822"/>
                  <a:pt x="792178" y="6310"/>
                  <a:pt x="549250" y="13716"/>
                </a:cubicBezTo>
                <a:cubicBezTo>
                  <a:pt x="295300" y="2843"/>
                  <a:pt x="142619" y="40779"/>
                  <a:pt x="0" y="13716"/>
                </a:cubicBezTo>
                <a:cubicBezTo>
                  <a:pt x="813" y="8812"/>
                  <a:pt x="948" y="672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4480"/>
                      <a:gd name="connsiteY0" fmla="*/ 0 h 13716"/>
                      <a:gd name="connsiteX1" fmla="*/ 549250 w 1554480"/>
                      <a:gd name="connsiteY1" fmla="*/ 0 h 13716"/>
                      <a:gd name="connsiteX2" fmla="*/ 1082954 w 1554480"/>
                      <a:gd name="connsiteY2" fmla="*/ 0 h 13716"/>
                      <a:gd name="connsiteX3" fmla="*/ 1554480 w 1554480"/>
                      <a:gd name="connsiteY3" fmla="*/ 0 h 13716"/>
                      <a:gd name="connsiteX4" fmla="*/ 1554480 w 1554480"/>
                      <a:gd name="connsiteY4" fmla="*/ 13716 h 13716"/>
                      <a:gd name="connsiteX5" fmla="*/ 1067410 w 1554480"/>
                      <a:gd name="connsiteY5" fmla="*/ 13716 h 13716"/>
                      <a:gd name="connsiteX6" fmla="*/ 549250 w 1554480"/>
                      <a:gd name="connsiteY6" fmla="*/ 13716 h 13716"/>
                      <a:gd name="connsiteX7" fmla="*/ 0 w 1554480"/>
                      <a:gd name="connsiteY7" fmla="*/ 13716 h 13716"/>
                      <a:gd name="connsiteX8" fmla="*/ 0 w 1554480"/>
                      <a:gd name="connsiteY8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4480" h="13716" fill="none" extrusionOk="0">
                        <a:moveTo>
                          <a:pt x="0" y="0"/>
                        </a:moveTo>
                        <a:cubicBezTo>
                          <a:pt x="114141" y="-19864"/>
                          <a:pt x="345055" y="-1657"/>
                          <a:pt x="549250" y="0"/>
                        </a:cubicBezTo>
                        <a:cubicBezTo>
                          <a:pt x="753445" y="1657"/>
                          <a:pt x="862292" y="-5674"/>
                          <a:pt x="1082954" y="0"/>
                        </a:cubicBezTo>
                        <a:cubicBezTo>
                          <a:pt x="1303616" y="5674"/>
                          <a:pt x="1363530" y="4537"/>
                          <a:pt x="1554480" y="0"/>
                        </a:cubicBezTo>
                        <a:cubicBezTo>
                          <a:pt x="1553820" y="4959"/>
                          <a:pt x="1554594" y="10798"/>
                          <a:pt x="1554480" y="13716"/>
                        </a:cubicBezTo>
                        <a:cubicBezTo>
                          <a:pt x="1338847" y="1555"/>
                          <a:pt x="1215066" y="33279"/>
                          <a:pt x="1067410" y="13716"/>
                        </a:cubicBezTo>
                        <a:cubicBezTo>
                          <a:pt x="919754" y="-5847"/>
                          <a:pt x="800465" y="-1492"/>
                          <a:pt x="549250" y="13716"/>
                        </a:cubicBezTo>
                        <a:cubicBezTo>
                          <a:pt x="298035" y="28924"/>
                          <a:pt x="158868" y="18197"/>
                          <a:pt x="0" y="13716"/>
                        </a:cubicBezTo>
                        <a:cubicBezTo>
                          <a:pt x="488" y="8630"/>
                          <a:pt x="480" y="6612"/>
                          <a:pt x="0" y="0"/>
                        </a:cubicBezTo>
                        <a:close/>
                      </a:path>
                      <a:path w="1554480" h="13716" stroke="0" extrusionOk="0">
                        <a:moveTo>
                          <a:pt x="0" y="0"/>
                        </a:moveTo>
                        <a:cubicBezTo>
                          <a:pt x="249941" y="-58"/>
                          <a:pt x="367334" y="23448"/>
                          <a:pt x="502615" y="0"/>
                        </a:cubicBezTo>
                        <a:cubicBezTo>
                          <a:pt x="637897" y="-23448"/>
                          <a:pt x="813653" y="-20418"/>
                          <a:pt x="974141" y="0"/>
                        </a:cubicBezTo>
                        <a:cubicBezTo>
                          <a:pt x="1134629" y="20418"/>
                          <a:pt x="1268772" y="6288"/>
                          <a:pt x="1554480" y="0"/>
                        </a:cubicBezTo>
                        <a:cubicBezTo>
                          <a:pt x="1554232" y="4157"/>
                          <a:pt x="1554673" y="7559"/>
                          <a:pt x="1554480" y="13716"/>
                        </a:cubicBezTo>
                        <a:cubicBezTo>
                          <a:pt x="1336087" y="7600"/>
                          <a:pt x="1310024" y="15187"/>
                          <a:pt x="1067410" y="13716"/>
                        </a:cubicBezTo>
                        <a:cubicBezTo>
                          <a:pt x="824796" y="12246"/>
                          <a:pt x="787902" y="30075"/>
                          <a:pt x="518160" y="13716"/>
                        </a:cubicBezTo>
                        <a:cubicBezTo>
                          <a:pt x="248418" y="-2643"/>
                          <a:pt x="133160" y="4633"/>
                          <a:pt x="0" y="13716"/>
                        </a:cubicBezTo>
                        <a:cubicBezTo>
                          <a:pt x="43" y="9160"/>
                          <a:pt x="-111" y="48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r>
              <a:rPr lang="en-US" sz="1900"/>
              <a:t>Mechanism? </a:t>
            </a:r>
          </a:p>
          <a:p>
            <a:r>
              <a:rPr lang="en-US" sz="1900"/>
              <a:t>Development? </a:t>
            </a:r>
          </a:p>
          <a:p>
            <a:r>
              <a:rPr lang="en-US" sz="1900"/>
              <a:t>Function? </a:t>
            </a:r>
          </a:p>
          <a:p>
            <a:r>
              <a:rPr lang="en-US" sz="1900"/>
              <a:t>Phylogeny?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6EFE135-E1D4-6B41-AF69-7C4939639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32" y="2569464"/>
            <a:ext cx="3678936" cy="3678936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38F3C37-EAC3-6E46-A32F-EC6564BA6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872" y="3040195"/>
            <a:ext cx="4101084" cy="27374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/>
              <a:t>Why do you feel pain?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23008 w 2441321"/>
              <a:gd name="connsiteY2" fmla="*/ 0 h 18288"/>
              <a:gd name="connsiteX3" fmla="*/ 1782164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79817 w 2441321"/>
              <a:gd name="connsiteY6" fmla="*/ 18288 h 18288"/>
              <a:gd name="connsiteX7" fmla="*/ 1318313 w 2441321"/>
              <a:gd name="connsiteY7" fmla="*/ 18288 h 18288"/>
              <a:gd name="connsiteX8" fmla="*/ 659157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80302" y="-6619"/>
                  <a:pt x="363201" y="4913"/>
                  <a:pt x="585917" y="0"/>
                </a:cubicBezTo>
                <a:cubicBezTo>
                  <a:pt x="832357" y="-10107"/>
                  <a:pt x="996738" y="-34312"/>
                  <a:pt x="1196247" y="0"/>
                </a:cubicBezTo>
                <a:cubicBezTo>
                  <a:pt x="1357180" y="16623"/>
                  <a:pt x="1575042" y="-11041"/>
                  <a:pt x="1806578" y="0"/>
                </a:cubicBezTo>
                <a:cubicBezTo>
                  <a:pt x="2016334" y="246"/>
                  <a:pt x="2239353" y="-8732"/>
                  <a:pt x="2441321" y="0"/>
                </a:cubicBezTo>
                <a:cubicBezTo>
                  <a:pt x="2441188" y="8366"/>
                  <a:pt x="2440365" y="10017"/>
                  <a:pt x="2441321" y="18288"/>
                </a:cubicBezTo>
                <a:cubicBezTo>
                  <a:pt x="2159375" y="49009"/>
                  <a:pt x="2054495" y="45666"/>
                  <a:pt x="1830991" y="18288"/>
                </a:cubicBezTo>
                <a:cubicBezTo>
                  <a:pt x="1615846" y="7509"/>
                  <a:pt x="1521674" y="-5422"/>
                  <a:pt x="1269487" y="18288"/>
                </a:cubicBezTo>
                <a:cubicBezTo>
                  <a:pt x="1019660" y="53960"/>
                  <a:pt x="886911" y="42351"/>
                  <a:pt x="707983" y="18288"/>
                </a:cubicBezTo>
                <a:cubicBezTo>
                  <a:pt x="523434" y="27321"/>
                  <a:pt x="307885" y="34316"/>
                  <a:pt x="0" y="18288"/>
                </a:cubicBezTo>
                <a:cubicBezTo>
                  <a:pt x="-595" y="11182"/>
                  <a:pt x="-5" y="630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12126" y="-10265"/>
                  <a:pt x="442910" y="-11728"/>
                  <a:pt x="585917" y="0"/>
                </a:cubicBezTo>
                <a:cubicBezTo>
                  <a:pt x="724579" y="21751"/>
                  <a:pt x="879365" y="-33198"/>
                  <a:pt x="1123008" y="0"/>
                </a:cubicBezTo>
                <a:cubicBezTo>
                  <a:pt x="1377247" y="11220"/>
                  <a:pt x="1597861" y="-34280"/>
                  <a:pt x="1782164" y="0"/>
                </a:cubicBezTo>
                <a:cubicBezTo>
                  <a:pt x="1975975" y="-3055"/>
                  <a:pt x="2116392" y="-15531"/>
                  <a:pt x="2441321" y="0"/>
                </a:cubicBezTo>
                <a:cubicBezTo>
                  <a:pt x="2441666" y="6144"/>
                  <a:pt x="2441358" y="10525"/>
                  <a:pt x="2441321" y="18288"/>
                </a:cubicBezTo>
                <a:cubicBezTo>
                  <a:pt x="2180658" y="18322"/>
                  <a:pt x="2084222" y="5934"/>
                  <a:pt x="1879817" y="18288"/>
                </a:cubicBezTo>
                <a:cubicBezTo>
                  <a:pt x="1668182" y="16222"/>
                  <a:pt x="1551159" y="-6477"/>
                  <a:pt x="1318313" y="18288"/>
                </a:cubicBezTo>
                <a:cubicBezTo>
                  <a:pt x="1059871" y="56395"/>
                  <a:pt x="901959" y="23831"/>
                  <a:pt x="659157" y="18288"/>
                </a:cubicBezTo>
                <a:cubicBezTo>
                  <a:pt x="444692" y="28483"/>
                  <a:pt x="245032" y="39882"/>
                  <a:pt x="0" y="18288"/>
                </a:cubicBezTo>
                <a:cubicBezTo>
                  <a:pt x="-11" y="10485"/>
                  <a:pt x="-221" y="3288"/>
                  <a:pt x="0" y="0"/>
                </a:cubicBezTo>
                <a:close/>
              </a:path>
              <a:path w="2441321" h="18288" fill="none" stroke="0" extrusionOk="0">
                <a:moveTo>
                  <a:pt x="0" y="0"/>
                </a:moveTo>
                <a:cubicBezTo>
                  <a:pt x="265389" y="-22361"/>
                  <a:pt x="344845" y="-65"/>
                  <a:pt x="585917" y="0"/>
                </a:cubicBezTo>
                <a:cubicBezTo>
                  <a:pt x="858472" y="13102"/>
                  <a:pt x="949265" y="-8078"/>
                  <a:pt x="1196247" y="0"/>
                </a:cubicBezTo>
                <a:cubicBezTo>
                  <a:pt x="1379248" y="30707"/>
                  <a:pt x="1585336" y="24963"/>
                  <a:pt x="1806578" y="0"/>
                </a:cubicBezTo>
                <a:cubicBezTo>
                  <a:pt x="1986731" y="-19207"/>
                  <a:pt x="2264933" y="16601"/>
                  <a:pt x="2441321" y="0"/>
                </a:cubicBezTo>
                <a:cubicBezTo>
                  <a:pt x="2441440" y="8687"/>
                  <a:pt x="2440452" y="9944"/>
                  <a:pt x="2441321" y="18288"/>
                </a:cubicBezTo>
                <a:cubicBezTo>
                  <a:pt x="2149099" y="27348"/>
                  <a:pt x="2027305" y="56470"/>
                  <a:pt x="1830991" y="18288"/>
                </a:cubicBezTo>
                <a:cubicBezTo>
                  <a:pt x="1614571" y="-18764"/>
                  <a:pt x="1500998" y="10727"/>
                  <a:pt x="1269487" y="18288"/>
                </a:cubicBezTo>
                <a:cubicBezTo>
                  <a:pt x="1042399" y="37834"/>
                  <a:pt x="927922" y="45822"/>
                  <a:pt x="707983" y="18288"/>
                </a:cubicBezTo>
                <a:cubicBezTo>
                  <a:pt x="502575" y="-5380"/>
                  <a:pt x="350393" y="34499"/>
                  <a:pt x="0" y="18288"/>
                </a:cubicBezTo>
                <a:cubicBezTo>
                  <a:pt x="-394" y="12154"/>
                  <a:pt x="907" y="668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1321"/>
                      <a:gd name="connsiteY0" fmla="*/ 0 h 18288"/>
                      <a:gd name="connsiteX1" fmla="*/ 585917 w 2441321"/>
                      <a:gd name="connsiteY1" fmla="*/ 0 h 18288"/>
                      <a:gd name="connsiteX2" fmla="*/ 1196247 w 2441321"/>
                      <a:gd name="connsiteY2" fmla="*/ 0 h 18288"/>
                      <a:gd name="connsiteX3" fmla="*/ 1806578 w 2441321"/>
                      <a:gd name="connsiteY3" fmla="*/ 0 h 18288"/>
                      <a:gd name="connsiteX4" fmla="*/ 2441321 w 2441321"/>
                      <a:gd name="connsiteY4" fmla="*/ 0 h 18288"/>
                      <a:gd name="connsiteX5" fmla="*/ 2441321 w 2441321"/>
                      <a:gd name="connsiteY5" fmla="*/ 18288 h 18288"/>
                      <a:gd name="connsiteX6" fmla="*/ 1830991 w 2441321"/>
                      <a:gd name="connsiteY6" fmla="*/ 18288 h 18288"/>
                      <a:gd name="connsiteX7" fmla="*/ 1269487 w 2441321"/>
                      <a:gd name="connsiteY7" fmla="*/ 18288 h 18288"/>
                      <a:gd name="connsiteX8" fmla="*/ 707983 w 2441321"/>
                      <a:gd name="connsiteY8" fmla="*/ 18288 h 18288"/>
                      <a:gd name="connsiteX9" fmla="*/ 0 w 2441321"/>
                      <a:gd name="connsiteY9" fmla="*/ 18288 h 18288"/>
                      <a:gd name="connsiteX10" fmla="*/ 0 w 2441321"/>
                      <a:gd name="connsiteY10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441321" h="18288" fill="none" extrusionOk="0">
                        <a:moveTo>
                          <a:pt x="0" y="0"/>
                        </a:moveTo>
                        <a:cubicBezTo>
                          <a:pt x="273217" y="-17533"/>
                          <a:pt x="355785" y="-4171"/>
                          <a:pt x="585917" y="0"/>
                        </a:cubicBezTo>
                        <a:cubicBezTo>
                          <a:pt x="816049" y="4171"/>
                          <a:pt x="991446" y="-9419"/>
                          <a:pt x="1196247" y="0"/>
                        </a:cubicBezTo>
                        <a:cubicBezTo>
                          <a:pt x="1401048" y="9419"/>
                          <a:pt x="1589984" y="-731"/>
                          <a:pt x="1806578" y="0"/>
                        </a:cubicBezTo>
                        <a:cubicBezTo>
                          <a:pt x="2023172" y="731"/>
                          <a:pt x="2247754" y="8393"/>
                          <a:pt x="2441321" y="0"/>
                        </a:cubicBezTo>
                        <a:cubicBezTo>
                          <a:pt x="2441167" y="8655"/>
                          <a:pt x="2440437" y="9975"/>
                          <a:pt x="2441321" y="18288"/>
                        </a:cubicBezTo>
                        <a:cubicBezTo>
                          <a:pt x="2169723" y="30506"/>
                          <a:pt x="2045712" y="39140"/>
                          <a:pt x="1830991" y="18288"/>
                        </a:cubicBezTo>
                        <a:cubicBezTo>
                          <a:pt x="1616270" y="-2564"/>
                          <a:pt x="1505876" y="3949"/>
                          <a:pt x="1269487" y="18288"/>
                        </a:cubicBezTo>
                        <a:cubicBezTo>
                          <a:pt x="1033098" y="32627"/>
                          <a:pt x="908661" y="41191"/>
                          <a:pt x="707983" y="18288"/>
                        </a:cubicBezTo>
                        <a:cubicBezTo>
                          <a:pt x="507305" y="-4615"/>
                          <a:pt x="333592" y="20759"/>
                          <a:pt x="0" y="18288"/>
                        </a:cubicBezTo>
                        <a:cubicBezTo>
                          <a:pt x="-688" y="11716"/>
                          <a:pt x="875" y="6357"/>
                          <a:pt x="0" y="0"/>
                        </a:cubicBezTo>
                        <a:close/>
                      </a:path>
                      <a:path w="2441321" h="18288" stroke="0" extrusionOk="0">
                        <a:moveTo>
                          <a:pt x="0" y="0"/>
                        </a:moveTo>
                        <a:cubicBezTo>
                          <a:pt x="207071" y="-14617"/>
                          <a:pt x="444194" y="-15606"/>
                          <a:pt x="585917" y="0"/>
                        </a:cubicBezTo>
                        <a:cubicBezTo>
                          <a:pt x="727640" y="15606"/>
                          <a:pt x="904326" y="-79"/>
                          <a:pt x="1123008" y="0"/>
                        </a:cubicBezTo>
                        <a:cubicBezTo>
                          <a:pt x="1341690" y="79"/>
                          <a:pt x="1600014" y="10401"/>
                          <a:pt x="1782164" y="0"/>
                        </a:cubicBezTo>
                        <a:cubicBezTo>
                          <a:pt x="1964314" y="-10401"/>
                          <a:pt x="2143537" y="-21488"/>
                          <a:pt x="2441321" y="0"/>
                        </a:cubicBezTo>
                        <a:cubicBezTo>
                          <a:pt x="2441735" y="5928"/>
                          <a:pt x="2441551" y="11133"/>
                          <a:pt x="2441321" y="18288"/>
                        </a:cubicBezTo>
                        <a:cubicBezTo>
                          <a:pt x="2166745" y="28773"/>
                          <a:pt x="2078726" y="15476"/>
                          <a:pt x="1879817" y="18288"/>
                        </a:cubicBezTo>
                        <a:cubicBezTo>
                          <a:pt x="1680908" y="21100"/>
                          <a:pt x="1548770" y="-4127"/>
                          <a:pt x="1318313" y="18288"/>
                        </a:cubicBezTo>
                        <a:cubicBezTo>
                          <a:pt x="1087856" y="40703"/>
                          <a:pt x="894613" y="3927"/>
                          <a:pt x="659157" y="18288"/>
                        </a:cubicBezTo>
                        <a:cubicBezTo>
                          <a:pt x="423701" y="32649"/>
                          <a:pt x="246611" y="33975"/>
                          <a:pt x="0" y="18288"/>
                        </a:cubicBezTo>
                        <a:cubicBezTo>
                          <a:pt x="-348" y="10388"/>
                          <a:pt x="-12" y="396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/>
          </a:bodyPr>
          <a:lstStyle/>
          <a:p>
            <a:r>
              <a:rPr lang="en-US" sz="1900" dirty="0"/>
              <a:t>Use Niko Tinbergen’s </a:t>
            </a:r>
            <a:r>
              <a:rPr lang="en-US" sz="1900" u="sng" dirty="0"/>
              <a:t>four ’why’ questions</a:t>
            </a:r>
            <a:r>
              <a:rPr lang="en-US" sz="1900" dirty="0"/>
              <a:t> to try and answer this question: Why do we feel pain?</a:t>
            </a:r>
          </a:p>
          <a:p>
            <a:r>
              <a:rPr lang="en-US" sz="1900" dirty="0"/>
              <a:t>Watch this short video for some insight into why pain (unpleasant as it is) is vital.</a:t>
            </a:r>
          </a:p>
          <a:p>
            <a:pPr marL="0" indent="0">
              <a:buNone/>
            </a:pPr>
            <a:endParaRPr lang="en-US" sz="1900" dirty="0">
              <a:hlinkClick r:id="rId3"/>
            </a:endParaRPr>
          </a:p>
          <a:p>
            <a:pPr marL="0" indent="0">
              <a:buNone/>
            </a:pPr>
            <a:r>
              <a:rPr lang="en-US" sz="1900" dirty="0">
                <a:hlinkClick r:id="rId3"/>
              </a:rPr>
              <a:t>Click here for the video: Teen Who Feels No Pain Counts Her Blessings</a:t>
            </a:r>
            <a:endParaRPr lang="en-US" sz="1900" dirty="0"/>
          </a:p>
        </p:txBody>
      </p:sp>
      <p:pic>
        <p:nvPicPr>
          <p:cNvPr id="4" name="Online Media 3" descr="Tell Me a Story: Teen Who Feels No Pain Counts Her Blessings">
            <a:hlinkClick r:id="" action="ppaction://media"/>
            <a:extLst>
              <a:ext uri="{FF2B5EF4-FFF2-40B4-BE49-F238E27FC236}">
                <a16:creationId xmlns:a16="http://schemas.microsoft.com/office/drawing/2014/main" id="{FB665859-5223-CA41-9D50-6ED3ACF1D7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574286" y="1893665"/>
            <a:ext cx="4094226" cy="30706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1696472" y="-729002"/>
            <a:ext cx="5649003" cy="7988753"/>
          </a:xfrm>
          <a:custGeom>
            <a:avLst/>
            <a:gdLst>
              <a:gd name="connsiteX0" fmla="*/ 0 w 5649003"/>
              <a:gd name="connsiteY0" fmla="*/ 3994377 h 7988753"/>
              <a:gd name="connsiteX1" fmla="*/ 2824502 w 5649003"/>
              <a:gd name="connsiteY1" fmla="*/ 0 h 7988753"/>
              <a:gd name="connsiteX2" fmla="*/ 5649004 w 5649003"/>
              <a:gd name="connsiteY2" fmla="*/ 3994377 h 7988753"/>
              <a:gd name="connsiteX3" fmla="*/ 2824502 w 5649003"/>
              <a:gd name="connsiteY3" fmla="*/ 7988754 h 7988753"/>
              <a:gd name="connsiteX4" fmla="*/ 0 w 5649003"/>
              <a:gd name="connsiteY4" fmla="*/ 3994377 h 7988753"/>
              <a:gd name="connsiteX0" fmla="*/ 0 w 5649003"/>
              <a:gd name="connsiteY0" fmla="*/ 3994377 h 7988753"/>
              <a:gd name="connsiteX1" fmla="*/ 2824502 w 5649003"/>
              <a:gd name="connsiteY1" fmla="*/ 0 h 7988753"/>
              <a:gd name="connsiteX2" fmla="*/ 5649004 w 5649003"/>
              <a:gd name="connsiteY2" fmla="*/ 3994377 h 7988753"/>
              <a:gd name="connsiteX3" fmla="*/ 2824502 w 5649003"/>
              <a:gd name="connsiteY3" fmla="*/ 7988754 h 7988753"/>
              <a:gd name="connsiteX4" fmla="*/ 0 w 5649003"/>
              <a:gd name="connsiteY4" fmla="*/ 3994377 h 798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7988753" fill="none" extrusionOk="0">
                <a:moveTo>
                  <a:pt x="0" y="3994377"/>
                </a:moveTo>
                <a:cubicBezTo>
                  <a:pt x="424224" y="1643174"/>
                  <a:pt x="1462766" y="-59824"/>
                  <a:pt x="2824502" y="0"/>
                </a:cubicBezTo>
                <a:cubicBezTo>
                  <a:pt x="4934720" y="-74372"/>
                  <a:pt x="5242469" y="1696024"/>
                  <a:pt x="5649004" y="3994377"/>
                </a:cubicBezTo>
                <a:cubicBezTo>
                  <a:pt x="5233018" y="6271073"/>
                  <a:pt x="4232022" y="8360951"/>
                  <a:pt x="2824502" y="7988754"/>
                </a:cubicBezTo>
                <a:cubicBezTo>
                  <a:pt x="1418222" y="8194670"/>
                  <a:pt x="392804" y="6616522"/>
                  <a:pt x="0" y="3994377"/>
                </a:cubicBezTo>
                <a:close/>
              </a:path>
              <a:path w="5649003" h="7988753" stroke="0" extrusionOk="0">
                <a:moveTo>
                  <a:pt x="0" y="3994377"/>
                </a:moveTo>
                <a:cubicBezTo>
                  <a:pt x="123390" y="1813414"/>
                  <a:pt x="1291067" y="72567"/>
                  <a:pt x="2824502" y="0"/>
                </a:cubicBezTo>
                <a:cubicBezTo>
                  <a:pt x="4370571" y="-222953"/>
                  <a:pt x="5827395" y="1983629"/>
                  <a:pt x="5649004" y="3994377"/>
                </a:cubicBezTo>
                <a:cubicBezTo>
                  <a:pt x="5342542" y="6154925"/>
                  <a:pt x="4006081" y="8151177"/>
                  <a:pt x="2824502" y="7988754"/>
                </a:cubicBezTo>
                <a:cubicBezTo>
                  <a:pt x="1289219" y="8202242"/>
                  <a:pt x="20941" y="6045451"/>
                  <a:pt x="0" y="3994377"/>
                </a:cubicBezTo>
                <a:close/>
              </a:path>
              <a:path w="5649003" h="7988753" fill="none" stroke="0" extrusionOk="0">
                <a:moveTo>
                  <a:pt x="0" y="3994377"/>
                </a:moveTo>
                <a:cubicBezTo>
                  <a:pt x="154280" y="1692906"/>
                  <a:pt x="1524490" y="113973"/>
                  <a:pt x="2824502" y="0"/>
                </a:cubicBezTo>
                <a:cubicBezTo>
                  <a:pt x="4355556" y="-181075"/>
                  <a:pt x="5548848" y="1928166"/>
                  <a:pt x="5649004" y="3994377"/>
                </a:cubicBezTo>
                <a:cubicBezTo>
                  <a:pt x="5402101" y="6234191"/>
                  <a:pt x="4240307" y="8226734"/>
                  <a:pt x="2824502" y="7988754"/>
                </a:cubicBezTo>
                <a:cubicBezTo>
                  <a:pt x="1223139" y="7818009"/>
                  <a:pt x="-50838" y="6387998"/>
                  <a:pt x="0" y="3994377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custGeom>
                    <a:avLst/>
                    <a:gdLst>
                      <a:gd name="connsiteX0" fmla="*/ 0 w 5649003"/>
                      <a:gd name="connsiteY0" fmla="*/ 3994377 h 7988753"/>
                      <a:gd name="connsiteX1" fmla="*/ 2824502 w 5649003"/>
                      <a:gd name="connsiteY1" fmla="*/ 0 h 7988753"/>
                      <a:gd name="connsiteX2" fmla="*/ 5649004 w 5649003"/>
                      <a:gd name="connsiteY2" fmla="*/ 3994377 h 7988753"/>
                      <a:gd name="connsiteX3" fmla="*/ 2824502 w 5649003"/>
                      <a:gd name="connsiteY3" fmla="*/ 7988754 h 7988753"/>
                      <a:gd name="connsiteX4" fmla="*/ 0 w 5649003"/>
                      <a:gd name="connsiteY4" fmla="*/ 3994377 h 79887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49003" h="7988753" fill="none" extrusionOk="0">
                        <a:moveTo>
                          <a:pt x="0" y="3994377"/>
                        </a:moveTo>
                        <a:cubicBezTo>
                          <a:pt x="186946" y="1724370"/>
                          <a:pt x="1438121" y="-52385"/>
                          <a:pt x="2824502" y="0"/>
                        </a:cubicBezTo>
                        <a:cubicBezTo>
                          <a:pt x="4573533" y="-25557"/>
                          <a:pt x="5524760" y="1760129"/>
                          <a:pt x="5649004" y="3994377"/>
                        </a:cubicBezTo>
                        <a:cubicBezTo>
                          <a:pt x="5518761" y="6222535"/>
                          <a:pt x="4285196" y="8231096"/>
                          <a:pt x="2824502" y="7988754"/>
                        </a:cubicBezTo>
                        <a:cubicBezTo>
                          <a:pt x="1332602" y="8079924"/>
                          <a:pt x="181951" y="6393158"/>
                          <a:pt x="0" y="3994377"/>
                        </a:cubicBezTo>
                        <a:close/>
                      </a:path>
                      <a:path w="5649003" h="7988753" stroke="0" extrusionOk="0">
                        <a:moveTo>
                          <a:pt x="0" y="3994377"/>
                        </a:moveTo>
                        <a:cubicBezTo>
                          <a:pt x="-54350" y="1735993"/>
                          <a:pt x="1351726" y="167869"/>
                          <a:pt x="2824502" y="0"/>
                        </a:cubicBezTo>
                        <a:cubicBezTo>
                          <a:pt x="4343116" y="-29476"/>
                          <a:pt x="5695592" y="2113332"/>
                          <a:pt x="5649004" y="3994377"/>
                        </a:cubicBezTo>
                        <a:cubicBezTo>
                          <a:pt x="5518596" y="6213441"/>
                          <a:pt x="4081190" y="7959286"/>
                          <a:pt x="2824502" y="7988754"/>
                        </a:cubicBezTo>
                        <a:cubicBezTo>
                          <a:pt x="1192166" y="7815502"/>
                          <a:pt x="-92001" y="6198372"/>
                          <a:pt x="0" y="3994377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49908" y="1911096"/>
            <a:ext cx="6041898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Some examples of evolutionary perspectives of health &amp; disease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145769 w 3182692"/>
              <a:gd name="connsiteY2" fmla="*/ 0 h 18288"/>
              <a:gd name="connsiteX3" fmla="*/ 1845961 w 3182692"/>
              <a:gd name="connsiteY3" fmla="*/ 0 h 18288"/>
              <a:gd name="connsiteX4" fmla="*/ 2450673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546154 w 3182692"/>
              <a:gd name="connsiteY7" fmla="*/ 18288 h 18288"/>
              <a:gd name="connsiteX8" fmla="*/ 1845961 w 3182692"/>
              <a:gd name="connsiteY8" fmla="*/ 18288 h 18288"/>
              <a:gd name="connsiteX9" fmla="*/ 1304904 w 3182692"/>
              <a:gd name="connsiteY9" fmla="*/ 18288 h 18288"/>
              <a:gd name="connsiteX10" fmla="*/ 668365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45195" y="-37571"/>
                  <a:pt x="472618" y="-13696"/>
                  <a:pt x="604711" y="0"/>
                </a:cubicBezTo>
                <a:cubicBezTo>
                  <a:pt x="706652" y="-3280"/>
                  <a:pt x="1039328" y="-8567"/>
                  <a:pt x="1241250" y="0"/>
                </a:cubicBezTo>
                <a:cubicBezTo>
                  <a:pt x="1405712" y="-7891"/>
                  <a:pt x="1711158" y="8053"/>
                  <a:pt x="1909615" y="0"/>
                </a:cubicBezTo>
                <a:cubicBezTo>
                  <a:pt x="2107436" y="-40150"/>
                  <a:pt x="2247192" y="19443"/>
                  <a:pt x="2577981" y="0"/>
                </a:cubicBezTo>
                <a:cubicBezTo>
                  <a:pt x="2894393" y="-5855"/>
                  <a:pt x="3041563" y="17846"/>
                  <a:pt x="3182692" y="0"/>
                </a:cubicBezTo>
                <a:cubicBezTo>
                  <a:pt x="3181973" y="8390"/>
                  <a:pt x="3182735" y="11854"/>
                  <a:pt x="3182692" y="18288"/>
                </a:cubicBezTo>
                <a:cubicBezTo>
                  <a:pt x="2975928" y="57450"/>
                  <a:pt x="2667693" y="19406"/>
                  <a:pt x="2482500" y="18288"/>
                </a:cubicBezTo>
                <a:cubicBezTo>
                  <a:pt x="2299734" y="36912"/>
                  <a:pt x="1925962" y="9303"/>
                  <a:pt x="1782308" y="18288"/>
                </a:cubicBezTo>
                <a:cubicBezTo>
                  <a:pt x="1635580" y="20546"/>
                  <a:pt x="1257854" y="-3663"/>
                  <a:pt x="1145769" y="18288"/>
                </a:cubicBezTo>
                <a:cubicBezTo>
                  <a:pt x="1025065" y="56574"/>
                  <a:pt x="247799" y="-11536"/>
                  <a:pt x="0" y="18288"/>
                </a:cubicBezTo>
                <a:cubicBezTo>
                  <a:pt x="-405" y="13204"/>
                  <a:pt x="-1092" y="531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8308" y="19724"/>
                  <a:pt x="431183" y="-26509"/>
                  <a:pt x="604711" y="0"/>
                </a:cubicBezTo>
                <a:cubicBezTo>
                  <a:pt x="795174" y="4405"/>
                  <a:pt x="950067" y="22541"/>
                  <a:pt x="1145769" y="0"/>
                </a:cubicBezTo>
                <a:cubicBezTo>
                  <a:pt x="1301850" y="7702"/>
                  <a:pt x="1499974" y="-70469"/>
                  <a:pt x="1845961" y="0"/>
                </a:cubicBezTo>
                <a:cubicBezTo>
                  <a:pt x="2191264" y="15313"/>
                  <a:pt x="2307232" y="-97"/>
                  <a:pt x="2450673" y="0"/>
                </a:cubicBezTo>
                <a:cubicBezTo>
                  <a:pt x="2596405" y="-19465"/>
                  <a:pt x="3033067" y="-31048"/>
                  <a:pt x="3182692" y="0"/>
                </a:cubicBezTo>
                <a:cubicBezTo>
                  <a:pt x="3182066" y="4696"/>
                  <a:pt x="3183370" y="10269"/>
                  <a:pt x="3182692" y="18288"/>
                </a:cubicBezTo>
                <a:cubicBezTo>
                  <a:pt x="3091120" y="-23022"/>
                  <a:pt x="2811074" y="61693"/>
                  <a:pt x="2546154" y="18288"/>
                </a:cubicBezTo>
                <a:cubicBezTo>
                  <a:pt x="2285186" y="27529"/>
                  <a:pt x="2090205" y="-22321"/>
                  <a:pt x="1845961" y="18288"/>
                </a:cubicBezTo>
                <a:cubicBezTo>
                  <a:pt x="1599794" y="31493"/>
                  <a:pt x="1466284" y="37447"/>
                  <a:pt x="1304904" y="18288"/>
                </a:cubicBezTo>
                <a:cubicBezTo>
                  <a:pt x="1189365" y="43775"/>
                  <a:pt x="952251" y="23461"/>
                  <a:pt x="668365" y="18288"/>
                </a:cubicBezTo>
                <a:cubicBezTo>
                  <a:pt x="407868" y="43595"/>
                  <a:pt x="284672" y="-9405"/>
                  <a:pt x="0" y="18288"/>
                </a:cubicBezTo>
                <a:cubicBezTo>
                  <a:pt x="527" y="9891"/>
                  <a:pt x="870" y="7012"/>
                  <a:pt x="0" y="0"/>
                </a:cubicBezTo>
                <a:close/>
              </a:path>
              <a:path w="3182692" h="18288" fill="none" stroke="0" extrusionOk="0">
                <a:moveTo>
                  <a:pt x="0" y="0"/>
                </a:moveTo>
                <a:cubicBezTo>
                  <a:pt x="108839" y="-32375"/>
                  <a:pt x="447732" y="16552"/>
                  <a:pt x="604711" y="0"/>
                </a:cubicBezTo>
                <a:cubicBezTo>
                  <a:pt x="781899" y="-548"/>
                  <a:pt x="1052060" y="7118"/>
                  <a:pt x="1241250" y="0"/>
                </a:cubicBezTo>
                <a:cubicBezTo>
                  <a:pt x="1399482" y="14083"/>
                  <a:pt x="1706293" y="54730"/>
                  <a:pt x="1909615" y="0"/>
                </a:cubicBezTo>
                <a:cubicBezTo>
                  <a:pt x="2085313" y="-24404"/>
                  <a:pt x="2264415" y="16988"/>
                  <a:pt x="2577981" y="0"/>
                </a:cubicBezTo>
                <a:cubicBezTo>
                  <a:pt x="2926098" y="-10318"/>
                  <a:pt x="3036314" y="-14769"/>
                  <a:pt x="3182692" y="0"/>
                </a:cubicBezTo>
                <a:cubicBezTo>
                  <a:pt x="3181841" y="8135"/>
                  <a:pt x="3181636" y="12730"/>
                  <a:pt x="3182692" y="18288"/>
                </a:cubicBezTo>
                <a:cubicBezTo>
                  <a:pt x="2996012" y="-1231"/>
                  <a:pt x="2669008" y="27395"/>
                  <a:pt x="2482500" y="18288"/>
                </a:cubicBezTo>
                <a:cubicBezTo>
                  <a:pt x="2296543" y="21246"/>
                  <a:pt x="1935236" y="7938"/>
                  <a:pt x="1782308" y="18288"/>
                </a:cubicBezTo>
                <a:cubicBezTo>
                  <a:pt x="1607683" y="25490"/>
                  <a:pt x="1291498" y="1369"/>
                  <a:pt x="1145769" y="18288"/>
                </a:cubicBezTo>
                <a:cubicBezTo>
                  <a:pt x="1015407" y="55325"/>
                  <a:pt x="262557" y="26571"/>
                  <a:pt x="0" y="18288"/>
                </a:cubicBezTo>
                <a:cubicBezTo>
                  <a:pt x="508" y="13336"/>
                  <a:pt x="437" y="727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182692"/>
                      <a:gd name="connsiteY0" fmla="*/ 0 h 18288"/>
                      <a:gd name="connsiteX1" fmla="*/ 604711 w 3182692"/>
                      <a:gd name="connsiteY1" fmla="*/ 0 h 18288"/>
                      <a:gd name="connsiteX2" fmla="*/ 1241250 w 3182692"/>
                      <a:gd name="connsiteY2" fmla="*/ 0 h 18288"/>
                      <a:gd name="connsiteX3" fmla="*/ 1909615 w 3182692"/>
                      <a:gd name="connsiteY3" fmla="*/ 0 h 18288"/>
                      <a:gd name="connsiteX4" fmla="*/ 2577981 w 3182692"/>
                      <a:gd name="connsiteY4" fmla="*/ 0 h 18288"/>
                      <a:gd name="connsiteX5" fmla="*/ 3182692 w 3182692"/>
                      <a:gd name="connsiteY5" fmla="*/ 0 h 18288"/>
                      <a:gd name="connsiteX6" fmla="*/ 3182692 w 3182692"/>
                      <a:gd name="connsiteY6" fmla="*/ 18288 h 18288"/>
                      <a:gd name="connsiteX7" fmla="*/ 2482500 w 3182692"/>
                      <a:gd name="connsiteY7" fmla="*/ 18288 h 18288"/>
                      <a:gd name="connsiteX8" fmla="*/ 1782308 w 3182692"/>
                      <a:gd name="connsiteY8" fmla="*/ 18288 h 18288"/>
                      <a:gd name="connsiteX9" fmla="*/ 1145769 w 3182692"/>
                      <a:gd name="connsiteY9" fmla="*/ 18288 h 18288"/>
                      <a:gd name="connsiteX10" fmla="*/ 0 w 3182692"/>
                      <a:gd name="connsiteY10" fmla="*/ 18288 h 18288"/>
                      <a:gd name="connsiteX11" fmla="*/ 0 w 3182692"/>
                      <a:gd name="connsiteY11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182692" h="18288" fill="none" extrusionOk="0">
                        <a:moveTo>
                          <a:pt x="0" y="0"/>
                        </a:moveTo>
                        <a:cubicBezTo>
                          <a:pt x="126686" y="-21366"/>
                          <a:pt x="467788" y="9025"/>
                          <a:pt x="604711" y="0"/>
                        </a:cubicBezTo>
                        <a:cubicBezTo>
                          <a:pt x="741634" y="-9025"/>
                          <a:pt x="1061620" y="6814"/>
                          <a:pt x="1241250" y="0"/>
                        </a:cubicBezTo>
                        <a:cubicBezTo>
                          <a:pt x="1420880" y="-6814"/>
                          <a:pt x="1713773" y="13383"/>
                          <a:pt x="1909615" y="0"/>
                        </a:cubicBezTo>
                        <a:cubicBezTo>
                          <a:pt x="2105457" y="-13383"/>
                          <a:pt x="2257256" y="13567"/>
                          <a:pt x="2577981" y="0"/>
                        </a:cubicBezTo>
                        <a:cubicBezTo>
                          <a:pt x="2898706" y="-13567"/>
                          <a:pt x="3026063" y="6328"/>
                          <a:pt x="3182692" y="0"/>
                        </a:cubicBezTo>
                        <a:cubicBezTo>
                          <a:pt x="3181983" y="8157"/>
                          <a:pt x="3182279" y="12125"/>
                          <a:pt x="3182692" y="18288"/>
                        </a:cubicBezTo>
                        <a:cubicBezTo>
                          <a:pt x="2998421" y="21742"/>
                          <a:pt x="2675038" y="19014"/>
                          <a:pt x="2482500" y="18288"/>
                        </a:cubicBezTo>
                        <a:cubicBezTo>
                          <a:pt x="2289962" y="17562"/>
                          <a:pt x="1930644" y="6834"/>
                          <a:pt x="1782308" y="18288"/>
                        </a:cubicBezTo>
                        <a:cubicBezTo>
                          <a:pt x="1633972" y="29742"/>
                          <a:pt x="1287388" y="-1992"/>
                          <a:pt x="1145769" y="18288"/>
                        </a:cubicBezTo>
                        <a:cubicBezTo>
                          <a:pt x="1004150" y="38568"/>
                          <a:pt x="256377" y="-37438"/>
                          <a:pt x="0" y="18288"/>
                        </a:cubicBezTo>
                        <a:cubicBezTo>
                          <a:pt x="-46" y="12483"/>
                          <a:pt x="-203" y="6491"/>
                          <a:pt x="0" y="0"/>
                        </a:cubicBezTo>
                        <a:close/>
                      </a:path>
                      <a:path w="3182692" h="18288" stroke="0" extrusionOk="0">
                        <a:moveTo>
                          <a:pt x="0" y="0"/>
                        </a:moveTo>
                        <a:cubicBezTo>
                          <a:pt x="283446" y="18201"/>
                          <a:pt x="432812" y="7290"/>
                          <a:pt x="604711" y="0"/>
                        </a:cubicBezTo>
                        <a:cubicBezTo>
                          <a:pt x="776610" y="-7290"/>
                          <a:pt x="982253" y="15478"/>
                          <a:pt x="1145769" y="0"/>
                        </a:cubicBezTo>
                        <a:cubicBezTo>
                          <a:pt x="1309285" y="-15478"/>
                          <a:pt x="1514247" y="-25520"/>
                          <a:pt x="1845961" y="0"/>
                        </a:cubicBezTo>
                        <a:cubicBezTo>
                          <a:pt x="2177675" y="25520"/>
                          <a:pt x="2297588" y="16646"/>
                          <a:pt x="2450673" y="0"/>
                        </a:cubicBezTo>
                        <a:cubicBezTo>
                          <a:pt x="2603758" y="-16646"/>
                          <a:pt x="3023048" y="-21196"/>
                          <a:pt x="3182692" y="0"/>
                        </a:cubicBezTo>
                        <a:cubicBezTo>
                          <a:pt x="3182428" y="4493"/>
                          <a:pt x="3183076" y="9472"/>
                          <a:pt x="3182692" y="18288"/>
                        </a:cubicBezTo>
                        <a:cubicBezTo>
                          <a:pt x="3039109" y="-12701"/>
                          <a:pt x="2823860" y="13848"/>
                          <a:pt x="2546154" y="18288"/>
                        </a:cubicBezTo>
                        <a:cubicBezTo>
                          <a:pt x="2268448" y="22728"/>
                          <a:pt x="2098674" y="5291"/>
                          <a:pt x="1845961" y="18288"/>
                        </a:cubicBezTo>
                        <a:cubicBezTo>
                          <a:pt x="1593248" y="31285"/>
                          <a:pt x="1456743" y="27560"/>
                          <a:pt x="1304904" y="18288"/>
                        </a:cubicBezTo>
                        <a:cubicBezTo>
                          <a:pt x="1153065" y="9016"/>
                          <a:pt x="947204" y="11126"/>
                          <a:pt x="668365" y="18288"/>
                        </a:cubicBezTo>
                        <a:cubicBezTo>
                          <a:pt x="389526" y="25450"/>
                          <a:pt x="288244" y="-4628"/>
                          <a:pt x="0" y="18288"/>
                        </a:cubicBezTo>
                        <a:cubicBezTo>
                          <a:pt x="843" y="9577"/>
                          <a:pt x="371" y="690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68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300"/>
              <a:t>Adult Lactose Intolerance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830629 w 4480560"/>
              <a:gd name="connsiteY3" fmla="*/ 0 h 13716"/>
              <a:gd name="connsiteX4" fmla="*/ 2425903 w 4480560"/>
              <a:gd name="connsiteY4" fmla="*/ 0 h 13716"/>
              <a:gd name="connsiteX5" fmla="*/ 3021178 w 4480560"/>
              <a:gd name="connsiteY5" fmla="*/ 0 h 13716"/>
              <a:gd name="connsiteX6" fmla="*/ 3750869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930091 w 4480560"/>
              <a:gd name="connsiteY9" fmla="*/ 13716 h 13716"/>
              <a:gd name="connsiteX10" fmla="*/ 3290011 w 4480560"/>
              <a:gd name="connsiteY10" fmla="*/ 13716 h 13716"/>
              <a:gd name="connsiteX11" fmla="*/ 2649931 w 4480560"/>
              <a:gd name="connsiteY11" fmla="*/ 13716 h 13716"/>
              <a:gd name="connsiteX12" fmla="*/ 2054657 w 4480560"/>
              <a:gd name="connsiteY12" fmla="*/ 13716 h 13716"/>
              <a:gd name="connsiteX13" fmla="*/ 1324966 w 4480560"/>
              <a:gd name="connsiteY13" fmla="*/ 13716 h 13716"/>
              <a:gd name="connsiteX14" fmla="*/ 595274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0642" y="3611"/>
                  <a:pt x="4480510" y="9346"/>
                  <a:pt x="4480560" y="13716"/>
                </a:cubicBezTo>
                <a:cubicBezTo>
                  <a:pt x="4305601" y="36948"/>
                  <a:pt x="4025154" y="21890"/>
                  <a:pt x="3840480" y="13716"/>
                </a:cubicBezTo>
                <a:cubicBezTo>
                  <a:pt x="3668919" y="-16903"/>
                  <a:pt x="3556555" y="-17246"/>
                  <a:pt x="3290011" y="13716"/>
                </a:cubicBezTo>
                <a:cubicBezTo>
                  <a:pt x="2991827" y="13600"/>
                  <a:pt x="2862038" y="-27094"/>
                  <a:pt x="2560320" y="13716"/>
                </a:cubicBezTo>
                <a:cubicBezTo>
                  <a:pt x="2273396" y="32804"/>
                  <a:pt x="2159701" y="35426"/>
                  <a:pt x="1965046" y="13716"/>
                </a:cubicBezTo>
                <a:cubicBezTo>
                  <a:pt x="1785994" y="24616"/>
                  <a:pt x="1686680" y="47748"/>
                  <a:pt x="1459382" y="13716"/>
                </a:cubicBezTo>
                <a:cubicBezTo>
                  <a:pt x="1260610" y="398"/>
                  <a:pt x="913962" y="26960"/>
                  <a:pt x="774497" y="13716"/>
                </a:cubicBezTo>
                <a:cubicBezTo>
                  <a:pt x="689426" y="-2719"/>
                  <a:pt x="378264" y="1751"/>
                  <a:pt x="0" y="13716"/>
                </a:cubicBezTo>
                <a:cubicBezTo>
                  <a:pt x="-173" y="8371"/>
                  <a:pt x="-387" y="6213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397" y="3458"/>
                  <a:pt x="4481383" y="8632"/>
                  <a:pt x="4480560" y="13716"/>
                </a:cubicBezTo>
                <a:cubicBezTo>
                  <a:pt x="4261480" y="-10003"/>
                  <a:pt x="4206199" y="28529"/>
                  <a:pt x="3930091" y="13716"/>
                </a:cubicBezTo>
                <a:cubicBezTo>
                  <a:pt x="3666932" y="-15474"/>
                  <a:pt x="3493645" y="14804"/>
                  <a:pt x="3290011" y="13716"/>
                </a:cubicBezTo>
                <a:cubicBezTo>
                  <a:pt x="3137078" y="-41032"/>
                  <a:pt x="2894690" y="-17948"/>
                  <a:pt x="2649931" y="13716"/>
                </a:cubicBezTo>
                <a:cubicBezTo>
                  <a:pt x="2413020" y="21294"/>
                  <a:pt x="2225991" y="-10559"/>
                  <a:pt x="2054657" y="13716"/>
                </a:cubicBezTo>
                <a:cubicBezTo>
                  <a:pt x="1886877" y="37541"/>
                  <a:pt x="1548763" y="45390"/>
                  <a:pt x="1324966" y="13716"/>
                </a:cubicBezTo>
                <a:cubicBezTo>
                  <a:pt x="1040995" y="1897"/>
                  <a:pt x="786929" y="-17655"/>
                  <a:pt x="595274" y="13716"/>
                </a:cubicBezTo>
                <a:cubicBezTo>
                  <a:pt x="371401" y="32831"/>
                  <a:pt x="168483" y="23167"/>
                  <a:pt x="0" y="13716"/>
                </a:cubicBezTo>
                <a:cubicBezTo>
                  <a:pt x="-740" y="8467"/>
                  <a:pt x="-279" y="4434"/>
                  <a:pt x="0" y="0"/>
                </a:cubicBezTo>
                <a:close/>
              </a:path>
              <a:path w="4480560" h="13716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0546" y="3532"/>
                  <a:pt x="4481771" y="9530"/>
                  <a:pt x="4480560" y="13716"/>
                </a:cubicBezTo>
                <a:cubicBezTo>
                  <a:pt x="4299745" y="8025"/>
                  <a:pt x="4055484" y="54224"/>
                  <a:pt x="3840480" y="13716"/>
                </a:cubicBezTo>
                <a:cubicBezTo>
                  <a:pt x="3665362" y="14404"/>
                  <a:pt x="3548412" y="6532"/>
                  <a:pt x="3290011" y="13716"/>
                </a:cubicBezTo>
                <a:cubicBezTo>
                  <a:pt x="3037450" y="36923"/>
                  <a:pt x="2862123" y="43167"/>
                  <a:pt x="2560320" y="13716"/>
                </a:cubicBezTo>
                <a:cubicBezTo>
                  <a:pt x="2308793" y="7156"/>
                  <a:pt x="2153402" y="-25971"/>
                  <a:pt x="1965046" y="13716"/>
                </a:cubicBezTo>
                <a:cubicBezTo>
                  <a:pt x="1778601" y="25944"/>
                  <a:pt x="1672011" y="23840"/>
                  <a:pt x="1459382" y="13716"/>
                </a:cubicBezTo>
                <a:cubicBezTo>
                  <a:pt x="1212351" y="-9856"/>
                  <a:pt x="906131" y="12859"/>
                  <a:pt x="774497" y="13716"/>
                </a:cubicBezTo>
                <a:cubicBezTo>
                  <a:pt x="636671" y="-47283"/>
                  <a:pt x="331670" y="1705"/>
                  <a:pt x="0" y="13716"/>
                </a:cubicBezTo>
                <a:cubicBezTo>
                  <a:pt x="-561" y="8546"/>
                  <a:pt x="-377" y="61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3716"/>
                      <a:gd name="connsiteX1" fmla="*/ 595274 w 4480560"/>
                      <a:gd name="connsiteY1" fmla="*/ 0 h 13716"/>
                      <a:gd name="connsiteX2" fmla="*/ 1100938 w 4480560"/>
                      <a:gd name="connsiteY2" fmla="*/ 0 h 13716"/>
                      <a:gd name="connsiteX3" fmla="*/ 1651406 w 4480560"/>
                      <a:gd name="connsiteY3" fmla="*/ 0 h 13716"/>
                      <a:gd name="connsiteX4" fmla="*/ 2336292 w 4480560"/>
                      <a:gd name="connsiteY4" fmla="*/ 0 h 13716"/>
                      <a:gd name="connsiteX5" fmla="*/ 2931566 w 4480560"/>
                      <a:gd name="connsiteY5" fmla="*/ 0 h 13716"/>
                      <a:gd name="connsiteX6" fmla="*/ 3482035 w 4480560"/>
                      <a:gd name="connsiteY6" fmla="*/ 0 h 13716"/>
                      <a:gd name="connsiteX7" fmla="*/ 4480560 w 4480560"/>
                      <a:gd name="connsiteY7" fmla="*/ 0 h 13716"/>
                      <a:gd name="connsiteX8" fmla="*/ 4480560 w 4480560"/>
                      <a:gd name="connsiteY8" fmla="*/ 13716 h 13716"/>
                      <a:gd name="connsiteX9" fmla="*/ 3840480 w 4480560"/>
                      <a:gd name="connsiteY9" fmla="*/ 13716 h 13716"/>
                      <a:gd name="connsiteX10" fmla="*/ 3290011 w 4480560"/>
                      <a:gd name="connsiteY10" fmla="*/ 13716 h 13716"/>
                      <a:gd name="connsiteX11" fmla="*/ 2560320 w 4480560"/>
                      <a:gd name="connsiteY11" fmla="*/ 13716 h 13716"/>
                      <a:gd name="connsiteX12" fmla="*/ 1965046 w 4480560"/>
                      <a:gd name="connsiteY12" fmla="*/ 13716 h 13716"/>
                      <a:gd name="connsiteX13" fmla="*/ 1459382 w 4480560"/>
                      <a:gd name="connsiteY13" fmla="*/ 13716 h 13716"/>
                      <a:gd name="connsiteX14" fmla="*/ 774497 w 4480560"/>
                      <a:gd name="connsiteY14" fmla="*/ 13716 h 13716"/>
                      <a:gd name="connsiteX15" fmla="*/ 0 w 4480560"/>
                      <a:gd name="connsiteY15" fmla="*/ 13716 h 13716"/>
                      <a:gd name="connsiteX16" fmla="*/ 0 w 4480560"/>
                      <a:gd name="connsiteY16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3716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0273" y="3379"/>
                          <a:pt x="4480768" y="9289"/>
                          <a:pt x="4480560" y="13716"/>
                        </a:cubicBezTo>
                        <a:cubicBezTo>
                          <a:pt x="4314132" y="10352"/>
                          <a:pt x="4028383" y="32060"/>
                          <a:pt x="3840480" y="13716"/>
                        </a:cubicBezTo>
                        <a:cubicBezTo>
                          <a:pt x="3652577" y="-4628"/>
                          <a:pt x="3547615" y="-1724"/>
                          <a:pt x="3290011" y="13716"/>
                        </a:cubicBezTo>
                        <a:cubicBezTo>
                          <a:pt x="3032407" y="29156"/>
                          <a:pt x="2830268" y="4147"/>
                          <a:pt x="2560320" y="13716"/>
                        </a:cubicBezTo>
                        <a:cubicBezTo>
                          <a:pt x="2290372" y="23285"/>
                          <a:pt x="2147422" y="2156"/>
                          <a:pt x="1965046" y="13716"/>
                        </a:cubicBezTo>
                        <a:cubicBezTo>
                          <a:pt x="1782670" y="25276"/>
                          <a:pt x="1689791" y="36108"/>
                          <a:pt x="1459382" y="13716"/>
                        </a:cubicBezTo>
                        <a:cubicBezTo>
                          <a:pt x="1228973" y="-8676"/>
                          <a:pt x="915486" y="31929"/>
                          <a:pt x="774497" y="13716"/>
                        </a:cubicBezTo>
                        <a:cubicBezTo>
                          <a:pt x="633508" y="-4497"/>
                          <a:pt x="361442" y="-15679"/>
                          <a:pt x="0" y="13716"/>
                        </a:cubicBezTo>
                        <a:cubicBezTo>
                          <a:pt x="-362" y="8190"/>
                          <a:pt x="-434" y="6098"/>
                          <a:pt x="0" y="0"/>
                        </a:cubicBezTo>
                        <a:close/>
                      </a:path>
                      <a:path w="4480560" h="13716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360" y="3832"/>
                          <a:pt x="4481152" y="9314"/>
                          <a:pt x="4480560" y="13716"/>
                        </a:cubicBezTo>
                        <a:cubicBezTo>
                          <a:pt x="4279652" y="-11422"/>
                          <a:pt x="4200762" y="36994"/>
                          <a:pt x="3930091" y="13716"/>
                        </a:cubicBezTo>
                        <a:cubicBezTo>
                          <a:pt x="3659420" y="-9562"/>
                          <a:pt x="3456052" y="17722"/>
                          <a:pt x="3290011" y="13716"/>
                        </a:cubicBezTo>
                        <a:cubicBezTo>
                          <a:pt x="3123970" y="9710"/>
                          <a:pt x="2882392" y="28246"/>
                          <a:pt x="2649931" y="13716"/>
                        </a:cubicBezTo>
                        <a:cubicBezTo>
                          <a:pt x="2417470" y="-814"/>
                          <a:pt x="2238426" y="2765"/>
                          <a:pt x="2054657" y="13716"/>
                        </a:cubicBezTo>
                        <a:cubicBezTo>
                          <a:pt x="1870888" y="24667"/>
                          <a:pt x="1566368" y="40468"/>
                          <a:pt x="1324966" y="13716"/>
                        </a:cubicBezTo>
                        <a:cubicBezTo>
                          <a:pt x="1083564" y="-13036"/>
                          <a:pt x="787410" y="6374"/>
                          <a:pt x="595274" y="13716"/>
                        </a:cubicBezTo>
                        <a:cubicBezTo>
                          <a:pt x="403138" y="21058"/>
                          <a:pt x="169622" y="5927"/>
                          <a:pt x="0" y="13716"/>
                        </a:cubicBezTo>
                        <a:cubicBezTo>
                          <a:pt x="-475" y="8699"/>
                          <a:pt x="-565" y="44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 lvl="1"/>
            <a:r>
              <a:rPr lang="en-US" sz="1900"/>
              <a:t>Is this a disease?</a:t>
            </a:r>
          </a:p>
          <a:p>
            <a:pPr lvl="1"/>
            <a:r>
              <a:rPr lang="en-US" sz="1900"/>
              <a:t>Could this be adaptive human variation?</a:t>
            </a:r>
          </a:p>
          <a:p>
            <a:pPr lvl="1"/>
            <a:endParaRPr lang="en-US" sz="1900"/>
          </a:p>
          <a:p>
            <a:r>
              <a:rPr lang="en-US" sz="1900"/>
              <a:t>Most mammals lose the ability to digest lactose after weaning.</a:t>
            </a:r>
          </a:p>
        </p:txBody>
      </p:sp>
    </p:spTree>
    <p:extLst>
      <p:ext uri="{BB962C8B-B14F-4D97-AF65-F5344CB8AC3E}">
        <p14:creationId xmlns:p14="http://schemas.microsoft.com/office/powerpoint/2010/main" val="663798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Adult Lactose Intolerance</a:t>
            </a:r>
          </a:p>
        </p:txBody>
      </p:sp>
      <p:pic>
        <p:nvPicPr>
          <p:cNvPr id="7" name="Content Placeholder 6" descr="Map&#10;&#10;Description automatically generated">
            <a:extLst>
              <a:ext uri="{FF2B5EF4-FFF2-40B4-BE49-F238E27FC236}">
                <a16:creationId xmlns:a16="http://schemas.microsoft.com/office/drawing/2014/main" id="{E29647B3-EA3C-2E47-B090-5928A9409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1850167"/>
            <a:ext cx="8178799" cy="404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8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411" y="4343400"/>
            <a:ext cx="4286250" cy="23907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Biology, Part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600201"/>
            <a:ext cx="8187861" cy="3200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evolution of genotypes that produce lactase (the enzyme that digests lactose) are more prevalent in populations where dairy agricultural practices emerged earlier.</a:t>
            </a:r>
          </a:p>
          <a:p>
            <a:endParaRPr lang="en-US" dirty="0"/>
          </a:p>
          <a:p>
            <a:r>
              <a:rPr lang="en-US" dirty="0"/>
              <a:t>But, several populations have a high consumption of dairy products despite also high rates of lactose intolerance. Why?</a:t>
            </a:r>
          </a:p>
        </p:txBody>
      </p:sp>
    </p:spTree>
    <p:extLst>
      <p:ext uri="{BB962C8B-B14F-4D97-AF65-F5344CB8AC3E}">
        <p14:creationId xmlns:p14="http://schemas.microsoft.com/office/powerpoint/2010/main" val="793365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45810"/>
            <a:ext cx="3840421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Adult Lactose Intolerance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3819146" cy="4351338"/>
          </a:xfrm>
        </p:spPr>
        <p:txBody>
          <a:bodyPr>
            <a:normAutofit/>
          </a:bodyPr>
          <a:lstStyle/>
          <a:p>
            <a:r>
              <a:rPr lang="en-US" dirty="0"/>
              <a:t>Cultural means to reduce lactose content: Greek yogurt, Mongolian </a:t>
            </a:r>
            <a:r>
              <a:rPr lang="en-US" dirty="0" err="1"/>
              <a:t>airag</a:t>
            </a:r>
            <a:r>
              <a:rPr lang="en-US" dirty="0"/>
              <a:t>, cheese, etc.</a:t>
            </a:r>
          </a:p>
          <a:p>
            <a:r>
              <a:rPr lang="en-US" dirty="0"/>
              <a:t>Fermented dairy contains </a:t>
            </a:r>
            <a:r>
              <a:rPr lang="en-US" u="sng" dirty="0"/>
              <a:t>less</a:t>
            </a:r>
            <a:r>
              <a:rPr lang="en-US" dirty="0"/>
              <a:t> lactose.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5426" y="1364732"/>
            <a:ext cx="710616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940" name="Picture 4" descr="http://static1.travelandleisure.com/images/amexpub/0018/0334/201010-w-strangestdish-airag.jpg"/>
          <p:cNvPicPr>
            <a:picLocks noChangeAspect="1" noChangeArrowheads="1"/>
          </p:cNvPicPr>
          <p:nvPr/>
        </p:nvPicPr>
        <p:blipFill rotWithShape="1">
          <a:blip r:embed="rId2" cstate="print"/>
          <a:srcRect r="7476" b="-1"/>
          <a:stretch/>
        </p:blipFill>
        <p:spPr bwMode="auto">
          <a:xfrm>
            <a:off x="5925944" y="2727729"/>
            <a:ext cx="3218056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4022954" y="-170491"/>
            <a:ext cx="4021193" cy="3015895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938" name="Picture 2" descr="http://www.stonyfield.com/sites/default/files/product-image/oikos_5_3oz_strawberry.png"/>
          <p:cNvPicPr>
            <a:picLocks noChangeAspect="1" noChangeArrowheads="1"/>
          </p:cNvPicPr>
          <p:nvPr/>
        </p:nvPicPr>
        <p:blipFill rotWithShape="1">
          <a:blip r:embed="rId3" cstate="print"/>
          <a:srcRect l="11974" r="10967" b="-3"/>
          <a:stretch/>
        </p:blipFill>
        <p:spPr bwMode="auto">
          <a:xfrm>
            <a:off x="4696205" y="1"/>
            <a:ext cx="2639484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67943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8914" name="Picture 2" descr="http://t3.gstatic.com/images?q=tbn:ANd9GcRm7SRGHk_iOfKqC9vneMw_wZr2QYrSZS4FgAhclWC1aeRqWC23"/>
          <p:cNvPicPr>
            <a:picLocks noChangeAspect="1" noChangeArrowheads="1"/>
          </p:cNvPicPr>
          <p:nvPr/>
        </p:nvPicPr>
        <p:blipFill rotWithShape="1">
          <a:blip r:embed="rId3" cstate="print"/>
          <a:srcRect l="6070" r="14132" b="-1"/>
          <a:stretch/>
        </p:blipFill>
        <p:spPr bwMode="auto">
          <a:xfrm>
            <a:off x="-5524" y="10"/>
            <a:ext cx="3641692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73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5148" y="407987"/>
            <a:ext cx="2240924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0286" y="407987"/>
            <a:ext cx="4291113" cy="1325563"/>
          </a:xfrm>
        </p:spPr>
        <p:txBody>
          <a:bodyPr>
            <a:normAutofit/>
          </a:bodyPr>
          <a:lstStyle/>
          <a:p>
            <a:r>
              <a:rPr lang="en-US" dirty="0"/>
              <a:t>Breast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0286" y="1868487"/>
            <a:ext cx="4291113" cy="4351338"/>
          </a:xfrm>
        </p:spPr>
        <p:txBody>
          <a:bodyPr>
            <a:normAutofit/>
          </a:bodyPr>
          <a:lstStyle/>
          <a:p>
            <a:r>
              <a:rPr lang="en-US" dirty="0"/>
              <a:t>How to account for cancers from an evolutionary perspective?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968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Breast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u="sng" dirty="0"/>
              <a:t>Reductions in extrinsic mortality </a:t>
            </a:r>
            <a:r>
              <a:rPr lang="en-US" dirty="0"/>
              <a:t>(such as predation and accidents), yielding greater mortality related to </a:t>
            </a:r>
            <a:r>
              <a:rPr lang="en-US" u="sng" dirty="0"/>
              <a:t>chronic diseases</a:t>
            </a:r>
          </a:p>
          <a:p>
            <a:pPr lvl="1"/>
            <a:r>
              <a:rPr lang="en-US" dirty="0"/>
              <a:t>Human evolution and cancers</a:t>
            </a:r>
          </a:p>
          <a:p>
            <a:pPr lvl="1"/>
            <a:r>
              <a:rPr lang="en-US" dirty="0"/>
              <a:t>Other species and cancers</a:t>
            </a:r>
          </a:p>
          <a:p>
            <a:r>
              <a:rPr lang="en-US" u="sng" dirty="0"/>
              <a:t>Trade-offs</a:t>
            </a:r>
            <a:r>
              <a:rPr lang="en-US" dirty="0"/>
              <a:t>: Female tissues sensitive to growth factors to enhance fitness at expense to reproductive cancers</a:t>
            </a:r>
          </a:p>
          <a:p>
            <a:r>
              <a:rPr lang="en-US" u="sng" dirty="0" err="1"/>
              <a:t>Energetics</a:t>
            </a:r>
            <a:r>
              <a:rPr lang="en-US" u="sng" dirty="0"/>
              <a:t> and development</a:t>
            </a:r>
            <a:r>
              <a:rPr lang="en-US" dirty="0"/>
              <a:t>: Population variation in breast cancer related to diet and other metabolic factors</a:t>
            </a:r>
          </a:p>
        </p:txBody>
      </p:sp>
    </p:spTree>
    <p:extLst>
      <p:ext uri="{BB962C8B-B14F-4D97-AF65-F5344CB8AC3E}">
        <p14:creationId xmlns:p14="http://schemas.microsoft.com/office/powerpoint/2010/main" val="2102617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9141618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9144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554" y="489439"/>
            <a:ext cx="8354891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Breast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48499"/>
            <a:ext cx="6858000" cy="42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60A4D2"/>
                </a:solidFill>
                <a:latin typeface="+mn-lt"/>
                <a:ea typeface="+mn-ea"/>
                <a:cs typeface="+mn-cs"/>
              </a:rPr>
              <a:t>Changes in US disease profile: 1900-2000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3300" y="1479733"/>
            <a:ext cx="20574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9141618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FE9BD280-60F5-5D4F-89E8-DBA838EFE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41" y="2427541"/>
            <a:ext cx="5902393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39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4000"/>
              <a:t>Evolutionary Theory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D84EFE8-C53A-44C4-B289-D1B42CF69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508938" y="-4508938"/>
            <a:ext cx="126124" cy="9144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317" name="Content Placeholder 2">
            <a:extLst>
              <a:ext uri="{FF2B5EF4-FFF2-40B4-BE49-F238E27FC236}">
                <a16:creationId xmlns:a16="http://schemas.microsoft.com/office/drawing/2014/main" id="{15905BC5-8B22-4F36-95B7-40E53FD5C6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5115842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Evolutionary Theory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The universe is about 13 billion years old, Earth about 4.6 billion years old, and life on earth traceable to at least 3.8 billion years in the past</a:t>
            </a:r>
          </a:p>
          <a:p>
            <a:r>
              <a:rPr lang="en-US" dirty="0"/>
              <a:t>The origins of life on earth (from sun or Earth’s core; originally an RNA world?) are subject to continued debate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97661" y="280374"/>
            <a:ext cx="8579095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763" y="433545"/>
            <a:ext cx="8354890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>
                <a:solidFill>
                  <a:srgbClr val="FFFFFF"/>
                </a:solidFill>
              </a:rPr>
              <a:t>Evolution of Life on Earth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72558" y="1522292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6A4A0004-FE9E-4141-BB98-7E8852DB7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13" y="2426818"/>
            <a:ext cx="2593061" cy="399763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8720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picture containing chart&#10;&#10;Description automatically generated">
            <a:extLst>
              <a:ext uri="{FF2B5EF4-FFF2-40B4-BE49-F238E27FC236}">
                <a16:creationId xmlns:a16="http://schemas.microsoft.com/office/drawing/2014/main" id="{3FB296A6-8DC0-034E-A2C4-AF863A9F7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804" y="3811846"/>
            <a:ext cx="4091938" cy="12275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826</Words>
  <Application>Microsoft Macintosh PowerPoint</Application>
  <PresentationFormat>On-screen Show (4:3)</PresentationFormat>
  <Paragraphs>103</Paragraphs>
  <Slides>26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Evolutionary Medicine</vt:lpstr>
      <vt:lpstr>Outline</vt:lpstr>
      <vt:lpstr>What is Biological Anthropology?</vt:lpstr>
      <vt:lpstr>Introduction</vt:lpstr>
      <vt:lpstr>Some Non-Evolutionary Views of Human Health and Disease</vt:lpstr>
      <vt:lpstr>CAIM</vt:lpstr>
      <vt:lpstr>Chinese Traditional Medicine (CTM)</vt:lpstr>
      <vt:lpstr>Social Etiology of Health and Disease</vt:lpstr>
      <vt:lpstr>An Evolutionary Approach to Human Health and Disease</vt:lpstr>
      <vt:lpstr>An Evolutionary Approach to Human Health and Disease</vt:lpstr>
      <vt:lpstr>Variable Time Scales</vt:lpstr>
      <vt:lpstr>Mismatches</vt:lpstr>
      <vt:lpstr>Proximate vs. Ultimate Causation</vt:lpstr>
      <vt:lpstr>Why do you sweat when you’re nervous or frightened?</vt:lpstr>
      <vt:lpstr>Why do you feel pain?</vt:lpstr>
      <vt:lpstr>Some examples of evolutionary perspectives of health &amp; disease</vt:lpstr>
      <vt:lpstr>Adult Lactose Intolerance</vt:lpstr>
      <vt:lpstr>Adult Lactose Intolerance</vt:lpstr>
      <vt:lpstr>Part Biology, Part Culture</vt:lpstr>
      <vt:lpstr>Adult Lactose Intolerance</vt:lpstr>
      <vt:lpstr>Breast Cancer</vt:lpstr>
      <vt:lpstr>Breast Cancer</vt:lpstr>
      <vt:lpstr>Breast Cancer</vt:lpstr>
      <vt:lpstr>Evolutionary Theory</vt:lpstr>
      <vt:lpstr>Evolutionary Theory</vt:lpstr>
      <vt:lpstr>Evolution of Life on Earth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Medicine</dc:title>
  <dc:creator>Michelle Dorne</dc:creator>
  <cp:lastModifiedBy>Michelle Dorne</cp:lastModifiedBy>
  <cp:revision>4</cp:revision>
  <dcterms:created xsi:type="dcterms:W3CDTF">2021-04-28T02:46:03Z</dcterms:created>
  <dcterms:modified xsi:type="dcterms:W3CDTF">2021-06-03T18:17:03Z</dcterms:modified>
</cp:coreProperties>
</file>