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63" r:id="rId7"/>
    <p:sldId id="264" r:id="rId8"/>
    <p:sldId id="265" r:id="rId9"/>
    <p:sldId id="266" r:id="rId10"/>
    <p:sldId id="259" r:id="rId11"/>
    <p:sldId id="268" r:id="rId12"/>
    <p:sldId id="284" r:id="rId13"/>
    <p:sldId id="269" r:id="rId14"/>
    <p:sldId id="285" r:id="rId15"/>
    <p:sldId id="270" r:id="rId16"/>
    <p:sldId id="299" r:id="rId17"/>
    <p:sldId id="272" r:id="rId18"/>
    <p:sldId id="267" r:id="rId19"/>
    <p:sldId id="300" r:id="rId20"/>
    <p:sldId id="271" r:id="rId21"/>
    <p:sldId id="301" r:id="rId22"/>
    <p:sldId id="273" r:id="rId23"/>
    <p:sldId id="302" r:id="rId24"/>
    <p:sldId id="279" r:id="rId25"/>
    <p:sldId id="303" r:id="rId26"/>
    <p:sldId id="280" r:id="rId27"/>
    <p:sldId id="274" r:id="rId28"/>
    <p:sldId id="275" r:id="rId29"/>
    <p:sldId id="283" r:id="rId30"/>
    <p:sldId id="289" r:id="rId31"/>
    <p:sldId id="281" r:id="rId32"/>
    <p:sldId id="294" r:id="rId33"/>
    <p:sldId id="295" r:id="rId34"/>
    <p:sldId id="290" r:id="rId35"/>
    <p:sldId id="296" r:id="rId36"/>
    <p:sldId id="291" r:id="rId37"/>
    <p:sldId id="297" r:id="rId38"/>
    <p:sldId id="292" r:id="rId39"/>
    <p:sldId id="29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4660"/>
  </p:normalViewPr>
  <p:slideViewPr>
    <p:cSldViewPr snapToGrid="0">
      <p:cViewPr varScale="1">
        <p:scale>
          <a:sx n="68" d="100"/>
          <a:sy n="68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47A-EFAB-46CC-AF92-25BF7520C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606DE-70CD-444F-ACCF-D25AD620B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B4653-4520-405D-B80C-4632B504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8330-48AB-4E32-B0C2-39A61A9C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AD82C-2FBC-4392-960F-FE606C4A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8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CDC1-2BD3-42EC-A8F0-E281D9CE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59AC-1E22-4AAF-A79F-97EE4CF27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4554C-098F-4980-8453-DF3A412E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82A9D-3F93-43A4-B647-965C5B93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BF676-4D3F-45A9-AE7B-1229A197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1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BF2-520A-4C37-8399-CD9B4A7F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7113E-5DEF-4D73-9459-D88A5779A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43A5-2F78-4696-B19C-D344E922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69733-5186-4852-801A-C22D0807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F37F4-62F3-41BE-845D-1B9B9854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9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FEDC-E358-4E6A-B2C9-5EB1F431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B0EFA-C044-40E4-8F2B-4340410E6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2AE46-BB7F-4F4C-B4A6-E8F791EEF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F469A-3A2A-4362-835D-1DC5143E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0D9DA-A4B9-4A5E-933A-9C897DE8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5FBCA-1FC2-4F84-837D-C302808B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46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1A3C-D91C-4C18-A135-DCE9C2B7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6147F-AC3B-40DD-8663-5744DB6B6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5920E-E613-4FFD-8025-F2F69EA29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170EF-6497-49D8-9908-5D5642569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50846-3DC3-4732-9345-29E41184D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91F9B-3221-4C4A-89DD-BD46FD1B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97D31-6361-45F6-833F-112D84AB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EF077-A34A-4A83-802A-CD437B68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2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5F24-A862-4E0F-A68E-F2DB4427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69BF1-54C7-4D71-B3FB-3C29B829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78E05-CD9E-4912-96E2-40387009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17857-B59C-4D09-99C6-11F77E19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3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B4E94-F690-4953-A78A-72CC2BF6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7153E-DD7E-40C7-9A53-7B7991D9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14C7C-F04E-4C28-8F11-9BD0D6AD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0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5194-E9C9-4421-9846-8F0582A9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A2A96-FD1D-4CE8-84FD-1D75482FD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9AAB5-459A-479A-91F8-080E456BE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E44C5-8C69-4E17-8770-AE2D7B82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4B525-39DA-4AC1-9613-3ACD8390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6E12B-2667-4201-AA06-55599A51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3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029C-DE09-4A5B-A386-B0B6E387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088AF-06F9-4572-AC39-6736C02AA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3B510-E4CC-413B-B1D3-8A54EDB9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E6697-45A0-4596-A9A9-3CD2EE71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46B4E-48C0-4093-829A-705C16F3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363B-3911-4487-B5AF-303EE17F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1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0E10-FD0C-413B-8D6C-DE9D5A28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8C2DF-FA9B-4124-8AC9-131C242F9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CE73-5FA8-432A-B4C9-F0E8225EB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7584E-A836-41D2-9786-434ED385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F1313-6904-4589-AEA5-9C241BF3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2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C80FC-5C33-4309-A8F1-584E4D75B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F43A4-4B5D-4AF8-BE06-BA06BA99D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64758-5DBA-41DC-AEC7-05170AD0F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861E8-791E-4A91-B97C-35AA1F68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D9B4-63DB-464E-A855-1E54E660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8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4107B-75B1-4BF8-93E6-9BE14CEA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2701D-6FF2-46A3-849C-BCB72A24E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DE115-F6B9-430D-B978-45476F3E0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9E10A-5CB9-4141-956A-0ACD8C3F8AD0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6A3F1-0726-43CD-A40F-68910E61F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CD9C4-EDFB-4678-9EEF-18B417FBF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56A33-17F0-4E08-B6A4-AE97CABF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7A161-D405-44D1-923B-E0DB1F620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6628" y="1783959"/>
            <a:ext cx="4645250" cy="2889114"/>
          </a:xfrm>
        </p:spPr>
        <p:txBody>
          <a:bodyPr anchor="b">
            <a:normAutofit/>
          </a:bodyPr>
          <a:lstStyle/>
          <a:p>
            <a:pPr algn="l"/>
            <a:r>
              <a:rPr lang="en-US" b="1" i="1">
                <a:solidFill>
                  <a:schemeClr val="bg1"/>
                </a:solidFill>
              </a:rPr>
              <a:t>Stratigraphic Age Determination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B397F-1C13-4D88-A076-FCBE71FFB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6627" y="4750893"/>
            <a:ext cx="4645250" cy="1147863"/>
          </a:xfrm>
        </p:spPr>
        <p:txBody>
          <a:bodyPr anchor="t">
            <a:normAutofit fontScale="70000" lnSpcReduction="20000"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AKA. Geologic Sequences</a:t>
            </a:r>
          </a:p>
          <a:p>
            <a:pPr algn="l"/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A self-study in geologic sequences…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Pre Lab/Lab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Image result for geologic time scale">
            <a:extLst>
              <a:ext uri="{FF2B5EF4-FFF2-40B4-BE49-F238E27FC236}">
                <a16:creationId xmlns:a16="http://schemas.microsoft.com/office/drawing/2014/main" id="{79E6ACD6-F5B6-46A6-9C66-B974E9F2DB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1081815" y="489204"/>
            <a:ext cx="2722977" cy="451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3444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09A47A-65DF-4D69-A415-EF05FA9AA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92" y="279201"/>
            <a:ext cx="6775911" cy="33043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6175B5-F531-4709-9F5C-ED23FD09B4DB}"/>
              </a:ext>
            </a:extLst>
          </p:cNvPr>
          <p:cNvSpPr txBox="1"/>
          <p:nvPr/>
        </p:nvSpPr>
        <p:spPr>
          <a:xfrm>
            <a:off x="1819771" y="3593814"/>
            <a:ext cx="85524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You will use the following to put these Geologic Events in order</a:t>
            </a:r>
            <a:r>
              <a:rPr lang="en-US" sz="2400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Superposition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Cross cutting relationships</a:t>
            </a:r>
          </a:p>
          <a:p>
            <a:endParaRPr lang="en-US" sz="2400" b="1" dirty="0"/>
          </a:p>
          <a:p>
            <a:r>
              <a:rPr lang="en-US" sz="2400" b="1" i="1" dirty="0"/>
              <a:t>How to go about putting Geologic sequences in order: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Work from the bottom of the sequence to the top.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Work from the top of the sequence downward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Do both of the above and meet in the middle!</a:t>
            </a:r>
          </a:p>
        </p:txBody>
      </p:sp>
    </p:spTree>
    <p:extLst>
      <p:ext uri="{BB962C8B-B14F-4D97-AF65-F5344CB8AC3E}">
        <p14:creationId xmlns:p14="http://schemas.microsoft.com/office/powerpoint/2010/main" val="245361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09A47A-65DF-4D69-A415-EF05FA9AA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01" y="107636"/>
            <a:ext cx="5485471" cy="2675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6175B5-F531-4709-9F5C-ED23FD09B4DB}"/>
              </a:ext>
            </a:extLst>
          </p:cNvPr>
          <p:cNvSpPr txBox="1"/>
          <p:nvPr/>
        </p:nvSpPr>
        <p:spPr>
          <a:xfrm>
            <a:off x="1180102" y="2782650"/>
            <a:ext cx="98317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 will use the following to put these Geologic Events in order:</a:t>
            </a:r>
          </a:p>
          <a:p>
            <a:r>
              <a:rPr lang="en-US" sz="2800" b="1" i="1" dirty="0"/>
              <a:t>Superposition</a:t>
            </a:r>
          </a:p>
          <a:p>
            <a:r>
              <a:rPr lang="en-US" sz="2400" b="1" dirty="0"/>
              <a:t>The tilted layers are oldest (G)</a:t>
            </a:r>
          </a:p>
          <a:p>
            <a:r>
              <a:rPr lang="en-US" sz="2400" b="1" dirty="0"/>
              <a:t>The horizontal layers “A” are youngest.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800" b="1" i="1" dirty="0"/>
              <a:t>Cross cutting relationships  </a:t>
            </a:r>
          </a:p>
          <a:p>
            <a:r>
              <a:rPr lang="en-US" sz="2400" b="1" dirty="0"/>
              <a:t>“M” cuts across all of the other layers so it is the “youngest” or last to occur.</a:t>
            </a:r>
          </a:p>
          <a:p>
            <a:r>
              <a:rPr lang="en-US" sz="2400" b="1" dirty="0"/>
              <a:t>“T” cuts across “G” so it is younger than “G” but older than “A”</a:t>
            </a:r>
          </a:p>
        </p:txBody>
      </p:sp>
    </p:spTree>
    <p:extLst>
      <p:ext uri="{BB962C8B-B14F-4D97-AF65-F5344CB8AC3E}">
        <p14:creationId xmlns:p14="http://schemas.microsoft.com/office/powerpoint/2010/main" val="354039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09A47A-65DF-4D69-A415-EF05FA9AA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121" y="191279"/>
            <a:ext cx="5485471" cy="2675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6175B5-F531-4709-9F5C-ED23FD09B4DB}"/>
              </a:ext>
            </a:extLst>
          </p:cNvPr>
          <p:cNvSpPr txBox="1"/>
          <p:nvPr/>
        </p:nvSpPr>
        <p:spPr>
          <a:xfrm>
            <a:off x="785217" y="2904980"/>
            <a:ext cx="10961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So…</a:t>
            </a:r>
          </a:p>
          <a:p>
            <a:r>
              <a:rPr lang="en-US" sz="2400" b="1" dirty="0"/>
              <a:t>Youngest Event (Last to happen) 	M – cuts across all other events</a:t>
            </a:r>
          </a:p>
          <a:p>
            <a:r>
              <a:rPr lang="en-US" sz="2400" b="1" dirty="0"/>
              <a:t>					A – On top of T, and G</a:t>
            </a:r>
          </a:p>
          <a:p>
            <a:r>
              <a:rPr lang="en-US" sz="2400" b="1" dirty="0"/>
              <a:t>					T – Cuts across G, T is an Angular Unconformity</a:t>
            </a:r>
          </a:p>
          <a:p>
            <a:r>
              <a:rPr lang="en-US" sz="2400" b="1" dirty="0"/>
              <a:t>Oldest Event (First to happen)	G – Layers deposited, uplifted then eroded.</a:t>
            </a:r>
          </a:p>
        </p:txBody>
      </p:sp>
    </p:spTree>
    <p:extLst>
      <p:ext uri="{BB962C8B-B14F-4D97-AF65-F5344CB8AC3E}">
        <p14:creationId xmlns:p14="http://schemas.microsoft.com/office/powerpoint/2010/main" val="226039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35D1269-3767-418C-AB1C-BCEDC9BF316D}"/>
              </a:ext>
            </a:extLst>
          </p:cNvPr>
          <p:cNvGrpSpPr/>
          <p:nvPr/>
        </p:nvGrpSpPr>
        <p:grpSpPr>
          <a:xfrm>
            <a:off x="3712694" y="1432895"/>
            <a:ext cx="4043442" cy="2385610"/>
            <a:chOff x="6090134" y="1306286"/>
            <a:chExt cx="4043442" cy="23856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E21489D-0751-4D2A-9A57-1E3F58ECD56C}"/>
                </a:ext>
              </a:extLst>
            </p:cNvPr>
            <p:cNvSpPr/>
            <p:nvPr/>
          </p:nvSpPr>
          <p:spPr>
            <a:xfrm>
              <a:off x="6095999" y="1306286"/>
              <a:ext cx="4037046" cy="653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9CB9B8-A743-40A2-9632-E99A3CF83240}"/>
                </a:ext>
              </a:extLst>
            </p:cNvPr>
            <p:cNvSpPr/>
            <p:nvPr/>
          </p:nvSpPr>
          <p:spPr>
            <a:xfrm>
              <a:off x="6090134" y="1959429"/>
              <a:ext cx="4037046" cy="1524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3298BE-BD02-4424-8C65-0CCB96FAFAA7}"/>
                </a:ext>
              </a:extLst>
            </p:cNvPr>
            <p:cNvSpPr/>
            <p:nvPr/>
          </p:nvSpPr>
          <p:spPr>
            <a:xfrm>
              <a:off x="6090768" y="2111829"/>
              <a:ext cx="4037046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BB8C49-4F5F-438F-BCB6-0FF4D47C7855}"/>
                </a:ext>
              </a:extLst>
            </p:cNvPr>
            <p:cNvSpPr/>
            <p:nvPr/>
          </p:nvSpPr>
          <p:spPr>
            <a:xfrm>
              <a:off x="6093649" y="2264229"/>
              <a:ext cx="4037046" cy="3483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B4CCFB-F137-405F-83DD-97BDCAA41E5A}"/>
                </a:ext>
              </a:extLst>
            </p:cNvPr>
            <p:cNvSpPr/>
            <p:nvPr/>
          </p:nvSpPr>
          <p:spPr>
            <a:xfrm>
              <a:off x="6096530" y="2590800"/>
              <a:ext cx="4037046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1EB709-375C-44BE-912D-643BBEA06E74}"/>
                </a:ext>
              </a:extLst>
            </p:cNvPr>
            <p:cNvSpPr/>
            <p:nvPr/>
          </p:nvSpPr>
          <p:spPr>
            <a:xfrm>
              <a:off x="6090134" y="3343553"/>
              <a:ext cx="4037046" cy="348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4C888F8-1985-4699-8694-8DAA09B64777}"/>
              </a:ext>
            </a:extLst>
          </p:cNvPr>
          <p:cNvSpPr txBox="1"/>
          <p:nvPr/>
        </p:nvSpPr>
        <p:spPr>
          <a:xfrm>
            <a:off x="267285" y="355007"/>
            <a:ext cx="2735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Deposition “G”</a:t>
            </a:r>
          </a:p>
        </p:txBody>
      </p:sp>
    </p:spTree>
    <p:extLst>
      <p:ext uri="{BB962C8B-B14F-4D97-AF65-F5344CB8AC3E}">
        <p14:creationId xmlns:p14="http://schemas.microsoft.com/office/powerpoint/2010/main" val="310691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35D1269-3767-418C-AB1C-BCEDC9BF316D}"/>
              </a:ext>
            </a:extLst>
          </p:cNvPr>
          <p:cNvGrpSpPr/>
          <p:nvPr/>
        </p:nvGrpSpPr>
        <p:grpSpPr>
          <a:xfrm rot="3566724">
            <a:off x="3909644" y="1838976"/>
            <a:ext cx="4043442" cy="2385610"/>
            <a:chOff x="6090134" y="1306286"/>
            <a:chExt cx="4043442" cy="23856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E21489D-0751-4D2A-9A57-1E3F58ECD56C}"/>
                </a:ext>
              </a:extLst>
            </p:cNvPr>
            <p:cNvSpPr/>
            <p:nvPr/>
          </p:nvSpPr>
          <p:spPr>
            <a:xfrm>
              <a:off x="6095999" y="1306286"/>
              <a:ext cx="4037046" cy="653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9CB9B8-A743-40A2-9632-E99A3CF83240}"/>
                </a:ext>
              </a:extLst>
            </p:cNvPr>
            <p:cNvSpPr/>
            <p:nvPr/>
          </p:nvSpPr>
          <p:spPr>
            <a:xfrm>
              <a:off x="6090134" y="1959429"/>
              <a:ext cx="4037046" cy="1524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3298BE-BD02-4424-8C65-0CCB96FAFAA7}"/>
                </a:ext>
              </a:extLst>
            </p:cNvPr>
            <p:cNvSpPr/>
            <p:nvPr/>
          </p:nvSpPr>
          <p:spPr>
            <a:xfrm>
              <a:off x="6090768" y="2111829"/>
              <a:ext cx="4037046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BB8C49-4F5F-438F-BCB6-0FF4D47C7855}"/>
                </a:ext>
              </a:extLst>
            </p:cNvPr>
            <p:cNvSpPr/>
            <p:nvPr/>
          </p:nvSpPr>
          <p:spPr>
            <a:xfrm>
              <a:off x="6093649" y="2264229"/>
              <a:ext cx="4037046" cy="3483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B4CCFB-F137-405F-83DD-97BDCAA41E5A}"/>
                </a:ext>
              </a:extLst>
            </p:cNvPr>
            <p:cNvSpPr/>
            <p:nvPr/>
          </p:nvSpPr>
          <p:spPr>
            <a:xfrm>
              <a:off x="6096530" y="2590800"/>
              <a:ext cx="4037046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1EB709-375C-44BE-912D-643BBEA06E74}"/>
                </a:ext>
              </a:extLst>
            </p:cNvPr>
            <p:cNvSpPr/>
            <p:nvPr/>
          </p:nvSpPr>
          <p:spPr>
            <a:xfrm>
              <a:off x="6090134" y="3343553"/>
              <a:ext cx="4037046" cy="348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8BE8335F-BF5A-4004-B299-272CE828C445}"/>
              </a:ext>
            </a:extLst>
          </p:cNvPr>
          <p:cNvSpPr/>
          <p:nvPr/>
        </p:nvSpPr>
        <p:spPr>
          <a:xfrm rot="16200000">
            <a:off x="1751737" y="3054094"/>
            <a:ext cx="2352244" cy="11955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C6C15-FDCA-4DB6-B1FC-40418FF0978E}"/>
              </a:ext>
            </a:extLst>
          </p:cNvPr>
          <p:cNvSpPr txBox="1"/>
          <p:nvPr/>
        </p:nvSpPr>
        <p:spPr>
          <a:xfrm>
            <a:off x="2612523" y="3429000"/>
            <a:ext cx="2177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Uplift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6AA3E-7269-45EF-9CB8-3F510D6D6533}"/>
              </a:ext>
            </a:extLst>
          </p:cNvPr>
          <p:cNvSpPr txBox="1"/>
          <p:nvPr/>
        </p:nvSpPr>
        <p:spPr>
          <a:xfrm>
            <a:off x="267285" y="355007"/>
            <a:ext cx="2735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Uplift of “G”</a:t>
            </a:r>
          </a:p>
        </p:txBody>
      </p:sp>
    </p:spTree>
    <p:extLst>
      <p:ext uri="{BB962C8B-B14F-4D97-AF65-F5344CB8AC3E}">
        <p14:creationId xmlns:p14="http://schemas.microsoft.com/office/powerpoint/2010/main" val="359932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35D1269-3767-418C-AB1C-BCEDC9BF316D}"/>
              </a:ext>
            </a:extLst>
          </p:cNvPr>
          <p:cNvGrpSpPr/>
          <p:nvPr/>
        </p:nvGrpSpPr>
        <p:grpSpPr>
          <a:xfrm rot="3566724">
            <a:off x="3909644" y="1838976"/>
            <a:ext cx="4043442" cy="2385610"/>
            <a:chOff x="6090134" y="1306286"/>
            <a:chExt cx="4043442" cy="23856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E21489D-0751-4D2A-9A57-1E3F58ECD56C}"/>
                </a:ext>
              </a:extLst>
            </p:cNvPr>
            <p:cNvSpPr/>
            <p:nvPr/>
          </p:nvSpPr>
          <p:spPr>
            <a:xfrm>
              <a:off x="6095999" y="1306286"/>
              <a:ext cx="4037046" cy="6531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9CB9B8-A743-40A2-9632-E99A3CF83240}"/>
                </a:ext>
              </a:extLst>
            </p:cNvPr>
            <p:cNvSpPr/>
            <p:nvPr/>
          </p:nvSpPr>
          <p:spPr>
            <a:xfrm>
              <a:off x="6090134" y="1959429"/>
              <a:ext cx="4037046" cy="1524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3298BE-BD02-4424-8C65-0CCB96FAFAA7}"/>
                </a:ext>
              </a:extLst>
            </p:cNvPr>
            <p:cNvSpPr/>
            <p:nvPr/>
          </p:nvSpPr>
          <p:spPr>
            <a:xfrm>
              <a:off x="6090768" y="2111829"/>
              <a:ext cx="4037046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BB8C49-4F5F-438F-BCB6-0FF4D47C7855}"/>
                </a:ext>
              </a:extLst>
            </p:cNvPr>
            <p:cNvSpPr/>
            <p:nvPr/>
          </p:nvSpPr>
          <p:spPr>
            <a:xfrm>
              <a:off x="6093649" y="2264229"/>
              <a:ext cx="4037046" cy="3483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B4CCFB-F137-405F-83DD-97BDCAA41E5A}"/>
                </a:ext>
              </a:extLst>
            </p:cNvPr>
            <p:cNvSpPr/>
            <p:nvPr/>
          </p:nvSpPr>
          <p:spPr>
            <a:xfrm>
              <a:off x="6096530" y="2590800"/>
              <a:ext cx="4037046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1EB709-375C-44BE-912D-643BBEA06E74}"/>
                </a:ext>
              </a:extLst>
            </p:cNvPr>
            <p:cNvSpPr/>
            <p:nvPr/>
          </p:nvSpPr>
          <p:spPr>
            <a:xfrm>
              <a:off x="6090134" y="3343553"/>
              <a:ext cx="4037046" cy="348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EDC6C15-FDCA-4DB6-B1FC-40418FF0978E}"/>
              </a:ext>
            </a:extLst>
          </p:cNvPr>
          <p:cNvSpPr txBox="1"/>
          <p:nvPr/>
        </p:nvSpPr>
        <p:spPr>
          <a:xfrm>
            <a:off x="628651" y="3136612"/>
            <a:ext cx="37242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Erosion of layers “G” after uplift.</a:t>
            </a:r>
          </a:p>
          <a:p>
            <a:r>
              <a:rPr lang="en-US" sz="3200" b="1" dirty="0"/>
              <a:t>This is the unconformity (angular unconformity) “T"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A02802-6DF7-4D59-A68A-507902F4DDAB}"/>
              </a:ext>
            </a:extLst>
          </p:cNvPr>
          <p:cNvSpPr/>
          <p:nvPr/>
        </p:nvSpPr>
        <p:spPr>
          <a:xfrm>
            <a:off x="4163219" y="2450713"/>
            <a:ext cx="2847975" cy="114300"/>
          </a:xfrm>
          <a:custGeom>
            <a:avLst/>
            <a:gdLst>
              <a:gd name="connsiteX0" fmla="*/ 0 w 2847975"/>
              <a:gd name="connsiteY0" fmla="*/ 0 h 114300"/>
              <a:gd name="connsiteX1" fmla="*/ 609600 w 2847975"/>
              <a:gd name="connsiteY1" fmla="*/ 19050 h 114300"/>
              <a:gd name="connsiteX2" fmla="*/ 781050 w 2847975"/>
              <a:gd name="connsiteY2" fmla="*/ 95250 h 114300"/>
              <a:gd name="connsiteX3" fmla="*/ 876300 w 2847975"/>
              <a:gd name="connsiteY3" fmla="*/ 114300 h 114300"/>
              <a:gd name="connsiteX4" fmla="*/ 1038225 w 2847975"/>
              <a:gd name="connsiteY4" fmla="*/ 9525 h 114300"/>
              <a:gd name="connsiteX5" fmla="*/ 1981200 w 2847975"/>
              <a:gd name="connsiteY5" fmla="*/ 0 h 114300"/>
              <a:gd name="connsiteX6" fmla="*/ 2162175 w 2847975"/>
              <a:gd name="connsiteY6" fmla="*/ 66675 h 114300"/>
              <a:gd name="connsiteX7" fmla="*/ 2257425 w 2847975"/>
              <a:gd name="connsiteY7" fmla="*/ 76200 h 114300"/>
              <a:gd name="connsiteX8" fmla="*/ 2381250 w 2847975"/>
              <a:gd name="connsiteY8" fmla="*/ 76200 h 114300"/>
              <a:gd name="connsiteX9" fmla="*/ 2552700 w 2847975"/>
              <a:gd name="connsiteY9" fmla="*/ 57150 h 114300"/>
              <a:gd name="connsiteX10" fmla="*/ 2781300 w 2847975"/>
              <a:gd name="connsiteY10" fmla="*/ 38100 h 114300"/>
              <a:gd name="connsiteX11" fmla="*/ 2847975 w 2847975"/>
              <a:gd name="connsiteY11" fmla="*/ 28575 h 114300"/>
              <a:gd name="connsiteX12" fmla="*/ 2847975 w 2847975"/>
              <a:gd name="connsiteY12" fmla="*/ 28575 h 114300"/>
              <a:gd name="connsiteX13" fmla="*/ 2847975 w 2847975"/>
              <a:gd name="connsiteY13" fmla="*/ 28575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47975" h="114300">
                <a:moveTo>
                  <a:pt x="0" y="0"/>
                </a:moveTo>
                <a:lnTo>
                  <a:pt x="609600" y="19050"/>
                </a:lnTo>
                <a:lnTo>
                  <a:pt x="781050" y="95250"/>
                </a:lnTo>
                <a:lnTo>
                  <a:pt x="876300" y="114300"/>
                </a:lnTo>
                <a:lnTo>
                  <a:pt x="1038225" y="9525"/>
                </a:lnTo>
                <a:lnTo>
                  <a:pt x="1981200" y="0"/>
                </a:lnTo>
                <a:lnTo>
                  <a:pt x="2162175" y="66675"/>
                </a:lnTo>
                <a:lnTo>
                  <a:pt x="2257425" y="76200"/>
                </a:lnTo>
                <a:lnTo>
                  <a:pt x="2381250" y="76200"/>
                </a:lnTo>
                <a:lnTo>
                  <a:pt x="2552700" y="57150"/>
                </a:lnTo>
                <a:lnTo>
                  <a:pt x="2781300" y="38100"/>
                </a:lnTo>
                <a:lnTo>
                  <a:pt x="2847975" y="28575"/>
                </a:lnTo>
                <a:lnTo>
                  <a:pt x="2847975" y="28575"/>
                </a:lnTo>
                <a:lnTo>
                  <a:pt x="2847975" y="28575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C86AC4-FA75-424E-96B1-BE61C4DA380D}"/>
              </a:ext>
            </a:extLst>
          </p:cNvPr>
          <p:cNvSpPr/>
          <p:nvPr/>
        </p:nvSpPr>
        <p:spPr>
          <a:xfrm>
            <a:off x="3705225" y="514350"/>
            <a:ext cx="3448050" cy="2047875"/>
          </a:xfrm>
          <a:custGeom>
            <a:avLst/>
            <a:gdLst>
              <a:gd name="connsiteX0" fmla="*/ 409575 w 3448050"/>
              <a:gd name="connsiteY0" fmla="*/ 1933575 h 2047875"/>
              <a:gd name="connsiteX1" fmla="*/ 847725 w 3448050"/>
              <a:gd name="connsiteY1" fmla="*/ 1905000 h 2047875"/>
              <a:gd name="connsiteX2" fmla="*/ 914400 w 3448050"/>
              <a:gd name="connsiteY2" fmla="*/ 1905000 h 2047875"/>
              <a:gd name="connsiteX3" fmla="*/ 1123950 w 3448050"/>
              <a:gd name="connsiteY3" fmla="*/ 1981200 h 2047875"/>
              <a:gd name="connsiteX4" fmla="*/ 1257300 w 3448050"/>
              <a:gd name="connsiteY4" fmla="*/ 2047875 h 2047875"/>
              <a:gd name="connsiteX5" fmla="*/ 1419225 w 3448050"/>
              <a:gd name="connsiteY5" fmla="*/ 1971675 h 2047875"/>
              <a:gd name="connsiteX6" fmla="*/ 1524000 w 3448050"/>
              <a:gd name="connsiteY6" fmla="*/ 1914525 h 2047875"/>
              <a:gd name="connsiteX7" fmla="*/ 2305050 w 3448050"/>
              <a:gd name="connsiteY7" fmla="*/ 1924050 h 2047875"/>
              <a:gd name="connsiteX8" fmla="*/ 2476500 w 3448050"/>
              <a:gd name="connsiteY8" fmla="*/ 1914525 h 2047875"/>
              <a:gd name="connsiteX9" fmla="*/ 2552700 w 3448050"/>
              <a:gd name="connsiteY9" fmla="*/ 1962150 h 2047875"/>
              <a:gd name="connsiteX10" fmla="*/ 2724150 w 3448050"/>
              <a:gd name="connsiteY10" fmla="*/ 1962150 h 2047875"/>
              <a:gd name="connsiteX11" fmla="*/ 2914650 w 3448050"/>
              <a:gd name="connsiteY11" fmla="*/ 1962150 h 2047875"/>
              <a:gd name="connsiteX12" fmla="*/ 3048000 w 3448050"/>
              <a:gd name="connsiteY12" fmla="*/ 1962150 h 2047875"/>
              <a:gd name="connsiteX13" fmla="*/ 3171825 w 3448050"/>
              <a:gd name="connsiteY13" fmla="*/ 1962150 h 2047875"/>
              <a:gd name="connsiteX14" fmla="*/ 3305175 w 3448050"/>
              <a:gd name="connsiteY14" fmla="*/ 1952625 h 2047875"/>
              <a:gd name="connsiteX15" fmla="*/ 3448050 w 3448050"/>
              <a:gd name="connsiteY15" fmla="*/ 1924050 h 2047875"/>
              <a:gd name="connsiteX16" fmla="*/ 3343275 w 3448050"/>
              <a:gd name="connsiteY16" fmla="*/ 0 h 2047875"/>
              <a:gd name="connsiteX17" fmla="*/ 0 w 3448050"/>
              <a:gd name="connsiteY17" fmla="*/ 38100 h 2047875"/>
              <a:gd name="connsiteX18" fmla="*/ 38100 w 3448050"/>
              <a:gd name="connsiteY18" fmla="*/ 1866900 h 2047875"/>
              <a:gd name="connsiteX19" fmla="*/ 447675 w 3448050"/>
              <a:gd name="connsiteY19" fmla="*/ 1971675 h 2047875"/>
              <a:gd name="connsiteX20" fmla="*/ 409575 w 3448050"/>
              <a:gd name="connsiteY20" fmla="*/ 1933575 h 204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48050" h="2047875">
                <a:moveTo>
                  <a:pt x="409575" y="1933575"/>
                </a:moveTo>
                <a:lnTo>
                  <a:pt x="847725" y="1905000"/>
                </a:lnTo>
                <a:lnTo>
                  <a:pt x="914400" y="1905000"/>
                </a:lnTo>
                <a:lnTo>
                  <a:pt x="1123950" y="1981200"/>
                </a:lnTo>
                <a:lnTo>
                  <a:pt x="1257300" y="2047875"/>
                </a:lnTo>
                <a:lnTo>
                  <a:pt x="1419225" y="1971675"/>
                </a:lnTo>
                <a:lnTo>
                  <a:pt x="1524000" y="1914525"/>
                </a:lnTo>
                <a:lnTo>
                  <a:pt x="2305050" y="1924050"/>
                </a:lnTo>
                <a:lnTo>
                  <a:pt x="2476500" y="1914525"/>
                </a:lnTo>
                <a:lnTo>
                  <a:pt x="2552700" y="1962150"/>
                </a:lnTo>
                <a:lnTo>
                  <a:pt x="2724150" y="1962150"/>
                </a:lnTo>
                <a:lnTo>
                  <a:pt x="2914650" y="1962150"/>
                </a:lnTo>
                <a:lnTo>
                  <a:pt x="3048000" y="1962150"/>
                </a:lnTo>
                <a:lnTo>
                  <a:pt x="3171825" y="1962150"/>
                </a:lnTo>
                <a:lnTo>
                  <a:pt x="3305175" y="1952625"/>
                </a:lnTo>
                <a:lnTo>
                  <a:pt x="3448050" y="1924050"/>
                </a:lnTo>
                <a:lnTo>
                  <a:pt x="3343275" y="0"/>
                </a:lnTo>
                <a:lnTo>
                  <a:pt x="0" y="38100"/>
                </a:lnTo>
                <a:lnTo>
                  <a:pt x="38100" y="1866900"/>
                </a:lnTo>
                <a:lnTo>
                  <a:pt x="447675" y="1971675"/>
                </a:lnTo>
                <a:lnTo>
                  <a:pt x="409575" y="193357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F4717C-320C-4463-A508-AA73C0DF07D6}"/>
              </a:ext>
            </a:extLst>
          </p:cNvPr>
          <p:cNvSpPr txBox="1"/>
          <p:nvPr/>
        </p:nvSpPr>
        <p:spPr>
          <a:xfrm>
            <a:off x="267285" y="355007"/>
            <a:ext cx="8961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Erosion of “G,” formation of unconformity “T”</a:t>
            </a:r>
          </a:p>
        </p:txBody>
      </p:sp>
    </p:spTree>
    <p:extLst>
      <p:ext uri="{BB962C8B-B14F-4D97-AF65-F5344CB8AC3E}">
        <p14:creationId xmlns:p14="http://schemas.microsoft.com/office/powerpoint/2010/main" val="3508298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EDC6C15-FDCA-4DB6-B1FC-40418FF0978E}"/>
              </a:ext>
            </a:extLst>
          </p:cNvPr>
          <p:cNvSpPr txBox="1"/>
          <p:nvPr/>
        </p:nvSpPr>
        <p:spPr>
          <a:xfrm>
            <a:off x="628651" y="3136612"/>
            <a:ext cx="37242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Deposition of layers on top of “T”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088B4E-111A-4B17-9A67-70125E172DD5}"/>
              </a:ext>
            </a:extLst>
          </p:cNvPr>
          <p:cNvGrpSpPr/>
          <p:nvPr/>
        </p:nvGrpSpPr>
        <p:grpSpPr>
          <a:xfrm>
            <a:off x="3705225" y="514350"/>
            <a:ext cx="3630425" cy="4539152"/>
            <a:chOff x="3705225" y="514350"/>
            <a:chExt cx="3630425" cy="453915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5D1269-3767-418C-AB1C-BCEDC9BF316D}"/>
                </a:ext>
              </a:extLst>
            </p:cNvPr>
            <p:cNvGrpSpPr/>
            <p:nvPr/>
          </p:nvGrpSpPr>
          <p:grpSpPr>
            <a:xfrm rot="3566724">
              <a:off x="3909644" y="1838976"/>
              <a:ext cx="4043442" cy="2385610"/>
              <a:chOff x="6090134" y="1306286"/>
              <a:chExt cx="4043442" cy="238561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E21489D-0751-4D2A-9A57-1E3F58ECD56C}"/>
                  </a:ext>
                </a:extLst>
              </p:cNvPr>
              <p:cNvSpPr/>
              <p:nvPr/>
            </p:nvSpPr>
            <p:spPr>
              <a:xfrm>
                <a:off x="6095999" y="1306286"/>
                <a:ext cx="4037046" cy="6531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49CB9B8-A743-40A2-9632-E99A3CF83240}"/>
                  </a:ext>
                </a:extLst>
              </p:cNvPr>
              <p:cNvSpPr/>
              <p:nvPr/>
            </p:nvSpPr>
            <p:spPr>
              <a:xfrm>
                <a:off x="6090134" y="1959429"/>
                <a:ext cx="4037046" cy="1524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3298BE-BD02-4424-8C65-0CCB96FAFAA7}"/>
                  </a:ext>
                </a:extLst>
              </p:cNvPr>
              <p:cNvSpPr/>
              <p:nvPr/>
            </p:nvSpPr>
            <p:spPr>
              <a:xfrm>
                <a:off x="6090768" y="2111829"/>
                <a:ext cx="4037046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2BB8C49-4F5F-438F-BCB6-0FF4D47C7855}"/>
                  </a:ext>
                </a:extLst>
              </p:cNvPr>
              <p:cNvSpPr/>
              <p:nvPr/>
            </p:nvSpPr>
            <p:spPr>
              <a:xfrm>
                <a:off x="6093649" y="2264229"/>
                <a:ext cx="4037046" cy="34834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B4CCFB-F137-405F-83DD-97BDCAA41E5A}"/>
                  </a:ext>
                </a:extLst>
              </p:cNvPr>
              <p:cNvSpPr/>
              <p:nvPr/>
            </p:nvSpPr>
            <p:spPr>
              <a:xfrm>
                <a:off x="6096530" y="2590800"/>
                <a:ext cx="4037046" cy="838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1EB709-375C-44BE-912D-643BBEA06E74}"/>
                  </a:ext>
                </a:extLst>
              </p:cNvPr>
              <p:cNvSpPr/>
              <p:nvPr/>
            </p:nvSpPr>
            <p:spPr>
              <a:xfrm>
                <a:off x="6090134" y="3343553"/>
                <a:ext cx="4037046" cy="3483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6C86AC4-FA75-424E-96B1-BE61C4DA380D}"/>
                </a:ext>
              </a:extLst>
            </p:cNvPr>
            <p:cNvSpPr/>
            <p:nvPr/>
          </p:nvSpPr>
          <p:spPr>
            <a:xfrm>
              <a:off x="3705225" y="514350"/>
              <a:ext cx="3448050" cy="2047875"/>
            </a:xfrm>
            <a:custGeom>
              <a:avLst/>
              <a:gdLst>
                <a:gd name="connsiteX0" fmla="*/ 409575 w 3448050"/>
                <a:gd name="connsiteY0" fmla="*/ 1933575 h 2047875"/>
                <a:gd name="connsiteX1" fmla="*/ 847725 w 3448050"/>
                <a:gd name="connsiteY1" fmla="*/ 1905000 h 2047875"/>
                <a:gd name="connsiteX2" fmla="*/ 914400 w 3448050"/>
                <a:gd name="connsiteY2" fmla="*/ 1905000 h 2047875"/>
                <a:gd name="connsiteX3" fmla="*/ 1123950 w 3448050"/>
                <a:gd name="connsiteY3" fmla="*/ 1981200 h 2047875"/>
                <a:gd name="connsiteX4" fmla="*/ 1257300 w 3448050"/>
                <a:gd name="connsiteY4" fmla="*/ 2047875 h 2047875"/>
                <a:gd name="connsiteX5" fmla="*/ 1419225 w 3448050"/>
                <a:gd name="connsiteY5" fmla="*/ 1971675 h 2047875"/>
                <a:gd name="connsiteX6" fmla="*/ 1524000 w 3448050"/>
                <a:gd name="connsiteY6" fmla="*/ 1914525 h 2047875"/>
                <a:gd name="connsiteX7" fmla="*/ 2305050 w 3448050"/>
                <a:gd name="connsiteY7" fmla="*/ 1924050 h 2047875"/>
                <a:gd name="connsiteX8" fmla="*/ 2476500 w 3448050"/>
                <a:gd name="connsiteY8" fmla="*/ 1914525 h 2047875"/>
                <a:gd name="connsiteX9" fmla="*/ 2552700 w 3448050"/>
                <a:gd name="connsiteY9" fmla="*/ 1962150 h 2047875"/>
                <a:gd name="connsiteX10" fmla="*/ 2724150 w 3448050"/>
                <a:gd name="connsiteY10" fmla="*/ 1962150 h 2047875"/>
                <a:gd name="connsiteX11" fmla="*/ 2914650 w 3448050"/>
                <a:gd name="connsiteY11" fmla="*/ 1962150 h 2047875"/>
                <a:gd name="connsiteX12" fmla="*/ 3048000 w 3448050"/>
                <a:gd name="connsiteY12" fmla="*/ 1962150 h 2047875"/>
                <a:gd name="connsiteX13" fmla="*/ 3171825 w 3448050"/>
                <a:gd name="connsiteY13" fmla="*/ 1962150 h 2047875"/>
                <a:gd name="connsiteX14" fmla="*/ 3305175 w 3448050"/>
                <a:gd name="connsiteY14" fmla="*/ 1952625 h 2047875"/>
                <a:gd name="connsiteX15" fmla="*/ 3448050 w 3448050"/>
                <a:gd name="connsiteY15" fmla="*/ 1924050 h 2047875"/>
                <a:gd name="connsiteX16" fmla="*/ 3343275 w 3448050"/>
                <a:gd name="connsiteY16" fmla="*/ 0 h 2047875"/>
                <a:gd name="connsiteX17" fmla="*/ 0 w 3448050"/>
                <a:gd name="connsiteY17" fmla="*/ 38100 h 2047875"/>
                <a:gd name="connsiteX18" fmla="*/ 38100 w 3448050"/>
                <a:gd name="connsiteY18" fmla="*/ 1866900 h 2047875"/>
                <a:gd name="connsiteX19" fmla="*/ 447675 w 3448050"/>
                <a:gd name="connsiteY19" fmla="*/ 1971675 h 2047875"/>
                <a:gd name="connsiteX20" fmla="*/ 409575 w 3448050"/>
                <a:gd name="connsiteY20" fmla="*/ 1933575 h 204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48050" h="2047875">
                  <a:moveTo>
                    <a:pt x="409575" y="1933575"/>
                  </a:moveTo>
                  <a:lnTo>
                    <a:pt x="847725" y="1905000"/>
                  </a:lnTo>
                  <a:lnTo>
                    <a:pt x="914400" y="1905000"/>
                  </a:lnTo>
                  <a:lnTo>
                    <a:pt x="1123950" y="1981200"/>
                  </a:lnTo>
                  <a:lnTo>
                    <a:pt x="1257300" y="2047875"/>
                  </a:lnTo>
                  <a:lnTo>
                    <a:pt x="1419225" y="1971675"/>
                  </a:lnTo>
                  <a:lnTo>
                    <a:pt x="1524000" y="1914525"/>
                  </a:lnTo>
                  <a:lnTo>
                    <a:pt x="2305050" y="1924050"/>
                  </a:lnTo>
                  <a:lnTo>
                    <a:pt x="2476500" y="1914525"/>
                  </a:lnTo>
                  <a:lnTo>
                    <a:pt x="2552700" y="1962150"/>
                  </a:lnTo>
                  <a:lnTo>
                    <a:pt x="2724150" y="1962150"/>
                  </a:lnTo>
                  <a:lnTo>
                    <a:pt x="2914650" y="1962150"/>
                  </a:lnTo>
                  <a:lnTo>
                    <a:pt x="3048000" y="1962150"/>
                  </a:lnTo>
                  <a:lnTo>
                    <a:pt x="3171825" y="1962150"/>
                  </a:lnTo>
                  <a:lnTo>
                    <a:pt x="3305175" y="1952625"/>
                  </a:lnTo>
                  <a:lnTo>
                    <a:pt x="3448050" y="1924050"/>
                  </a:lnTo>
                  <a:lnTo>
                    <a:pt x="3343275" y="0"/>
                  </a:lnTo>
                  <a:lnTo>
                    <a:pt x="0" y="38100"/>
                  </a:lnTo>
                  <a:lnTo>
                    <a:pt x="38100" y="1866900"/>
                  </a:lnTo>
                  <a:lnTo>
                    <a:pt x="447675" y="1971675"/>
                  </a:lnTo>
                  <a:lnTo>
                    <a:pt x="409575" y="193357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6AE2B7C-65DC-47D2-822D-D7542BF46F84}"/>
                </a:ext>
              </a:extLst>
            </p:cNvPr>
            <p:cNvGrpSpPr/>
            <p:nvPr/>
          </p:nvGrpSpPr>
          <p:grpSpPr>
            <a:xfrm>
              <a:off x="3916268" y="1060580"/>
              <a:ext cx="3419382" cy="1405562"/>
              <a:chOff x="5844534" y="279201"/>
              <a:chExt cx="3419382" cy="140556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1F2D9F-61FD-460E-9E6B-566CE069D785}"/>
                  </a:ext>
                </a:extLst>
              </p:cNvPr>
              <p:cNvSpPr/>
              <p:nvPr/>
            </p:nvSpPr>
            <p:spPr>
              <a:xfrm>
                <a:off x="5844534" y="279201"/>
                <a:ext cx="3419382" cy="3226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E4D7330-A1FB-44BB-9E53-5D6820F2917A}"/>
                  </a:ext>
                </a:extLst>
              </p:cNvPr>
              <p:cNvSpPr/>
              <p:nvPr/>
            </p:nvSpPr>
            <p:spPr>
              <a:xfrm>
                <a:off x="5844534" y="601889"/>
                <a:ext cx="3419382" cy="2267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6DFCF7B-8D77-4C65-B7F3-DFB768F68802}"/>
                  </a:ext>
                </a:extLst>
              </p:cNvPr>
              <p:cNvSpPr/>
              <p:nvPr/>
            </p:nvSpPr>
            <p:spPr>
              <a:xfrm>
                <a:off x="5844534" y="828675"/>
                <a:ext cx="3419382" cy="2267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81AAC8A-3C77-4C05-B515-57AF98E5EAB6}"/>
                  </a:ext>
                </a:extLst>
              </p:cNvPr>
              <p:cNvSpPr/>
              <p:nvPr/>
            </p:nvSpPr>
            <p:spPr>
              <a:xfrm>
                <a:off x="5844534" y="1055461"/>
                <a:ext cx="3419382" cy="30661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8A33429-E6E4-4813-8EE7-23BBD3A8F162}"/>
                  </a:ext>
                </a:extLst>
              </p:cNvPr>
              <p:cNvSpPr/>
              <p:nvPr/>
            </p:nvSpPr>
            <p:spPr>
              <a:xfrm>
                <a:off x="5844534" y="1362075"/>
                <a:ext cx="3419382" cy="3226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A02802-6DF7-4D59-A68A-507902F4DDAB}"/>
                </a:ext>
              </a:extLst>
            </p:cNvPr>
            <p:cNvSpPr/>
            <p:nvPr/>
          </p:nvSpPr>
          <p:spPr>
            <a:xfrm>
              <a:off x="4163219" y="2450713"/>
              <a:ext cx="2847975" cy="114300"/>
            </a:xfrm>
            <a:custGeom>
              <a:avLst/>
              <a:gdLst>
                <a:gd name="connsiteX0" fmla="*/ 0 w 2847975"/>
                <a:gd name="connsiteY0" fmla="*/ 0 h 114300"/>
                <a:gd name="connsiteX1" fmla="*/ 609600 w 2847975"/>
                <a:gd name="connsiteY1" fmla="*/ 19050 h 114300"/>
                <a:gd name="connsiteX2" fmla="*/ 781050 w 2847975"/>
                <a:gd name="connsiteY2" fmla="*/ 95250 h 114300"/>
                <a:gd name="connsiteX3" fmla="*/ 876300 w 2847975"/>
                <a:gd name="connsiteY3" fmla="*/ 114300 h 114300"/>
                <a:gd name="connsiteX4" fmla="*/ 1038225 w 2847975"/>
                <a:gd name="connsiteY4" fmla="*/ 9525 h 114300"/>
                <a:gd name="connsiteX5" fmla="*/ 1981200 w 2847975"/>
                <a:gd name="connsiteY5" fmla="*/ 0 h 114300"/>
                <a:gd name="connsiteX6" fmla="*/ 2162175 w 2847975"/>
                <a:gd name="connsiteY6" fmla="*/ 66675 h 114300"/>
                <a:gd name="connsiteX7" fmla="*/ 2257425 w 2847975"/>
                <a:gd name="connsiteY7" fmla="*/ 76200 h 114300"/>
                <a:gd name="connsiteX8" fmla="*/ 2381250 w 2847975"/>
                <a:gd name="connsiteY8" fmla="*/ 76200 h 114300"/>
                <a:gd name="connsiteX9" fmla="*/ 2552700 w 2847975"/>
                <a:gd name="connsiteY9" fmla="*/ 57150 h 114300"/>
                <a:gd name="connsiteX10" fmla="*/ 2781300 w 2847975"/>
                <a:gd name="connsiteY10" fmla="*/ 38100 h 114300"/>
                <a:gd name="connsiteX11" fmla="*/ 2847975 w 2847975"/>
                <a:gd name="connsiteY11" fmla="*/ 28575 h 114300"/>
                <a:gd name="connsiteX12" fmla="*/ 2847975 w 2847975"/>
                <a:gd name="connsiteY12" fmla="*/ 28575 h 114300"/>
                <a:gd name="connsiteX13" fmla="*/ 2847975 w 2847975"/>
                <a:gd name="connsiteY13" fmla="*/ 28575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47975" h="114300">
                  <a:moveTo>
                    <a:pt x="0" y="0"/>
                  </a:moveTo>
                  <a:lnTo>
                    <a:pt x="609600" y="19050"/>
                  </a:lnTo>
                  <a:lnTo>
                    <a:pt x="781050" y="95250"/>
                  </a:lnTo>
                  <a:lnTo>
                    <a:pt x="876300" y="114300"/>
                  </a:lnTo>
                  <a:lnTo>
                    <a:pt x="1038225" y="9525"/>
                  </a:lnTo>
                  <a:lnTo>
                    <a:pt x="1981200" y="0"/>
                  </a:lnTo>
                  <a:lnTo>
                    <a:pt x="2162175" y="66675"/>
                  </a:lnTo>
                  <a:lnTo>
                    <a:pt x="2257425" y="76200"/>
                  </a:lnTo>
                  <a:lnTo>
                    <a:pt x="2381250" y="76200"/>
                  </a:lnTo>
                  <a:lnTo>
                    <a:pt x="2552700" y="57150"/>
                  </a:lnTo>
                  <a:lnTo>
                    <a:pt x="2781300" y="38100"/>
                  </a:lnTo>
                  <a:lnTo>
                    <a:pt x="2847975" y="28575"/>
                  </a:lnTo>
                  <a:lnTo>
                    <a:pt x="2847975" y="28575"/>
                  </a:lnTo>
                  <a:lnTo>
                    <a:pt x="2847975" y="28575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A9C9B026-FB94-44AC-BF5B-68000C6EEC88}"/>
                </a:ext>
              </a:extLst>
            </p:cNvPr>
            <p:cNvSpPr/>
            <p:nvPr/>
          </p:nvSpPr>
          <p:spPr>
            <a:xfrm>
              <a:off x="4762500" y="2419350"/>
              <a:ext cx="428625" cy="133350"/>
            </a:xfrm>
            <a:custGeom>
              <a:avLst/>
              <a:gdLst>
                <a:gd name="connsiteX0" fmla="*/ 0 w 428625"/>
                <a:gd name="connsiteY0" fmla="*/ 0 h 133350"/>
                <a:gd name="connsiteX1" fmla="*/ 247650 w 428625"/>
                <a:gd name="connsiteY1" fmla="*/ 133350 h 133350"/>
                <a:gd name="connsiteX2" fmla="*/ 428625 w 428625"/>
                <a:gd name="connsiteY2" fmla="*/ 19050 h 133350"/>
                <a:gd name="connsiteX3" fmla="*/ 0 w 428625"/>
                <a:gd name="connsiteY3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25" h="133350">
                  <a:moveTo>
                    <a:pt x="0" y="0"/>
                  </a:moveTo>
                  <a:lnTo>
                    <a:pt x="247650" y="133350"/>
                  </a:lnTo>
                  <a:lnTo>
                    <a:pt x="42862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E239F58-7B9B-4299-B327-351C19E7AEAD}"/>
                </a:ext>
              </a:extLst>
            </p:cNvPr>
            <p:cNvSpPr/>
            <p:nvPr/>
          </p:nvSpPr>
          <p:spPr>
            <a:xfrm>
              <a:off x="6105525" y="2400300"/>
              <a:ext cx="857250" cy="123825"/>
            </a:xfrm>
            <a:custGeom>
              <a:avLst/>
              <a:gdLst>
                <a:gd name="connsiteX0" fmla="*/ 0 w 857250"/>
                <a:gd name="connsiteY0" fmla="*/ 0 h 123825"/>
                <a:gd name="connsiteX1" fmla="*/ 304800 w 857250"/>
                <a:gd name="connsiteY1" fmla="*/ 123825 h 123825"/>
                <a:gd name="connsiteX2" fmla="*/ 571500 w 857250"/>
                <a:gd name="connsiteY2" fmla="*/ 104775 h 123825"/>
                <a:gd name="connsiteX3" fmla="*/ 800100 w 857250"/>
                <a:gd name="connsiteY3" fmla="*/ 57150 h 123825"/>
                <a:gd name="connsiteX4" fmla="*/ 857250 w 857250"/>
                <a:gd name="connsiteY4" fmla="*/ 38100 h 123825"/>
                <a:gd name="connsiteX5" fmla="*/ 0 w 857250"/>
                <a:gd name="connsiteY5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0" h="123825">
                  <a:moveTo>
                    <a:pt x="0" y="0"/>
                  </a:moveTo>
                  <a:lnTo>
                    <a:pt x="304800" y="123825"/>
                  </a:lnTo>
                  <a:lnTo>
                    <a:pt x="571500" y="104775"/>
                  </a:lnTo>
                  <a:lnTo>
                    <a:pt x="800100" y="57150"/>
                  </a:lnTo>
                  <a:lnTo>
                    <a:pt x="85725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9150E0B-7DC7-42E1-9578-6A78C08E32BC}"/>
              </a:ext>
            </a:extLst>
          </p:cNvPr>
          <p:cNvSpPr txBox="1"/>
          <p:nvPr/>
        </p:nvSpPr>
        <p:spPr>
          <a:xfrm>
            <a:off x="267285" y="355007"/>
            <a:ext cx="6400801" cy="583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Deposition “A” superposed on “G”</a:t>
            </a:r>
          </a:p>
        </p:txBody>
      </p:sp>
    </p:spTree>
    <p:extLst>
      <p:ext uri="{BB962C8B-B14F-4D97-AF65-F5344CB8AC3E}">
        <p14:creationId xmlns:p14="http://schemas.microsoft.com/office/powerpoint/2010/main" val="1232394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EDC6C15-FDCA-4DB6-B1FC-40418FF0978E}"/>
              </a:ext>
            </a:extLst>
          </p:cNvPr>
          <p:cNvSpPr txBox="1"/>
          <p:nvPr/>
        </p:nvSpPr>
        <p:spPr>
          <a:xfrm>
            <a:off x="628651" y="3136612"/>
            <a:ext cx="37242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Intrusion of magma into fracture “M”</a:t>
            </a:r>
          </a:p>
          <a:p>
            <a:r>
              <a:rPr lang="en-US" sz="3200" b="1" dirty="0"/>
              <a:t>Cuts across other events.  Is youngest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088B4E-111A-4B17-9A67-70125E172DD5}"/>
              </a:ext>
            </a:extLst>
          </p:cNvPr>
          <p:cNvGrpSpPr/>
          <p:nvPr/>
        </p:nvGrpSpPr>
        <p:grpSpPr>
          <a:xfrm>
            <a:off x="3705225" y="514350"/>
            <a:ext cx="3630425" cy="4539152"/>
            <a:chOff x="3705225" y="514350"/>
            <a:chExt cx="3630425" cy="453915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5D1269-3767-418C-AB1C-BCEDC9BF316D}"/>
                </a:ext>
              </a:extLst>
            </p:cNvPr>
            <p:cNvGrpSpPr/>
            <p:nvPr/>
          </p:nvGrpSpPr>
          <p:grpSpPr>
            <a:xfrm rot="3566724">
              <a:off x="3909644" y="1838976"/>
              <a:ext cx="4043442" cy="2385610"/>
              <a:chOff x="6090134" y="1306286"/>
              <a:chExt cx="4043442" cy="238561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E21489D-0751-4D2A-9A57-1E3F58ECD56C}"/>
                  </a:ext>
                </a:extLst>
              </p:cNvPr>
              <p:cNvSpPr/>
              <p:nvPr/>
            </p:nvSpPr>
            <p:spPr>
              <a:xfrm>
                <a:off x="6095999" y="1306286"/>
                <a:ext cx="4037046" cy="6531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49CB9B8-A743-40A2-9632-E99A3CF83240}"/>
                  </a:ext>
                </a:extLst>
              </p:cNvPr>
              <p:cNvSpPr/>
              <p:nvPr/>
            </p:nvSpPr>
            <p:spPr>
              <a:xfrm>
                <a:off x="6090134" y="1959429"/>
                <a:ext cx="4037046" cy="1524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3298BE-BD02-4424-8C65-0CCB96FAFAA7}"/>
                  </a:ext>
                </a:extLst>
              </p:cNvPr>
              <p:cNvSpPr/>
              <p:nvPr/>
            </p:nvSpPr>
            <p:spPr>
              <a:xfrm>
                <a:off x="6090768" y="2111829"/>
                <a:ext cx="4037046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2BB8C49-4F5F-438F-BCB6-0FF4D47C7855}"/>
                  </a:ext>
                </a:extLst>
              </p:cNvPr>
              <p:cNvSpPr/>
              <p:nvPr/>
            </p:nvSpPr>
            <p:spPr>
              <a:xfrm>
                <a:off x="6093649" y="2264229"/>
                <a:ext cx="4037046" cy="34834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B4CCFB-F137-405F-83DD-97BDCAA41E5A}"/>
                  </a:ext>
                </a:extLst>
              </p:cNvPr>
              <p:cNvSpPr/>
              <p:nvPr/>
            </p:nvSpPr>
            <p:spPr>
              <a:xfrm>
                <a:off x="6096530" y="2590800"/>
                <a:ext cx="4037046" cy="838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1EB709-375C-44BE-912D-643BBEA06E74}"/>
                  </a:ext>
                </a:extLst>
              </p:cNvPr>
              <p:cNvSpPr/>
              <p:nvPr/>
            </p:nvSpPr>
            <p:spPr>
              <a:xfrm>
                <a:off x="6090134" y="3343553"/>
                <a:ext cx="4037046" cy="3483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6C86AC4-FA75-424E-96B1-BE61C4DA380D}"/>
                </a:ext>
              </a:extLst>
            </p:cNvPr>
            <p:cNvSpPr/>
            <p:nvPr/>
          </p:nvSpPr>
          <p:spPr>
            <a:xfrm>
              <a:off x="3705225" y="514350"/>
              <a:ext cx="3448050" cy="2047875"/>
            </a:xfrm>
            <a:custGeom>
              <a:avLst/>
              <a:gdLst>
                <a:gd name="connsiteX0" fmla="*/ 409575 w 3448050"/>
                <a:gd name="connsiteY0" fmla="*/ 1933575 h 2047875"/>
                <a:gd name="connsiteX1" fmla="*/ 847725 w 3448050"/>
                <a:gd name="connsiteY1" fmla="*/ 1905000 h 2047875"/>
                <a:gd name="connsiteX2" fmla="*/ 914400 w 3448050"/>
                <a:gd name="connsiteY2" fmla="*/ 1905000 h 2047875"/>
                <a:gd name="connsiteX3" fmla="*/ 1123950 w 3448050"/>
                <a:gd name="connsiteY3" fmla="*/ 1981200 h 2047875"/>
                <a:gd name="connsiteX4" fmla="*/ 1257300 w 3448050"/>
                <a:gd name="connsiteY4" fmla="*/ 2047875 h 2047875"/>
                <a:gd name="connsiteX5" fmla="*/ 1419225 w 3448050"/>
                <a:gd name="connsiteY5" fmla="*/ 1971675 h 2047875"/>
                <a:gd name="connsiteX6" fmla="*/ 1524000 w 3448050"/>
                <a:gd name="connsiteY6" fmla="*/ 1914525 h 2047875"/>
                <a:gd name="connsiteX7" fmla="*/ 2305050 w 3448050"/>
                <a:gd name="connsiteY7" fmla="*/ 1924050 h 2047875"/>
                <a:gd name="connsiteX8" fmla="*/ 2476500 w 3448050"/>
                <a:gd name="connsiteY8" fmla="*/ 1914525 h 2047875"/>
                <a:gd name="connsiteX9" fmla="*/ 2552700 w 3448050"/>
                <a:gd name="connsiteY9" fmla="*/ 1962150 h 2047875"/>
                <a:gd name="connsiteX10" fmla="*/ 2724150 w 3448050"/>
                <a:gd name="connsiteY10" fmla="*/ 1962150 h 2047875"/>
                <a:gd name="connsiteX11" fmla="*/ 2914650 w 3448050"/>
                <a:gd name="connsiteY11" fmla="*/ 1962150 h 2047875"/>
                <a:gd name="connsiteX12" fmla="*/ 3048000 w 3448050"/>
                <a:gd name="connsiteY12" fmla="*/ 1962150 h 2047875"/>
                <a:gd name="connsiteX13" fmla="*/ 3171825 w 3448050"/>
                <a:gd name="connsiteY13" fmla="*/ 1962150 h 2047875"/>
                <a:gd name="connsiteX14" fmla="*/ 3305175 w 3448050"/>
                <a:gd name="connsiteY14" fmla="*/ 1952625 h 2047875"/>
                <a:gd name="connsiteX15" fmla="*/ 3448050 w 3448050"/>
                <a:gd name="connsiteY15" fmla="*/ 1924050 h 2047875"/>
                <a:gd name="connsiteX16" fmla="*/ 3343275 w 3448050"/>
                <a:gd name="connsiteY16" fmla="*/ 0 h 2047875"/>
                <a:gd name="connsiteX17" fmla="*/ 0 w 3448050"/>
                <a:gd name="connsiteY17" fmla="*/ 38100 h 2047875"/>
                <a:gd name="connsiteX18" fmla="*/ 38100 w 3448050"/>
                <a:gd name="connsiteY18" fmla="*/ 1866900 h 2047875"/>
                <a:gd name="connsiteX19" fmla="*/ 447675 w 3448050"/>
                <a:gd name="connsiteY19" fmla="*/ 1971675 h 2047875"/>
                <a:gd name="connsiteX20" fmla="*/ 409575 w 3448050"/>
                <a:gd name="connsiteY20" fmla="*/ 1933575 h 204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48050" h="2047875">
                  <a:moveTo>
                    <a:pt x="409575" y="1933575"/>
                  </a:moveTo>
                  <a:lnTo>
                    <a:pt x="847725" y="1905000"/>
                  </a:lnTo>
                  <a:lnTo>
                    <a:pt x="914400" y="1905000"/>
                  </a:lnTo>
                  <a:lnTo>
                    <a:pt x="1123950" y="1981200"/>
                  </a:lnTo>
                  <a:lnTo>
                    <a:pt x="1257300" y="2047875"/>
                  </a:lnTo>
                  <a:lnTo>
                    <a:pt x="1419225" y="1971675"/>
                  </a:lnTo>
                  <a:lnTo>
                    <a:pt x="1524000" y="1914525"/>
                  </a:lnTo>
                  <a:lnTo>
                    <a:pt x="2305050" y="1924050"/>
                  </a:lnTo>
                  <a:lnTo>
                    <a:pt x="2476500" y="1914525"/>
                  </a:lnTo>
                  <a:lnTo>
                    <a:pt x="2552700" y="1962150"/>
                  </a:lnTo>
                  <a:lnTo>
                    <a:pt x="2724150" y="1962150"/>
                  </a:lnTo>
                  <a:lnTo>
                    <a:pt x="2914650" y="1962150"/>
                  </a:lnTo>
                  <a:lnTo>
                    <a:pt x="3048000" y="1962150"/>
                  </a:lnTo>
                  <a:lnTo>
                    <a:pt x="3171825" y="1962150"/>
                  </a:lnTo>
                  <a:lnTo>
                    <a:pt x="3305175" y="1952625"/>
                  </a:lnTo>
                  <a:lnTo>
                    <a:pt x="3448050" y="1924050"/>
                  </a:lnTo>
                  <a:lnTo>
                    <a:pt x="3343275" y="0"/>
                  </a:lnTo>
                  <a:lnTo>
                    <a:pt x="0" y="38100"/>
                  </a:lnTo>
                  <a:lnTo>
                    <a:pt x="38100" y="1866900"/>
                  </a:lnTo>
                  <a:lnTo>
                    <a:pt x="447675" y="1971675"/>
                  </a:lnTo>
                  <a:lnTo>
                    <a:pt x="409575" y="1933575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6AE2B7C-65DC-47D2-822D-D7542BF46F84}"/>
                </a:ext>
              </a:extLst>
            </p:cNvPr>
            <p:cNvGrpSpPr/>
            <p:nvPr/>
          </p:nvGrpSpPr>
          <p:grpSpPr>
            <a:xfrm>
              <a:off x="3916268" y="1060580"/>
              <a:ext cx="3419382" cy="1405562"/>
              <a:chOff x="5844534" y="279201"/>
              <a:chExt cx="3419382" cy="140556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1F2D9F-61FD-460E-9E6B-566CE069D785}"/>
                  </a:ext>
                </a:extLst>
              </p:cNvPr>
              <p:cNvSpPr/>
              <p:nvPr/>
            </p:nvSpPr>
            <p:spPr>
              <a:xfrm>
                <a:off x="5844534" y="279201"/>
                <a:ext cx="3419382" cy="3226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E4D7330-A1FB-44BB-9E53-5D6820F2917A}"/>
                  </a:ext>
                </a:extLst>
              </p:cNvPr>
              <p:cNvSpPr/>
              <p:nvPr/>
            </p:nvSpPr>
            <p:spPr>
              <a:xfrm>
                <a:off x="5844534" y="601889"/>
                <a:ext cx="3419382" cy="22678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6DFCF7B-8D77-4C65-B7F3-DFB768F68802}"/>
                  </a:ext>
                </a:extLst>
              </p:cNvPr>
              <p:cNvSpPr/>
              <p:nvPr/>
            </p:nvSpPr>
            <p:spPr>
              <a:xfrm>
                <a:off x="5844534" y="828675"/>
                <a:ext cx="3419382" cy="2267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81AAC8A-3C77-4C05-B515-57AF98E5EAB6}"/>
                  </a:ext>
                </a:extLst>
              </p:cNvPr>
              <p:cNvSpPr/>
              <p:nvPr/>
            </p:nvSpPr>
            <p:spPr>
              <a:xfrm>
                <a:off x="5844534" y="1055461"/>
                <a:ext cx="3419382" cy="30661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8A33429-E6E4-4813-8EE7-23BBD3A8F162}"/>
                  </a:ext>
                </a:extLst>
              </p:cNvPr>
              <p:cNvSpPr/>
              <p:nvPr/>
            </p:nvSpPr>
            <p:spPr>
              <a:xfrm>
                <a:off x="5844534" y="1362075"/>
                <a:ext cx="3419382" cy="3226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A02802-6DF7-4D59-A68A-507902F4DDAB}"/>
                </a:ext>
              </a:extLst>
            </p:cNvPr>
            <p:cNvSpPr/>
            <p:nvPr/>
          </p:nvSpPr>
          <p:spPr>
            <a:xfrm>
              <a:off x="4163219" y="2450713"/>
              <a:ext cx="2847975" cy="114300"/>
            </a:xfrm>
            <a:custGeom>
              <a:avLst/>
              <a:gdLst>
                <a:gd name="connsiteX0" fmla="*/ 0 w 2847975"/>
                <a:gd name="connsiteY0" fmla="*/ 0 h 114300"/>
                <a:gd name="connsiteX1" fmla="*/ 609600 w 2847975"/>
                <a:gd name="connsiteY1" fmla="*/ 19050 h 114300"/>
                <a:gd name="connsiteX2" fmla="*/ 781050 w 2847975"/>
                <a:gd name="connsiteY2" fmla="*/ 95250 h 114300"/>
                <a:gd name="connsiteX3" fmla="*/ 876300 w 2847975"/>
                <a:gd name="connsiteY3" fmla="*/ 114300 h 114300"/>
                <a:gd name="connsiteX4" fmla="*/ 1038225 w 2847975"/>
                <a:gd name="connsiteY4" fmla="*/ 9525 h 114300"/>
                <a:gd name="connsiteX5" fmla="*/ 1981200 w 2847975"/>
                <a:gd name="connsiteY5" fmla="*/ 0 h 114300"/>
                <a:gd name="connsiteX6" fmla="*/ 2162175 w 2847975"/>
                <a:gd name="connsiteY6" fmla="*/ 66675 h 114300"/>
                <a:gd name="connsiteX7" fmla="*/ 2257425 w 2847975"/>
                <a:gd name="connsiteY7" fmla="*/ 76200 h 114300"/>
                <a:gd name="connsiteX8" fmla="*/ 2381250 w 2847975"/>
                <a:gd name="connsiteY8" fmla="*/ 76200 h 114300"/>
                <a:gd name="connsiteX9" fmla="*/ 2552700 w 2847975"/>
                <a:gd name="connsiteY9" fmla="*/ 57150 h 114300"/>
                <a:gd name="connsiteX10" fmla="*/ 2781300 w 2847975"/>
                <a:gd name="connsiteY10" fmla="*/ 38100 h 114300"/>
                <a:gd name="connsiteX11" fmla="*/ 2847975 w 2847975"/>
                <a:gd name="connsiteY11" fmla="*/ 28575 h 114300"/>
                <a:gd name="connsiteX12" fmla="*/ 2847975 w 2847975"/>
                <a:gd name="connsiteY12" fmla="*/ 28575 h 114300"/>
                <a:gd name="connsiteX13" fmla="*/ 2847975 w 2847975"/>
                <a:gd name="connsiteY13" fmla="*/ 28575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47975" h="114300">
                  <a:moveTo>
                    <a:pt x="0" y="0"/>
                  </a:moveTo>
                  <a:lnTo>
                    <a:pt x="609600" y="19050"/>
                  </a:lnTo>
                  <a:lnTo>
                    <a:pt x="781050" y="95250"/>
                  </a:lnTo>
                  <a:lnTo>
                    <a:pt x="876300" y="114300"/>
                  </a:lnTo>
                  <a:lnTo>
                    <a:pt x="1038225" y="9525"/>
                  </a:lnTo>
                  <a:lnTo>
                    <a:pt x="1981200" y="0"/>
                  </a:lnTo>
                  <a:lnTo>
                    <a:pt x="2162175" y="66675"/>
                  </a:lnTo>
                  <a:lnTo>
                    <a:pt x="2257425" y="76200"/>
                  </a:lnTo>
                  <a:lnTo>
                    <a:pt x="2381250" y="76200"/>
                  </a:lnTo>
                  <a:lnTo>
                    <a:pt x="2552700" y="57150"/>
                  </a:lnTo>
                  <a:lnTo>
                    <a:pt x="2781300" y="38100"/>
                  </a:lnTo>
                  <a:lnTo>
                    <a:pt x="2847975" y="28575"/>
                  </a:lnTo>
                  <a:lnTo>
                    <a:pt x="2847975" y="28575"/>
                  </a:lnTo>
                  <a:lnTo>
                    <a:pt x="2847975" y="28575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A9C9B026-FB94-44AC-BF5B-68000C6EEC88}"/>
                </a:ext>
              </a:extLst>
            </p:cNvPr>
            <p:cNvSpPr/>
            <p:nvPr/>
          </p:nvSpPr>
          <p:spPr>
            <a:xfrm>
              <a:off x="4762500" y="2419350"/>
              <a:ext cx="428625" cy="133350"/>
            </a:xfrm>
            <a:custGeom>
              <a:avLst/>
              <a:gdLst>
                <a:gd name="connsiteX0" fmla="*/ 0 w 428625"/>
                <a:gd name="connsiteY0" fmla="*/ 0 h 133350"/>
                <a:gd name="connsiteX1" fmla="*/ 247650 w 428625"/>
                <a:gd name="connsiteY1" fmla="*/ 133350 h 133350"/>
                <a:gd name="connsiteX2" fmla="*/ 428625 w 428625"/>
                <a:gd name="connsiteY2" fmla="*/ 19050 h 133350"/>
                <a:gd name="connsiteX3" fmla="*/ 0 w 428625"/>
                <a:gd name="connsiteY3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25" h="133350">
                  <a:moveTo>
                    <a:pt x="0" y="0"/>
                  </a:moveTo>
                  <a:lnTo>
                    <a:pt x="247650" y="133350"/>
                  </a:lnTo>
                  <a:lnTo>
                    <a:pt x="42862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E239F58-7B9B-4299-B327-351C19E7AEAD}"/>
                </a:ext>
              </a:extLst>
            </p:cNvPr>
            <p:cNvSpPr/>
            <p:nvPr/>
          </p:nvSpPr>
          <p:spPr>
            <a:xfrm>
              <a:off x="6105525" y="2400300"/>
              <a:ext cx="857250" cy="123825"/>
            </a:xfrm>
            <a:custGeom>
              <a:avLst/>
              <a:gdLst>
                <a:gd name="connsiteX0" fmla="*/ 0 w 857250"/>
                <a:gd name="connsiteY0" fmla="*/ 0 h 123825"/>
                <a:gd name="connsiteX1" fmla="*/ 304800 w 857250"/>
                <a:gd name="connsiteY1" fmla="*/ 123825 h 123825"/>
                <a:gd name="connsiteX2" fmla="*/ 571500 w 857250"/>
                <a:gd name="connsiteY2" fmla="*/ 104775 h 123825"/>
                <a:gd name="connsiteX3" fmla="*/ 800100 w 857250"/>
                <a:gd name="connsiteY3" fmla="*/ 57150 h 123825"/>
                <a:gd name="connsiteX4" fmla="*/ 857250 w 857250"/>
                <a:gd name="connsiteY4" fmla="*/ 38100 h 123825"/>
                <a:gd name="connsiteX5" fmla="*/ 0 w 857250"/>
                <a:gd name="connsiteY5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0" h="123825">
                  <a:moveTo>
                    <a:pt x="0" y="0"/>
                  </a:moveTo>
                  <a:lnTo>
                    <a:pt x="304800" y="123825"/>
                  </a:lnTo>
                  <a:lnTo>
                    <a:pt x="571500" y="104775"/>
                  </a:lnTo>
                  <a:lnTo>
                    <a:pt x="800100" y="57150"/>
                  </a:lnTo>
                  <a:lnTo>
                    <a:pt x="85725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B14D00B-5574-4275-8008-E1822BBB244C}"/>
              </a:ext>
            </a:extLst>
          </p:cNvPr>
          <p:cNvSpPr/>
          <p:nvPr/>
        </p:nvSpPr>
        <p:spPr>
          <a:xfrm>
            <a:off x="4887232" y="1328980"/>
            <a:ext cx="2166711" cy="3168997"/>
          </a:xfrm>
          <a:custGeom>
            <a:avLst/>
            <a:gdLst>
              <a:gd name="connsiteX0" fmla="*/ 0 w 2075543"/>
              <a:gd name="connsiteY0" fmla="*/ 2278743 h 2786743"/>
              <a:gd name="connsiteX1" fmla="*/ 348343 w 2075543"/>
              <a:gd name="connsiteY1" fmla="*/ 1814286 h 2786743"/>
              <a:gd name="connsiteX2" fmla="*/ 537028 w 2075543"/>
              <a:gd name="connsiteY2" fmla="*/ 1625600 h 2786743"/>
              <a:gd name="connsiteX3" fmla="*/ 638628 w 2075543"/>
              <a:gd name="connsiteY3" fmla="*/ 1494971 h 2786743"/>
              <a:gd name="connsiteX4" fmla="*/ 696685 w 2075543"/>
              <a:gd name="connsiteY4" fmla="*/ 1320800 h 2786743"/>
              <a:gd name="connsiteX5" fmla="*/ 696685 w 2075543"/>
              <a:gd name="connsiteY5" fmla="*/ 1320800 h 2786743"/>
              <a:gd name="connsiteX6" fmla="*/ 1074057 w 2075543"/>
              <a:gd name="connsiteY6" fmla="*/ 1088571 h 2786743"/>
              <a:gd name="connsiteX7" fmla="*/ 1335314 w 2075543"/>
              <a:gd name="connsiteY7" fmla="*/ 638628 h 2786743"/>
              <a:gd name="connsiteX8" fmla="*/ 1436914 w 2075543"/>
              <a:gd name="connsiteY8" fmla="*/ 464457 h 2786743"/>
              <a:gd name="connsiteX9" fmla="*/ 1465943 w 2075543"/>
              <a:gd name="connsiteY9" fmla="*/ 348343 h 2786743"/>
              <a:gd name="connsiteX10" fmla="*/ 1509485 w 2075543"/>
              <a:gd name="connsiteY10" fmla="*/ 319314 h 2786743"/>
              <a:gd name="connsiteX11" fmla="*/ 1698171 w 2075543"/>
              <a:gd name="connsiteY11" fmla="*/ 217714 h 2786743"/>
              <a:gd name="connsiteX12" fmla="*/ 1770743 w 2075543"/>
              <a:gd name="connsiteY12" fmla="*/ 101600 h 2786743"/>
              <a:gd name="connsiteX13" fmla="*/ 2017485 w 2075543"/>
              <a:gd name="connsiteY13" fmla="*/ 0 h 2786743"/>
              <a:gd name="connsiteX14" fmla="*/ 2075543 w 2075543"/>
              <a:gd name="connsiteY14" fmla="*/ 203200 h 2786743"/>
              <a:gd name="connsiteX15" fmla="*/ 2017485 w 2075543"/>
              <a:gd name="connsiteY15" fmla="*/ 348343 h 2786743"/>
              <a:gd name="connsiteX16" fmla="*/ 1843314 w 2075543"/>
              <a:gd name="connsiteY16" fmla="*/ 508000 h 2786743"/>
              <a:gd name="connsiteX17" fmla="*/ 1669143 w 2075543"/>
              <a:gd name="connsiteY17" fmla="*/ 769257 h 2786743"/>
              <a:gd name="connsiteX18" fmla="*/ 1582057 w 2075543"/>
              <a:gd name="connsiteY18" fmla="*/ 870857 h 2786743"/>
              <a:gd name="connsiteX19" fmla="*/ 1465943 w 2075543"/>
              <a:gd name="connsiteY19" fmla="*/ 1059543 h 2786743"/>
              <a:gd name="connsiteX20" fmla="*/ 1407885 w 2075543"/>
              <a:gd name="connsiteY20" fmla="*/ 1175657 h 2786743"/>
              <a:gd name="connsiteX21" fmla="*/ 1364343 w 2075543"/>
              <a:gd name="connsiteY21" fmla="*/ 1277257 h 2786743"/>
              <a:gd name="connsiteX22" fmla="*/ 1306285 w 2075543"/>
              <a:gd name="connsiteY22" fmla="*/ 1320800 h 2786743"/>
              <a:gd name="connsiteX23" fmla="*/ 1291771 w 2075543"/>
              <a:gd name="connsiteY23" fmla="*/ 1393371 h 2786743"/>
              <a:gd name="connsiteX24" fmla="*/ 1248228 w 2075543"/>
              <a:gd name="connsiteY24" fmla="*/ 1436914 h 2786743"/>
              <a:gd name="connsiteX25" fmla="*/ 1190171 w 2075543"/>
              <a:gd name="connsiteY25" fmla="*/ 1436914 h 2786743"/>
              <a:gd name="connsiteX26" fmla="*/ 1175657 w 2075543"/>
              <a:gd name="connsiteY26" fmla="*/ 1494971 h 2786743"/>
              <a:gd name="connsiteX27" fmla="*/ 1204685 w 2075543"/>
              <a:gd name="connsiteY27" fmla="*/ 1509486 h 2786743"/>
              <a:gd name="connsiteX28" fmla="*/ 1320800 w 2075543"/>
              <a:gd name="connsiteY28" fmla="*/ 1509486 h 2786743"/>
              <a:gd name="connsiteX29" fmla="*/ 1422400 w 2075543"/>
              <a:gd name="connsiteY29" fmla="*/ 1436914 h 2786743"/>
              <a:gd name="connsiteX30" fmla="*/ 1654628 w 2075543"/>
              <a:gd name="connsiteY30" fmla="*/ 1407886 h 2786743"/>
              <a:gd name="connsiteX31" fmla="*/ 1886857 w 2075543"/>
              <a:gd name="connsiteY31" fmla="*/ 1320800 h 2786743"/>
              <a:gd name="connsiteX32" fmla="*/ 1901371 w 2075543"/>
              <a:gd name="connsiteY32" fmla="*/ 1320800 h 2786743"/>
              <a:gd name="connsiteX33" fmla="*/ 1857828 w 2075543"/>
              <a:gd name="connsiteY33" fmla="*/ 1465943 h 2786743"/>
              <a:gd name="connsiteX34" fmla="*/ 1654628 w 2075543"/>
              <a:gd name="connsiteY34" fmla="*/ 1669143 h 2786743"/>
              <a:gd name="connsiteX35" fmla="*/ 1494971 w 2075543"/>
              <a:gd name="connsiteY35" fmla="*/ 1741714 h 2786743"/>
              <a:gd name="connsiteX36" fmla="*/ 1262743 w 2075543"/>
              <a:gd name="connsiteY36" fmla="*/ 1872343 h 2786743"/>
              <a:gd name="connsiteX37" fmla="*/ 1146628 w 2075543"/>
              <a:gd name="connsiteY37" fmla="*/ 1973943 h 2786743"/>
              <a:gd name="connsiteX38" fmla="*/ 682171 w 2075543"/>
              <a:gd name="connsiteY38" fmla="*/ 2612571 h 2786743"/>
              <a:gd name="connsiteX39" fmla="*/ 464457 w 2075543"/>
              <a:gd name="connsiteY39" fmla="*/ 2786743 h 2786743"/>
              <a:gd name="connsiteX40" fmla="*/ 43543 w 2075543"/>
              <a:gd name="connsiteY40" fmla="*/ 2322286 h 2786743"/>
              <a:gd name="connsiteX41" fmla="*/ 0 w 2075543"/>
              <a:gd name="connsiteY41" fmla="*/ 2278743 h 2786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075543" h="2786743">
                <a:moveTo>
                  <a:pt x="0" y="2278743"/>
                </a:moveTo>
                <a:lnTo>
                  <a:pt x="348343" y="1814286"/>
                </a:lnTo>
                <a:lnTo>
                  <a:pt x="537028" y="1625600"/>
                </a:lnTo>
                <a:lnTo>
                  <a:pt x="638628" y="1494971"/>
                </a:lnTo>
                <a:lnTo>
                  <a:pt x="696685" y="1320800"/>
                </a:lnTo>
                <a:lnTo>
                  <a:pt x="696685" y="1320800"/>
                </a:lnTo>
                <a:lnTo>
                  <a:pt x="1074057" y="1088571"/>
                </a:lnTo>
                <a:lnTo>
                  <a:pt x="1335314" y="638628"/>
                </a:lnTo>
                <a:lnTo>
                  <a:pt x="1436914" y="464457"/>
                </a:lnTo>
                <a:lnTo>
                  <a:pt x="1465943" y="348343"/>
                </a:lnTo>
                <a:lnTo>
                  <a:pt x="1509485" y="319314"/>
                </a:lnTo>
                <a:lnTo>
                  <a:pt x="1698171" y="217714"/>
                </a:lnTo>
                <a:lnTo>
                  <a:pt x="1770743" y="101600"/>
                </a:lnTo>
                <a:lnTo>
                  <a:pt x="2017485" y="0"/>
                </a:lnTo>
                <a:lnTo>
                  <a:pt x="2075543" y="203200"/>
                </a:lnTo>
                <a:lnTo>
                  <a:pt x="2017485" y="348343"/>
                </a:lnTo>
                <a:lnTo>
                  <a:pt x="1843314" y="508000"/>
                </a:lnTo>
                <a:lnTo>
                  <a:pt x="1669143" y="769257"/>
                </a:lnTo>
                <a:lnTo>
                  <a:pt x="1582057" y="870857"/>
                </a:lnTo>
                <a:lnTo>
                  <a:pt x="1465943" y="1059543"/>
                </a:lnTo>
                <a:lnTo>
                  <a:pt x="1407885" y="1175657"/>
                </a:lnTo>
                <a:lnTo>
                  <a:pt x="1364343" y="1277257"/>
                </a:lnTo>
                <a:lnTo>
                  <a:pt x="1306285" y="1320800"/>
                </a:lnTo>
                <a:lnTo>
                  <a:pt x="1291771" y="1393371"/>
                </a:lnTo>
                <a:lnTo>
                  <a:pt x="1248228" y="1436914"/>
                </a:lnTo>
                <a:lnTo>
                  <a:pt x="1190171" y="1436914"/>
                </a:lnTo>
                <a:lnTo>
                  <a:pt x="1175657" y="1494971"/>
                </a:lnTo>
                <a:lnTo>
                  <a:pt x="1204685" y="1509486"/>
                </a:lnTo>
                <a:lnTo>
                  <a:pt x="1320800" y="1509486"/>
                </a:lnTo>
                <a:lnTo>
                  <a:pt x="1422400" y="1436914"/>
                </a:lnTo>
                <a:lnTo>
                  <a:pt x="1654628" y="1407886"/>
                </a:lnTo>
                <a:lnTo>
                  <a:pt x="1886857" y="1320800"/>
                </a:lnTo>
                <a:lnTo>
                  <a:pt x="1901371" y="1320800"/>
                </a:lnTo>
                <a:lnTo>
                  <a:pt x="1857828" y="1465943"/>
                </a:lnTo>
                <a:lnTo>
                  <a:pt x="1654628" y="1669143"/>
                </a:lnTo>
                <a:lnTo>
                  <a:pt x="1494971" y="1741714"/>
                </a:lnTo>
                <a:lnTo>
                  <a:pt x="1262743" y="1872343"/>
                </a:lnTo>
                <a:lnTo>
                  <a:pt x="1146628" y="1973943"/>
                </a:lnTo>
                <a:lnTo>
                  <a:pt x="682171" y="2612571"/>
                </a:lnTo>
                <a:lnTo>
                  <a:pt x="464457" y="2786743"/>
                </a:lnTo>
                <a:lnTo>
                  <a:pt x="43543" y="2322286"/>
                </a:lnTo>
                <a:lnTo>
                  <a:pt x="0" y="2278743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3D050A-E1E6-466B-AB88-B469DAFCDAED}"/>
              </a:ext>
            </a:extLst>
          </p:cNvPr>
          <p:cNvSpPr txBox="1"/>
          <p:nvPr/>
        </p:nvSpPr>
        <p:spPr>
          <a:xfrm>
            <a:off x="267285" y="355007"/>
            <a:ext cx="8117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Igneous intrusion “M,” cuts across G, T, and A</a:t>
            </a:r>
          </a:p>
        </p:txBody>
      </p:sp>
    </p:spTree>
    <p:extLst>
      <p:ext uri="{BB962C8B-B14F-4D97-AF65-F5344CB8AC3E}">
        <p14:creationId xmlns:p14="http://schemas.microsoft.com/office/powerpoint/2010/main" val="1527537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0F5C349A-AE13-4057-9C2E-CD7D53A1E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58" y="1145870"/>
            <a:ext cx="7985013" cy="3893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A261A-30E7-4E22-8AEB-2D367B83F03D}"/>
              </a:ext>
            </a:extLst>
          </p:cNvPr>
          <p:cNvSpPr txBox="1"/>
          <p:nvPr/>
        </p:nvSpPr>
        <p:spPr>
          <a:xfrm>
            <a:off x="8723085" y="1349829"/>
            <a:ext cx="31060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 - Youngest</a:t>
            </a:r>
          </a:p>
          <a:p>
            <a:r>
              <a:rPr lang="en-US" sz="4000" b="1" dirty="0"/>
              <a:t>A</a:t>
            </a:r>
          </a:p>
          <a:p>
            <a:r>
              <a:rPr lang="en-US" sz="4000" b="1" dirty="0"/>
              <a:t>T</a:t>
            </a:r>
          </a:p>
          <a:p>
            <a:r>
              <a:rPr lang="en-US" sz="4000" b="1" dirty="0"/>
              <a:t>G - Oldest</a:t>
            </a:r>
          </a:p>
        </p:txBody>
      </p:sp>
    </p:spTree>
    <p:extLst>
      <p:ext uri="{BB962C8B-B14F-4D97-AF65-F5344CB8AC3E}">
        <p14:creationId xmlns:p14="http://schemas.microsoft.com/office/powerpoint/2010/main" val="4100763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6499EB9-F2EE-4A68-945E-FD0A79B4AC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62"/>
          <a:stretch/>
        </p:blipFill>
        <p:spPr>
          <a:xfrm>
            <a:off x="265037" y="460828"/>
            <a:ext cx="6150277" cy="5936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731FC-045D-4254-ABCB-C0310058914D}"/>
              </a:ext>
            </a:extLst>
          </p:cNvPr>
          <p:cNvSpPr txBox="1"/>
          <p:nvPr/>
        </p:nvSpPr>
        <p:spPr>
          <a:xfrm>
            <a:off x="5569707" y="1627087"/>
            <a:ext cx="6357256" cy="4031873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Youngest Event (Last) ______________________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 			______________________</a:t>
            </a:r>
          </a:p>
          <a:p>
            <a:endParaRPr lang="en-US" sz="2400" b="1" dirty="0"/>
          </a:p>
          <a:p>
            <a:r>
              <a:rPr lang="en-US" sz="2400" b="1" dirty="0"/>
              <a:t> 			______________________</a:t>
            </a:r>
          </a:p>
          <a:p>
            <a:endParaRPr lang="en-US" sz="2400" b="1" dirty="0"/>
          </a:p>
          <a:p>
            <a:r>
              <a:rPr lang="en-US" sz="2400" b="1" dirty="0"/>
              <a:t> 			______________________</a:t>
            </a:r>
          </a:p>
          <a:p>
            <a:endParaRPr lang="en-US" sz="2400" b="1" dirty="0"/>
          </a:p>
          <a:p>
            <a:r>
              <a:rPr lang="en-US" sz="2400" b="1" dirty="0"/>
              <a:t>Oldest Event (First) 	______________________ </a:t>
            </a:r>
          </a:p>
          <a:p>
            <a:r>
              <a:rPr lang="en-US" sz="2000" b="1" dirty="0"/>
              <a:t> </a:t>
            </a:r>
          </a:p>
          <a:p>
            <a:r>
              <a:rPr lang="en-US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882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6499EB9-F2EE-4A68-945E-FD0A79B4A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37" y="460828"/>
            <a:ext cx="11661926" cy="5936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731FC-045D-4254-ABCB-C0310058914D}"/>
              </a:ext>
            </a:extLst>
          </p:cNvPr>
          <p:cNvSpPr txBox="1"/>
          <p:nvPr/>
        </p:nvSpPr>
        <p:spPr>
          <a:xfrm>
            <a:off x="5410044" y="1490007"/>
            <a:ext cx="6734629" cy="4031873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Youngest Event (Last) </a:t>
            </a:r>
            <a:r>
              <a:rPr lang="en-US" sz="2400" b="1" u="sng" dirty="0"/>
              <a:t>BASALT</a:t>
            </a:r>
            <a:endParaRPr lang="en-US" sz="2400" b="1" dirty="0"/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 			</a:t>
            </a:r>
            <a:r>
              <a:rPr lang="en-US" sz="2400" b="1" u="sng" dirty="0"/>
              <a:t>FAULT</a:t>
            </a:r>
          </a:p>
          <a:p>
            <a:endParaRPr lang="en-US" sz="2400" b="1" dirty="0"/>
          </a:p>
          <a:p>
            <a:r>
              <a:rPr lang="en-US" sz="2400" b="1" dirty="0"/>
              <a:t> 			</a:t>
            </a:r>
            <a:r>
              <a:rPr lang="en-US" sz="2400" b="1" u="sng" dirty="0"/>
              <a:t>SANDSTONE</a:t>
            </a:r>
          </a:p>
          <a:p>
            <a:endParaRPr lang="en-US" sz="2400" b="1" dirty="0"/>
          </a:p>
          <a:p>
            <a:r>
              <a:rPr lang="en-US" sz="2400" b="1" dirty="0"/>
              <a:t> 			</a:t>
            </a:r>
            <a:r>
              <a:rPr lang="en-US" sz="2400" b="1" u="sng" dirty="0"/>
              <a:t>SHALE</a:t>
            </a:r>
          </a:p>
          <a:p>
            <a:endParaRPr lang="en-US" sz="2400" b="1" dirty="0"/>
          </a:p>
          <a:p>
            <a:r>
              <a:rPr lang="en-US" sz="2400" b="1" dirty="0"/>
              <a:t>Oldest Event (First) 	</a:t>
            </a:r>
            <a:r>
              <a:rPr lang="en-US" sz="2400" b="1" u="sng" dirty="0"/>
              <a:t>LIMESTONE</a:t>
            </a:r>
            <a:r>
              <a:rPr lang="en-US" sz="2400" b="1" dirty="0"/>
              <a:t> </a:t>
            </a:r>
          </a:p>
          <a:p>
            <a:r>
              <a:rPr lang="en-US" sz="2000" b="1" dirty="0"/>
              <a:t> </a:t>
            </a:r>
          </a:p>
          <a:p>
            <a:r>
              <a:rPr lang="en-US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73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353B875-E04B-446F-8086-DA08663BBE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43"/>
          <a:stretch/>
        </p:blipFill>
        <p:spPr>
          <a:xfrm>
            <a:off x="4895094" y="3251200"/>
            <a:ext cx="7038238" cy="471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65B8D-37E6-4B56-AE86-71D5DD4884B1}"/>
              </a:ext>
            </a:extLst>
          </p:cNvPr>
          <p:cNvSpPr txBox="1"/>
          <p:nvPr/>
        </p:nvSpPr>
        <p:spPr>
          <a:xfrm>
            <a:off x="576793" y="428171"/>
            <a:ext cx="5519207" cy="430887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Youngest Event (Last)	 ______________________</a:t>
            </a:r>
          </a:p>
          <a:p>
            <a:r>
              <a:rPr lang="en-US" b="1" dirty="0"/>
              <a:t> </a:t>
            </a:r>
          </a:p>
          <a:p>
            <a:r>
              <a:rPr lang="en-US" b="1" dirty="0"/>
              <a:t> 			______________________</a:t>
            </a:r>
          </a:p>
          <a:p>
            <a:endParaRPr lang="en-US" b="1" dirty="0"/>
          </a:p>
          <a:p>
            <a:r>
              <a:rPr lang="en-US" b="1" dirty="0"/>
              <a:t> 			______________________</a:t>
            </a:r>
          </a:p>
          <a:p>
            <a:endParaRPr lang="en-US" b="1" dirty="0"/>
          </a:p>
          <a:p>
            <a:r>
              <a:rPr lang="en-US" b="1" dirty="0"/>
              <a:t> 			______________________</a:t>
            </a:r>
          </a:p>
          <a:p>
            <a:endParaRPr lang="en-US" b="1" dirty="0"/>
          </a:p>
          <a:p>
            <a:r>
              <a:rPr lang="en-US" b="1" dirty="0"/>
              <a:t> 			______________________</a:t>
            </a:r>
          </a:p>
          <a:p>
            <a:endParaRPr lang="en-US" b="1" dirty="0"/>
          </a:p>
          <a:p>
            <a:r>
              <a:rPr lang="en-US" b="1" dirty="0"/>
              <a:t> 			______________________</a:t>
            </a:r>
          </a:p>
          <a:p>
            <a:endParaRPr lang="en-US" b="1" dirty="0"/>
          </a:p>
          <a:p>
            <a:r>
              <a:rPr lang="en-US" b="1" dirty="0"/>
              <a:t>Oldest Event (First) 	______________________ </a:t>
            </a:r>
          </a:p>
          <a:p>
            <a:r>
              <a:rPr lang="en-US" sz="2000" b="1" dirty="0"/>
              <a:t> </a:t>
            </a:r>
          </a:p>
          <a:p>
            <a:r>
              <a:rPr lang="en-US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146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353B875-E04B-446F-8086-DA08663BBE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43"/>
          <a:stretch/>
        </p:blipFill>
        <p:spPr>
          <a:xfrm>
            <a:off x="4895094" y="3251200"/>
            <a:ext cx="7038238" cy="471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65B8D-37E6-4B56-AE86-71D5DD4884B1}"/>
              </a:ext>
            </a:extLst>
          </p:cNvPr>
          <p:cNvSpPr txBox="1"/>
          <p:nvPr/>
        </p:nvSpPr>
        <p:spPr>
          <a:xfrm>
            <a:off x="576793" y="428171"/>
            <a:ext cx="5940121" cy="489364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Youngest Event (Last)	 </a:t>
            </a:r>
            <a:r>
              <a:rPr lang="en-US" sz="2400" b="1" u="sng" dirty="0"/>
              <a:t>LIMESTONE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 			</a:t>
            </a:r>
            <a:r>
              <a:rPr lang="en-US" sz="2400" b="1" u="sng" dirty="0"/>
              <a:t>SHALE</a:t>
            </a:r>
          </a:p>
          <a:p>
            <a:endParaRPr lang="en-US" sz="2400" b="1" dirty="0"/>
          </a:p>
          <a:p>
            <a:r>
              <a:rPr lang="en-US" sz="2400" b="1" dirty="0"/>
              <a:t> 			</a:t>
            </a:r>
            <a:r>
              <a:rPr lang="en-US" sz="2400" b="1" u="sng" dirty="0"/>
              <a:t>SILTSTONE</a:t>
            </a:r>
          </a:p>
          <a:p>
            <a:endParaRPr lang="en-US" sz="2400" b="1" dirty="0"/>
          </a:p>
          <a:p>
            <a:r>
              <a:rPr lang="en-US" sz="2400" b="1" dirty="0"/>
              <a:t> 			</a:t>
            </a:r>
            <a:r>
              <a:rPr lang="en-US" sz="2400" b="1" u="sng" dirty="0"/>
              <a:t>SANDSTONE</a:t>
            </a:r>
          </a:p>
          <a:p>
            <a:endParaRPr lang="en-US" sz="2400" b="1" dirty="0"/>
          </a:p>
          <a:p>
            <a:r>
              <a:rPr lang="en-US" sz="2400" b="1" dirty="0"/>
              <a:t> 			</a:t>
            </a:r>
            <a:r>
              <a:rPr lang="en-US" sz="2400" b="1" u="sng" dirty="0"/>
              <a:t>CONGLOMERATE</a:t>
            </a:r>
          </a:p>
          <a:p>
            <a:endParaRPr lang="en-US" sz="2400" b="1" dirty="0"/>
          </a:p>
          <a:p>
            <a:r>
              <a:rPr lang="en-US" sz="2400" b="1" dirty="0"/>
              <a:t> 			</a:t>
            </a:r>
            <a:r>
              <a:rPr lang="en-US" sz="2400" b="1" u="sng" dirty="0"/>
              <a:t>NONCONFORMITY</a:t>
            </a:r>
          </a:p>
          <a:p>
            <a:endParaRPr lang="en-US" sz="2400" b="1" dirty="0"/>
          </a:p>
          <a:p>
            <a:r>
              <a:rPr lang="en-US" sz="2400" b="1" dirty="0"/>
              <a:t>Oldest Event (First) 	</a:t>
            </a:r>
            <a:r>
              <a:rPr lang="en-US" sz="2400" b="1" u="sng" dirty="0"/>
              <a:t>SCHIST (Metamorphic)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22268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7749CB06-E656-4C31-B69F-08E00928C3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78"/>
          <a:stretch/>
        </p:blipFill>
        <p:spPr>
          <a:xfrm>
            <a:off x="6096000" y="0"/>
            <a:ext cx="6208039" cy="6228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F4EB28-1C27-4105-B68E-55CC0FA79D1D}"/>
              </a:ext>
            </a:extLst>
          </p:cNvPr>
          <p:cNvSpPr txBox="1"/>
          <p:nvPr/>
        </p:nvSpPr>
        <p:spPr>
          <a:xfrm>
            <a:off x="576793" y="239489"/>
            <a:ext cx="5519207" cy="637097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Youngest Event (Last)	 ______________________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 		______________________</a:t>
            </a:r>
          </a:p>
          <a:p>
            <a:endParaRPr lang="en-US" sz="1600" b="1" dirty="0"/>
          </a:p>
          <a:p>
            <a:r>
              <a:rPr lang="en-US" sz="1600" b="1" dirty="0"/>
              <a:t>Oldest Event (First) 	______________________ </a:t>
            </a:r>
          </a:p>
          <a:p>
            <a:r>
              <a:rPr lang="en-US" sz="2000" b="1" dirty="0"/>
              <a:t> </a:t>
            </a:r>
          </a:p>
          <a:p>
            <a:r>
              <a:rPr lang="en-US" sz="2000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A7CE-9890-4583-AB76-D77365C18E56}"/>
              </a:ext>
            </a:extLst>
          </p:cNvPr>
          <p:cNvSpPr txBox="1"/>
          <p:nvPr/>
        </p:nvSpPr>
        <p:spPr>
          <a:xfrm>
            <a:off x="6662099" y="5173056"/>
            <a:ext cx="5075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Two Arrows are locations of the Unconformities which are also events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2037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7749CB06-E656-4C31-B69F-08E00928C3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78"/>
          <a:stretch/>
        </p:blipFill>
        <p:spPr>
          <a:xfrm>
            <a:off x="6096000" y="0"/>
            <a:ext cx="6208039" cy="6228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F4EB28-1C27-4105-B68E-55CC0FA79D1D}"/>
              </a:ext>
            </a:extLst>
          </p:cNvPr>
          <p:cNvSpPr txBox="1"/>
          <p:nvPr/>
        </p:nvSpPr>
        <p:spPr>
          <a:xfrm>
            <a:off x="576793" y="239489"/>
            <a:ext cx="5519207" cy="637097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Youngest Event (Last)	</a:t>
            </a:r>
            <a:r>
              <a:rPr lang="en-US" sz="1600" b="1" u="sng" dirty="0"/>
              <a:t>BASALT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 		</a:t>
            </a:r>
            <a:r>
              <a:rPr lang="en-US" sz="1600" b="1" u="sng" dirty="0"/>
              <a:t>FAULT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CHALK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ROCK SALT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SANDSTONE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ANGULAR UNCONFORMITY</a:t>
            </a:r>
            <a:r>
              <a:rPr lang="en-US" sz="1600" b="1" dirty="0"/>
              <a:t>_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SHALE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RED SANDSTONE_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GREEN SHALE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CONGLOMERATE</a:t>
            </a:r>
          </a:p>
          <a:p>
            <a:endParaRPr lang="en-US" sz="1600" b="1" dirty="0"/>
          </a:p>
          <a:p>
            <a:r>
              <a:rPr lang="en-US" sz="1600" b="1" dirty="0"/>
              <a:t> 		</a:t>
            </a:r>
            <a:r>
              <a:rPr lang="en-US" sz="1600" b="1" u="sng" dirty="0"/>
              <a:t>NONCONFORMITY</a:t>
            </a:r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Oldest Event (First) 	</a:t>
            </a:r>
            <a:r>
              <a:rPr lang="en-US" sz="1600" b="1" u="sng" dirty="0"/>
              <a:t>GNEISS</a:t>
            </a:r>
            <a:r>
              <a:rPr lang="en-US" sz="1600" b="1" dirty="0"/>
              <a:t>_ </a:t>
            </a:r>
          </a:p>
          <a:p>
            <a:r>
              <a:rPr lang="en-US" sz="2000" b="1" dirty="0"/>
              <a:t> </a:t>
            </a:r>
          </a:p>
          <a:p>
            <a:r>
              <a:rPr lang="en-US" sz="2000" b="1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0FE6EA-D828-40F2-8EF8-0A5F2477BD6C}"/>
              </a:ext>
            </a:extLst>
          </p:cNvPr>
          <p:cNvSpPr txBox="1"/>
          <p:nvPr/>
        </p:nvSpPr>
        <p:spPr>
          <a:xfrm>
            <a:off x="6662099" y="5173056"/>
            <a:ext cx="5075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Two Arrows are locations of the Unconformities which are also events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1031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 Diagrams part 1">
            <a:extLst>
              <a:ext uri="{FF2B5EF4-FFF2-40B4-BE49-F238E27FC236}">
                <a16:creationId xmlns:a16="http://schemas.microsoft.com/office/drawing/2014/main" id="{2A142BB2-CB42-4053-BB3B-8E1A3B167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22" r="14870"/>
          <a:stretch/>
        </p:blipFill>
        <p:spPr bwMode="auto">
          <a:xfrm>
            <a:off x="694917" y="493486"/>
            <a:ext cx="10802166" cy="5718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EDE628-D36C-4E2C-A9D9-71FDCF435BD4}"/>
              </a:ext>
            </a:extLst>
          </p:cNvPr>
          <p:cNvSpPr txBox="1"/>
          <p:nvPr/>
        </p:nvSpPr>
        <p:spPr>
          <a:xfrm>
            <a:off x="98475" y="168812"/>
            <a:ext cx="54160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/>
              <a:t>These are the rock symbols for the next 4 diagrams</a:t>
            </a:r>
          </a:p>
          <a:p>
            <a:endParaRPr lang="en-US" dirty="0"/>
          </a:p>
          <a:p>
            <a:r>
              <a:rPr lang="en-US" sz="2000" b="1" i="1" dirty="0"/>
              <a:t>Sedimentary Rocks: </a:t>
            </a:r>
            <a:r>
              <a:rPr lang="en-US" dirty="0"/>
              <a:t>The top 8, these are deposited horizontally or flat.</a:t>
            </a:r>
          </a:p>
          <a:p>
            <a:endParaRPr lang="en-US" dirty="0"/>
          </a:p>
          <a:p>
            <a:r>
              <a:rPr lang="en-US" sz="2000" b="1" dirty="0"/>
              <a:t>Igneous Rocks</a:t>
            </a:r>
            <a:r>
              <a:rPr lang="en-US" dirty="0"/>
              <a:t>: Granite, Basalt.  </a:t>
            </a:r>
          </a:p>
          <a:p>
            <a:r>
              <a:rPr lang="en-US" dirty="0"/>
              <a:t>Granite is intruded into other rocks below the surface. </a:t>
            </a:r>
          </a:p>
          <a:p>
            <a:r>
              <a:rPr lang="en-US" dirty="0"/>
              <a:t>Basalt is very close to the surface OR deposited as a lava flow ON the surface.</a:t>
            </a:r>
          </a:p>
          <a:p>
            <a:endParaRPr lang="en-US" dirty="0"/>
          </a:p>
          <a:p>
            <a:r>
              <a:rPr lang="en-US" sz="2000" b="1" dirty="0"/>
              <a:t>Metamorphic Rocks: </a:t>
            </a:r>
            <a:r>
              <a:rPr lang="en-US" dirty="0" err="1"/>
              <a:t>Shist</a:t>
            </a:r>
            <a:r>
              <a:rPr lang="en-US" dirty="0"/>
              <a:t>, Gneiss.  These both form at least 6 miles beneath the crust.</a:t>
            </a:r>
          </a:p>
        </p:txBody>
      </p:sp>
    </p:spTree>
    <p:extLst>
      <p:ext uri="{BB962C8B-B14F-4D97-AF65-F5344CB8AC3E}">
        <p14:creationId xmlns:p14="http://schemas.microsoft.com/office/powerpoint/2010/main" val="3276115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 Diagrams part 1">
            <a:extLst>
              <a:ext uri="{FF2B5EF4-FFF2-40B4-BE49-F238E27FC236}">
                <a16:creationId xmlns:a16="http://schemas.microsoft.com/office/drawing/2014/main" id="{2A142BB2-CB42-4053-BB3B-8E1A3B167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774"/>
          <a:stretch/>
        </p:blipFill>
        <p:spPr bwMode="auto">
          <a:xfrm>
            <a:off x="224065" y="599847"/>
            <a:ext cx="11369584" cy="5307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1725DE-6950-4112-B5A9-66A6B4FA5670}"/>
              </a:ext>
            </a:extLst>
          </p:cNvPr>
          <p:cNvSpPr txBox="1"/>
          <p:nvPr/>
        </p:nvSpPr>
        <p:spPr>
          <a:xfrm>
            <a:off x="7190461" y="230515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8B1100-9164-4FA9-836A-4434EB02C777}"/>
              </a:ext>
            </a:extLst>
          </p:cNvPr>
          <p:cNvSpPr txBox="1"/>
          <p:nvPr/>
        </p:nvSpPr>
        <p:spPr>
          <a:xfrm>
            <a:off x="3530516" y="5722648"/>
            <a:ext cx="4403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  <a:p>
            <a:r>
              <a:rPr lang="en-US" b="1" dirty="0"/>
              <a:t>See if you can identify the unconformities</a:t>
            </a:r>
          </a:p>
        </p:txBody>
      </p:sp>
    </p:spTree>
    <p:extLst>
      <p:ext uri="{BB962C8B-B14F-4D97-AF65-F5344CB8AC3E}">
        <p14:creationId xmlns:p14="http://schemas.microsoft.com/office/powerpoint/2010/main" val="357995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 Diagrams part 1">
            <a:extLst>
              <a:ext uri="{FF2B5EF4-FFF2-40B4-BE49-F238E27FC236}">
                <a16:creationId xmlns:a16="http://schemas.microsoft.com/office/drawing/2014/main" id="{2A142BB2-CB42-4053-BB3B-8E1A3B167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774"/>
          <a:stretch/>
        </p:blipFill>
        <p:spPr bwMode="auto">
          <a:xfrm>
            <a:off x="224065" y="599847"/>
            <a:ext cx="11369584" cy="5307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525FD9-F49F-4782-9FDA-060E03869DB0}"/>
              </a:ext>
            </a:extLst>
          </p:cNvPr>
          <p:cNvSpPr txBox="1"/>
          <p:nvPr/>
        </p:nvSpPr>
        <p:spPr>
          <a:xfrm>
            <a:off x="11268222" y="647112"/>
            <a:ext cx="54864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F</a:t>
            </a:r>
          </a:p>
          <a:p>
            <a:r>
              <a:rPr lang="en-US" sz="2000" b="1" u="sng" dirty="0"/>
              <a:t>B</a:t>
            </a:r>
          </a:p>
          <a:p>
            <a:r>
              <a:rPr lang="en-US" sz="2000" b="1" u="sng" dirty="0"/>
              <a:t>K</a:t>
            </a:r>
          </a:p>
          <a:p>
            <a:r>
              <a:rPr lang="en-US" sz="2000" b="1" u="sng" dirty="0"/>
              <a:t>N</a:t>
            </a:r>
          </a:p>
          <a:p>
            <a:r>
              <a:rPr lang="en-US" sz="2000" b="1" u="sng" dirty="0"/>
              <a:t>A</a:t>
            </a:r>
          </a:p>
          <a:p>
            <a:r>
              <a:rPr lang="en-US" sz="2000" b="1" u="sng" dirty="0"/>
              <a:t>J</a:t>
            </a:r>
          </a:p>
          <a:p>
            <a:r>
              <a:rPr lang="en-US" sz="2000" b="1" u="sng" dirty="0"/>
              <a:t>D</a:t>
            </a:r>
          </a:p>
          <a:p>
            <a:r>
              <a:rPr lang="en-US" sz="2000" b="1" u="sng" dirty="0"/>
              <a:t>M</a:t>
            </a:r>
          </a:p>
          <a:p>
            <a:r>
              <a:rPr lang="en-US" sz="2000" b="1" u="sng" dirty="0"/>
              <a:t>H</a:t>
            </a:r>
          </a:p>
          <a:p>
            <a:r>
              <a:rPr lang="en-US" sz="2000" b="1" u="sng" dirty="0"/>
              <a:t>C</a:t>
            </a:r>
          </a:p>
          <a:p>
            <a:r>
              <a:rPr lang="en-US" sz="2000" b="1" u="sng" dirty="0"/>
              <a:t>L</a:t>
            </a:r>
          </a:p>
          <a:p>
            <a:r>
              <a:rPr lang="en-US" sz="2000" b="1" u="sng" dirty="0"/>
              <a:t>G</a:t>
            </a:r>
          </a:p>
          <a:p>
            <a:r>
              <a:rPr lang="en-US" sz="2000" b="1" u="sng" dirty="0"/>
              <a:t>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4C7A-90FB-43CC-9700-1CB577A10BFE}"/>
              </a:ext>
            </a:extLst>
          </p:cNvPr>
          <p:cNvSpPr txBox="1"/>
          <p:nvPr/>
        </p:nvSpPr>
        <p:spPr>
          <a:xfrm rot="817677">
            <a:off x="3177148" y="1807722"/>
            <a:ext cx="1049108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362D8-308B-4659-A5D1-DBB799EC1294}"/>
              </a:ext>
            </a:extLst>
          </p:cNvPr>
          <p:cNvSpPr txBox="1"/>
          <p:nvPr/>
        </p:nvSpPr>
        <p:spPr>
          <a:xfrm rot="2708905">
            <a:off x="1804732" y="4667529"/>
            <a:ext cx="11792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Nonconformity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C8B47-5AB3-4E33-8A29-A6A44A54B416}"/>
              </a:ext>
            </a:extLst>
          </p:cNvPr>
          <p:cNvSpPr txBox="1"/>
          <p:nvPr/>
        </p:nvSpPr>
        <p:spPr>
          <a:xfrm rot="874772">
            <a:off x="382974" y="2800048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BE761-18D0-4E04-8D99-A1238A754476}"/>
              </a:ext>
            </a:extLst>
          </p:cNvPr>
          <p:cNvSpPr txBox="1"/>
          <p:nvPr/>
        </p:nvSpPr>
        <p:spPr>
          <a:xfrm>
            <a:off x="5316836" y="1312260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A9255-9A85-4563-A48E-79CD003B634E}"/>
              </a:ext>
            </a:extLst>
          </p:cNvPr>
          <p:cNvSpPr txBox="1"/>
          <p:nvPr/>
        </p:nvSpPr>
        <p:spPr>
          <a:xfrm>
            <a:off x="6285525" y="3478982"/>
            <a:ext cx="11792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Nonconformity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0EA049-3C9A-4D89-BDB7-25D789D758DD}"/>
              </a:ext>
            </a:extLst>
          </p:cNvPr>
          <p:cNvCxnSpPr/>
          <p:nvPr/>
        </p:nvCxnSpPr>
        <p:spPr>
          <a:xfrm flipV="1">
            <a:off x="7165628" y="2720641"/>
            <a:ext cx="135504" cy="75056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56D2AA-ECEA-4104-8181-7116DECBDB0E}"/>
              </a:ext>
            </a:extLst>
          </p:cNvPr>
          <p:cNvCxnSpPr>
            <a:cxnSpLocks/>
          </p:cNvCxnSpPr>
          <p:nvPr/>
        </p:nvCxnSpPr>
        <p:spPr>
          <a:xfrm flipH="1" flipV="1">
            <a:off x="5556738" y="2405575"/>
            <a:ext cx="794066" cy="102736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D48902F-F5C1-482A-B344-43C0BBEB53B8}"/>
              </a:ext>
            </a:extLst>
          </p:cNvPr>
          <p:cNvSpPr txBox="1"/>
          <p:nvPr/>
        </p:nvSpPr>
        <p:spPr>
          <a:xfrm rot="817677">
            <a:off x="9089066" y="3089683"/>
            <a:ext cx="1049108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EC59D-238F-4C71-906A-33B51841E366}"/>
              </a:ext>
            </a:extLst>
          </p:cNvPr>
          <p:cNvSpPr txBox="1"/>
          <p:nvPr/>
        </p:nvSpPr>
        <p:spPr>
          <a:xfrm rot="18000453">
            <a:off x="37055" y="5418328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44C893-F181-4380-A806-88EF019D9267}"/>
              </a:ext>
            </a:extLst>
          </p:cNvPr>
          <p:cNvSpPr txBox="1"/>
          <p:nvPr/>
        </p:nvSpPr>
        <p:spPr>
          <a:xfrm>
            <a:off x="7190461" y="230515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39C2DE-27C3-426A-B403-E89BBB5853FE}"/>
              </a:ext>
            </a:extLst>
          </p:cNvPr>
          <p:cNvSpPr txBox="1"/>
          <p:nvPr/>
        </p:nvSpPr>
        <p:spPr>
          <a:xfrm>
            <a:off x="3530516" y="5722648"/>
            <a:ext cx="4403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  <a:p>
            <a:r>
              <a:rPr lang="en-US" b="1" dirty="0"/>
              <a:t>See if you can identify the unconformities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F8869-2158-4CCA-982D-56CACB4561B4}"/>
              </a:ext>
            </a:extLst>
          </p:cNvPr>
          <p:cNvSpPr txBox="1"/>
          <p:nvPr/>
        </p:nvSpPr>
        <p:spPr>
          <a:xfrm>
            <a:off x="7035325" y="4937035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3FA288-B172-49C6-B8B9-290355DD736F}"/>
              </a:ext>
            </a:extLst>
          </p:cNvPr>
          <p:cNvSpPr txBox="1"/>
          <p:nvPr/>
        </p:nvSpPr>
        <p:spPr>
          <a:xfrm>
            <a:off x="1436591" y="5412477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</p:spTree>
    <p:extLst>
      <p:ext uri="{BB962C8B-B14F-4D97-AF65-F5344CB8AC3E}">
        <p14:creationId xmlns:p14="http://schemas.microsoft.com/office/powerpoint/2010/main" val="499658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 Diagrams part 1">
            <a:extLst>
              <a:ext uri="{FF2B5EF4-FFF2-40B4-BE49-F238E27FC236}">
                <a16:creationId xmlns:a16="http://schemas.microsoft.com/office/drawing/2014/main" id="{2A142BB2-CB42-4053-BB3B-8E1A3B167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14" b="32277"/>
          <a:stretch/>
        </p:blipFill>
        <p:spPr bwMode="auto">
          <a:xfrm>
            <a:off x="101601" y="685530"/>
            <a:ext cx="11190514" cy="44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90C4B9-59C1-4E2F-A481-1B35DFA6C173}"/>
              </a:ext>
            </a:extLst>
          </p:cNvPr>
          <p:cNvSpPr txBox="1"/>
          <p:nvPr/>
        </p:nvSpPr>
        <p:spPr>
          <a:xfrm>
            <a:off x="7190461" y="230515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834D8-23F0-443E-BC3A-DBB6BDA5D4D3}"/>
              </a:ext>
            </a:extLst>
          </p:cNvPr>
          <p:cNvSpPr txBox="1"/>
          <p:nvPr/>
        </p:nvSpPr>
        <p:spPr>
          <a:xfrm>
            <a:off x="3530516" y="5722648"/>
            <a:ext cx="4403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  <a:p>
            <a:r>
              <a:rPr lang="en-US" b="1" dirty="0"/>
              <a:t>See if you can identify the unconformities</a:t>
            </a:r>
          </a:p>
        </p:txBody>
      </p:sp>
    </p:spTree>
    <p:extLst>
      <p:ext uri="{BB962C8B-B14F-4D97-AF65-F5344CB8AC3E}">
        <p14:creationId xmlns:p14="http://schemas.microsoft.com/office/powerpoint/2010/main" val="23441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 Diagrams part 1">
            <a:extLst>
              <a:ext uri="{FF2B5EF4-FFF2-40B4-BE49-F238E27FC236}">
                <a16:creationId xmlns:a16="http://schemas.microsoft.com/office/drawing/2014/main" id="{2A142BB2-CB42-4053-BB3B-8E1A3B167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14" b="32277"/>
          <a:stretch/>
        </p:blipFill>
        <p:spPr bwMode="auto">
          <a:xfrm>
            <a:off x="101601" y="685530"/>
            <a:ext cx="11190514" cy="443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B466AB-6329-4F87-B3A2-AEFD188E1568}"/>
              </a:ext>
            </a:extLst>
          </p:cNvPr>
          <p:cNvSpPr txBox="1"/>
          <p:nvPr/>
        </p:nvSpPr>
        <p:spPr>
          <a:xfrm>
            <a:off x="11115349" y="543575"/>
            <a:ext cx="5486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</a:t>
            </a:r>
          </a:p>
          <a:p>
            <a:r>
              <a:rPr lang="en-US" sz="2000" b="1" u="sng" dirty="0"/>
              <a:t>H</a:t>
            </a:r>
          </a:p>
          <a:p>
            <a:r>
              <a:rPr lang="en-US" sz="2000" b="1" u="sng" dirty="0"/>
              <a:t>I</a:t>
            </a:r>
          </a:p>
          <a:p>
            <a:r>
              <a:rPr lang="en-US" sz="2000" b="1" u="sng" dirty="0"/>
              <a:t>A</a:t>
            </a:r>
          </a:p>
          <a:p>
            <a:r>
              <a:rPr lang="en-US" sz="2000" b="1" u="sng" dirty="0"/>
              <a:t>B</a:t>
            </a:r>
          </a:p>
          <a:p>
            <a:r>
              <a:rPr lang="en-US" sz="2000" b="1" u="sng" dirty="0"/>
              <a:t>C</a:t>
            </a:r>
          </a:p>
          <a:p>
            <a:r>
              <a:rPr lang="en-US" sz="2000" b="1" u="sng" dirty="0"/>
              <a:t>D</a:t>
            </a:r>
          </a:p>
          <a:p>
            <a:r>
              <a:rPr lang="en-US" sz="2000" b="1" u="sng" dirty="0"/>
              <a:t>L</a:t>
            </a:r>
          </a:p>
          <a:p>
            <a:r>
              <a:rPr lang="en-US" sz="2000" b="1" u="sng" dirty="0"/>
              <a:t>F</a:t>
            </a:r>
          </a:p>
          <a:p>
            <a:r>
              <a:rPr lang="en-US" sz="2000" b="1" u="sng" dirty="0"/>
              <a:t>E</a:t>
            </a:r>
          </a:p>
          <a:p>
            <a:r>
              <a:rPr lang="en-US" sz="2000" b="1" u="sng" dirty="0"/>
              <a:t>M</a:t>
            </a:r>
          </a:p>
          <a:p>
            <a:r>
              <a:rPr lang="en-US" sz="2000" b="1" u="sng" dirty="0"/>
              <a:t>J</a:t>
            </a:r>
          </a:p>
          <a:p>
            <a:r>
              <a:rPr lang="en-US" sz="2000" b="1" u="sng" dirty="0"/>
              <a:t>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472A9-1B69-4098-8442-0D8003FFC191}"/>
              </a:ext>
            </a:extLst>
          </p:cNvPr>
          <p:cNvSpPr txBox="1"/>
          <p:nvPr/>
        </p:nvSpPr>
        <p:spPr>
          <a:xfrm>
            <a:off x="7190461" y="230515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01092-E91A-409B-BC93-2664C05CCB23}"/>
              </a:ext>
            </a:extLst>
          </p:cNvPr>
          <p:cNvSpPr txBox="1"/>
          <p:nvPr/>
        </p:nvSpPr>
        <p:spPr>
          <a:xfrm>
            <a:off x="2150834" y="5278264"/>
            <a:ext cx="4403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  <a:p>
            <a:r>
              <a:rPr lang="en-US" b="1" dirty="0"/>
              <a:t>See if you can identify the unconformities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156DA-D516-4DC5-9534-11FB4D57C4E3}"/>
              </a:ext>
            </a:extLst>
          </p:cNvPr>
          <p:cNvSpPr txBox="1"/>
          <p:nvPr/>
        </p:nvSpPr>
        <p:spPr>
          <a:xfrm rot="3779104">
            <a:off x="3376470" y="4432198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B4FE5-E3DA-4A46-BE00-DB9D77ED800D}"/>
              </a:ext>
            </a:extLst>
          </p:cNvPr>
          <p:cNvSpPr txBox="1"/>
          <p:nvPr/>
        </p:nvSpPr>
        <p:spPr>
          <a:xfrm>
            <a:off x="3825660" y="1817594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36076-71F7-40B1-B5BA-B24BB51DADFE}"/>
              </a:ext>
            </a:extLst>
          </p:cNvPr>
          <p:cNvSpPr txBox="1"/>
          <p:nvPr/>
        </p:nvSpPr>
        <p:spPr>
          <a:xfrm rot="19695648">
            <a:off x="5383987" y="2568375"/>
            <a:ext cx="11792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Nonconformity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EFD2F2-92C1-4650-8D07-F28CB493103B}"/>
              </a:ext>
            </a:extLst>
          </p:cNvPr>
          <p:cNvSpPr txBox="1"/>
          <p:nvPr/>
        </p:nvSpPr>
        <p:spPr>
          <a:xfrm>
            <a:off x="8168193" y="4763085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</p:spTree>
    <p:extLst>
      <p:ext uri="{BB962C8B-B14F-4D97-AF65-F5344CB8AC3E}">
        <p14:creationId xmlns:p14="http://schemas.microsoft.com/office/powerpoint/2010/main" val="4218577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 diagrams part 2">
            <a:extLst>
              <a:ext uri="{FF2B5EF4-FFF2-40B4-BE49-F238E27FC236}">
                <a16:creationId xmlns:a16="http://schemas.microsoft.com/office/drawing/2014/main" id="{E4E55347-1196-4E78-BCB3-44F46C2F4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60"/>
          <a:stretch/>
        </p:blipFill>
        <p:spPr bwMode="auto">
          <a:xfrm>
            <a:off x="221478" y="222552"/>
            <a:ext cx="11293748" cy="675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8627F-CFB7-4D50-98AE-36C8E9F6D599}"/>
              </a:ext>
            </a:extLst>
          </p:cNvPr>
          <p:cNvSpPr txBox="1"/>
          <p:nvPr/>
        </p:nvSpPr>
        <p:spPr>
          <a:xfrm>
            <a:off x="9863322" y="4833111"/>
            <a:ext cx="2107199" cy="1802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  <a:p>
            <a:r>
              <a:rPr lang="en-US" b="1" dirty="0"/>
              <a:t>See if you can identify the unconformities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7D154-8FB4-44AE-BFE0-BA342D7E25FD}"/>
              </a:ext>
            </a:extLst>
          </p:cNvPr>
          <p:cNvSpPr txBox="1"/>
          <p:nvPr/>
        </p:nvSpPr>
        <p:spPr>
          <a:xfrm>
            <a:off x="5460135" y="119689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</p:spTree>
    <p:extLst>
      <p:ext uri="{BB962C8B-B14F-4D97-AF65-F5344CB8AC3E}">
        <p14:creationId xmlns:p14="http://schemas.microsoft.com/office/powerpoint/2010/main" val="1917495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 diagrams part 2">
            <a:extLst>
              <a:ext uri="{FF2B5EF4-FFF2-40B4-BE49-F238E27FC236}">
                <a16:creationId xmlns:a16="http://schemas.microsoft.com/office/drawing/2014/main" id="{E4E55347-1196-4E78-BCB3-44F46C2F4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60"/>
          <a:stretch/>
        </p:blipFill>
        <p:spPr bwMode="auto">
          <a:xfrm>
            <a:off x="221478" y="222552"/>
            <a:ext cx="11293748" cy="675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8627F-CFB7-4D50-98AE-36C8E9F6D599}"/>
              </a:ext>
            </a:extLst>
          </p:cNvPr>
          <p:cNvSpPr txBox="1"/>
          <p:nvPr/>
        </p:nvSpPr>
        <p:spPr>
          <a:xfrm>
            <a:off x="9863322" y="4833111"/>
            <a:ext cx="2107199" cy="1802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  <a:p>
            <a:r>
              <a:rPr lang="en-US" b="1" dirty="0"/>
              <a:t>See if you can identify the unconformities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7D154-8FB4-44AE-BFE0-BA342D7E25FD}"/>
              </a:ext>
            </a:extLst>
          </p:cNvPr>
          <p:cNvSpPr txBox="1"/>
          <p:nvPr/>
        </p:nvSpPr>
        <p:spPr>
          <a:xfrm>
            <a:off x="5460135" y="119689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61905-C379-484E-AADF-5E7881BC6B2A}"/>
              </a:ext>
            </a:extLst>
          </p:cNvPr>
          <p:cNvSpPr txBox="1"/>
          <p:nvPr/>
        </p:nvSpPr>
        <p:spPr>
          <a:xfrm>
            <a:off x="6096000" y="6381532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ED90F-5447-448E-AD2E-B155B107D24E}"/>
              </a:ext>
            </a:extLst>
          </p:cNvPr>
          <p:cNvSpPr txBox="1"/>
          <p:nvPr/>
        </p:nvSpPr>
        <p:spPr>
          <a:xfrm rot="18000453">
            <a:off x="621044" y="4827484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008C7-42C6-48C2-BA0A-635D3D707B32}"/>
              </a:ext>
            </a:extLst>
          </p:cNvPr>
          <p:cNvSpPr txBox="1"/>
          <p:nvPr/>
        </p:nvSpPr>
        <p:spPr>
          <a:xfrm rot="18447955">
            <a:off x="5924759" y="5185665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07D1D-EB23-4B0F-903C-BE956DFDEA8D}"/>
              </a:ext>
            </a:extLst>
          </p:cNvPr>
          <p:cNvSpPr txBox="1"/>
          <p:nvPr/>
        </p:nvSpPr>
        <p:spPr>
          <a:xfrm rot="20916265">
            <a:off x="4852601" y="2672183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E7665-D499-42CA-98EF-AB7A62C8625F}"/>
              </a:ext>
            </a:extLst>
          </p:cNvPr>
          <p:cNvSpPr txBox="1"/>
          <p:nvPr/>
        </p:nvSpPr>
        <p:spPr>
          <a:xfrm rot="164749">
            <a:off x="2993685" y="4154231"/>
            <a:ext cx="11792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Nonconformity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531C23-AF67-481C-A8E2-C42210877E72}"/>
              </a:ext>
            </a:extLst>
          </p:cNvPr>
          <p:cNvSpPr txBox="1"/>
          <p:nvPr/>
        </p:nvSpPr>
        <p:spPr>
          <a:xfrm rot="2873538">
            <a:off x="8852399" y="4200285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1BF3DD-EF51-407A-AE66-B9DE13206753}"/>
              </a:ext>
            </a:extLst>
          </p:cNvPr>
          <p:cNvSpPr txBox="1"/>
          <p:nvPr/>
        </p:nvSpPr>
        <p:spPr>
          <a:xfrm>
            <a:off x="11387709" y="191608"/>
            <a:ext cx="5447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S</a:t>
            </a:r>
          </a:p>
          <a:p>
            <a:r>
              <a:rPr lang="en-US" sz="2000" b="1" u="sng" dirty="0"/>
              <a:t>J</a:t>
            </a:r>
          </a:p>
          <a:p>
            <a:r>
              <a:rPr lang="en-US" sz="2000" b="1" u="sng" dirty="0"/>
              <a:t>K</a:t>
            </a:r>
          </a:p>
          <a:p>
            <a:r>
              <a:rPr lang="en-US" sz="2000" b="1" u="sng" dirty="0"/>
              <a:t>D</a:t>
            </a:r>
          </a:p>
          <a:p>
            <a:r>
              <a:rPr lang="en-US" sz="2000" b="1" u="sng" dirty="0"/>
              <a:t>X</a:t>
            </a:r>
          </a:p>
          <a:p>
            <a:r>
              <a:rPr lang="en-US" sz="2000" b="1" u="sng" dirty="0"/>
              <a:t>E</a:t>
            </a:r>
          </a:p>
          <a:p>
            <a:r>
              <a:rPr lang="en-US" sz="2000" b="1" u="sng" dirty="0"/>
              <a:t>A</a:t>
            </a:r>
          </a:p>
          <a:p>
            <a:r>
              <a:rPr lang="en-US" sz="2000" b="1" u="sng" dirty="0"/>
              <a:t>H</a:t>
            </a:r>
          </a:p>
          <a:p>
            <a:r>
              <a:rPr lang="en-US" sz="2000" b="1" u="sng" dirty="0"/>
              <a:t>M</a:t>
            </a:r>
          </a:p>
          <a:p>
            <a:r>
              <a:rPr lang="en-US" sz="2000" b="1" u="sng" dirty="0"/>
              <a:t>R</a:t>
            </a:r>
          </a:p>
          <a:p>
            <a:r>
              <a:rPr lang="en-US" sz="2000" b="1" u="sng" dirty="0"/>
              <a:t>B</a:t>
            </a:r>
          </a:p>
          <a:p>
            <a:r>
              <a:rPr lang="en-US" sz="2000" b="1" u="sng" dirty="0"/>
              <a:t>G</a:t>
            </a:r>
          </a:p>
          <a:p>
            <a:r>
              <a:rPr lang="en-US" sz="2000" b="1" u="sng" dirty="0"/>
              <a:t>F</a:t>
            </a:r>
          </a:p>
          <a:p>
            <a:r>
              <a:rPr lang="en-US" sz="2000" b="1" u="sng" dirty="0"/>
              <a:t>P</a:t>
            </a:r>
          </a:p>
          <a:p>
            <a:endParaRPr lang="en-US" sz="2000" b="1" u="sng" dirty="0"/>
          </a:p>
          <a:p>
            <a:endParaRPr lang="en-US" sz="2000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076EAB-A75A-479F-9601-4D0B16F71E8F}"/>
              </a:ext>
            </a:extLst>
          </p:cNvPr>
          <p:cNvSpPr txBox="1"/>
          <p:nvPr/>
        </p:nvSpPr>
        <p:spPr>
          <a:xfrm rot="2305454">
            <a:off x="8788543" y="3370615"/>
            <a:ext cx="1049108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82393A-0A9E-43E3-9768-CDC161F833FF}"/>
              </a:ext>
            </a:extLst>
          </p:cNvPr>
          <p:cNvSpPr txBox="1"/>
          <p:nvPr/>
        </p:nvSpPr>
        <p:spPr>
          <a:xfrm>
            <a:off x="4094797" y="1190559"/>
            <a:ext cx="1049108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D7D3D-F1F3-4F81-A9F8-BFC1B9C4D7CF}"/>
              </a:ext>
            </a:extLst>
          </p:cNvPr>
          <p:cNvSpPr txBox="1"/>
          <p:nvPr/>
        </p:nvSpPr>
        <p:spPr>
          <a:xfrm>
            <a:off x="6706115" y="955930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C53AC2-9BAC-407B-A8F6-273432653DA2}"/>
              </a:ext>
            </a:extLst>
          </p:cNvPr>
          <p:cNvSpPr txBox="1"/>
          <p:nvPr/>
        </p:nvSpPr>
        <p:spPr>
          <a:xfrm>
            <a:off x="462311" y="928949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1097EC-18FC-436C-9DF9-5804890DBB0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143905" y="1321364"/>
            <a:ext cx="316230" cy="4843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741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 diagrams part 2">
            <a:extLst>
              <a:ext uri="{FF2B5EF4-FFF2-40B4-BE49-F238E27FC236}">
                <a16:creationId xmlns:a16="http://schemas.microsoft.com/office/drawing/2014/main" id="{E4E55347-1196-4E78-BCB3-44F46C2F4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0" b="8411"/>
          <a:stretch/>
        </p:blipFill>
        <p:spPr bwMode="auto">
          <a:xfrm>
            <a:off x="67432" y="188685"/>
            <a:ext cx="10602427" cy="658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D6120-7956-4393-81D1-E1E9D61B12CD}"/>
              </a:ext>
            </a:extLst>
          </p:cNvPr>
          <p:cNvSpPr txBox="1"/>
          <p:nvPr/>
        </p:nvSpPr>
        <p:spPr>
          <a:xfrm>
            <a:off x="5361661" y="83291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</p:spTree>
    <p:extLst>
      <p:ext uri="{BB962C8B-B14F-4D97-AF65-F5344CB8AC3E}">
        <p14:creationId xmlns:p14="http://schemas.microsoft.com/office/powerpoint/2010/main" val="3211445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 diagrams part 2">
            <a:extLst>
              <a:ext uri="{FF2B5EF4-FFF2-40B4-BE49-F238E27FC236}">
                <a16:creationId xmlns:a16="http://schemas.microsoft.com/office/drawing/2014/main" id="{E4E55347-1196-4E78-BCB3-44F46C2F4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0" b="8411"/>
          <a:stretch/>
        </p:blipFill>
        <p:spPr bwMode="auto">
          <a:xfrm>
            <a:off x="67432" y="188685"/>
            <a:ext cx="10602427" cy="658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D6120-7956-4393-81D1-E1E9D61B12CD}"/>
              </a:ext>
            </a:extLst>
          </p:cNvPr>
          <p:cNvSpPr txBox="1"/>
          <p:nvPr/>
        </p:nvSpPr>
        <p:spPr>
          <a:xfrm>
            <a:off x="7598057" y="39600"/>
            <a:ext cx="440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Determine the order of the labelled events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94ABD-F99A-4F05-AAE4-B78856FE04E4}"/>
              </a:ext>
            </a:extLst>
          </p:cNvPr>
          <p:cNvSpPr txBox="1"/>
          <p:nvPr/>
        </p:nvSpPr>
        <p:spPr>
          <a:xfrm rot="18133416">
            <a:off x="6388993" y="5987522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0EC27-49AB-415C-9D79-C2D74CC1B434}"/>
              </a:ext>
            </a:extLst>
          </p:cNvPr>
          <p:cNvSpPr txBox="1"/>
          <p:nvPr/>
        </p:nvSpPr>
        <p:spPr>
          <a:xfrm rot="3994193">
            <a:off x="8240933" y="5635613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4C8DB-B070-47D8-927C-1FC2862BFC7A}"/>
              </a:ext>
            </a:extLst>
          </p:cNvPr>
          <p:cNvSpPr txBox="1"/>
          <p:nvPr/>
        </p:nvSpPr>
        <p:spPr>
          <a:xfrm>
            <a:off x="2862134" y="1063513"/>
            <a:ext cx="1049108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96193-FC65-403F-93C5-B95023368BA8}"/>
              </a:ext>
            </a:extLst>
          </p:cNvPr>
          <p:cNvSpPr txBox="1"/>
          <p:nvPr/>
        </p:nvSpPr>
        <p:spPr>
          <a:xfrm>
            <a:off x="6096000" y="2025115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C71FCC-7117-44B1-BD7B-01F49B692B5B}"/>
              </a:ext>
            </a:extLst>
          </p:cNvPr>
          <p:cNvSpPr txBox="1"/>
          <p:nvPr/>
        </p:nvSpPr>
        <p:spPr>
          <a:xfrm rot="1994185">
            <a:off x="4348636" y="4642950"/>
            <a:ext cx="11792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Nonconformity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38220-C8EC-4B07-AA2C-2D3B41A711BD}"/>
              </a:ext>
            </a:extLst>
          </p:cNvPr>
          <p:cNvSpPr txBox="1"/>
          <p:nvPr/>
        </p:nvSpPr>
        <p:spPr>
          <a:xfrm rot="3978403">
            <a:off x="3828796" y="5859719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C2BC6-3AC0-4717-8632-89EEE7FEAE00}"/>
              </a:ext>
            </a:extLst>
          </p:cNvPr>
          <p:cNvSpPr txBox="1"/>
          <p:nvPr/>
        </p:nvSpPr>
        <p:spPr>
          <a:xfrm>
            <a:off x="265333" y="4087254"/>
            <a:ext cx="898379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INTRUSION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57159-7C52-4F9C-A337-3E3481B4B6A0}"/>
              </a:ext>
            </a:extLst>
          </p:cNvPr>
          <p:cNvSpPr txBox="1"/>
          <p:nvPr/>
        </p:nvSpPr>
        <p:spPr>
          <a:xfrm>
            <a:off x="4312553" y="1390050"/>
            <a:ext cx="1049108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425D0-85EC-4B3B-9D92-D54AA5805265}"/>
              </a:ext>
            </a:extLst>
          </p:cNvPr>
          <p:cNvSpPr txBox="1"/>
          <p:nvPr/>
        </p:nvSpPr>
        <p:spPr>
          <a:xfrm>
            <a:off x="2659918" y="344326"/>
            <a:ext cx="1179275" cy="26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Nonconformity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215CB3-FCCF-4254-B3DE-326BD12F8227}"/>
              </a:ext>
            </a:extLst>
          </p:cNvPr>
          <p:cNvCxnSpPr>
            <a:cxnSpLocks/>
          </p:cNvCxnSpPr>
          <p:nvPr/>
        </p:nvCxnSpPr>
        <p:spPr>
          <a:xfrm flipH="1">
            <a:off x="1913206" y="583428"/>
            <a:ext cx="1473482" cy="7416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59FD9B-B1D9-4B5F-98F8-53E6DA159DFF}"/>
              </a:ext>
            </a:extLst>
          </p:cNvPr>
          <p:cNvSpPr txBox="1"/>
          <p:nvPr/>
        </p:nvSpPr>
        <p:spPr>
          <a:xfrm rot="3425918">
            <a:off x="8743982" y="1983895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C11FA-86A7-4A46-B092-0010C62D5583}"/>
              </a:ext>
            </a:extLst>
          </p:cNvPr>
          <p:cNvSpPr txBox="1"/>
          <p:nvPr/>
        </p:nvSpPr>
        <p:spPr>
          <a:xfrm rot="888472">
            <a:off x="8951629" y="2925295"/>
            <a:ext cx="1153550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Disconformities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3CC302-07F1-4366-9AEB-D4F1CD56C287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8229601" y="2890407"/>
            <a:ext cx="741184" cy="1828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903517-4146-455F-87C1-F2E1261CE834}"/>
              </a:ext>
            </a:extLst>
          </p:cNvPr>
          <p:cNvCxnSpPr>
            <a:cxnSpLocks/>
          </p:cNvCxnSpPr>
          <p:nvPr/>
        </p:nvCxnSpPr>
        <p:spPr>
          <a:xfrm flipH="1">
            <a:off x="8578889" y="3014082"/>
            <a:ext cx="382661" cy="25970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F447EBE-85C0-4D0E-B0F3-A400002BB744}"/>
              </a:ext>
            </a:extLst>
          </p:cNvPr>
          <p:cNvSpPr txBox="1"/>
          <p:nvPr/>
        </p:nvSpPr>
        <p:spPr>
          <a:xfrm rot="1015395">
            <a:off x="4166876" y="2853025"/>
            <a:ext cx="1558327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Angular Unconformity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B2FAF3-DDDD-45DF-96D7-7A36B34017B3}"/>
              </a:ext>
            </a:extLst>
          </p:cNvPr>
          <p:cNvSpPr txBox="1"/>
          <p:nvPr/>
        </p:nvSpPr>
        <p:spPr>
          <a:xfrm>
            <a:off x="10499942" y="283178"/>
            <a:ext cx="166684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R</a:t>
            </a:r>
          </a:p>
          <a:p>
            <a:r>
              <a:rPr lang="en-US" sz="2000" b="1" u="sng" dirty="0"/>
              <a:t>N</a:t>
            </a:r>
          </a:p>
          <a:p>
            <a:r>
              <a:rPr lang="en-US" sz="2000" b="1" u="sng" dirty="0"/>
              <a:t>P – fault</a:t>
            </a:r>
          </a:p>
          <a:p>
            <a:r>
              <a:rPr lang="en-US" sz="2000" b="1" u="sng" dirty="0"/>
              <a:t>H</a:t>
            </a:r>
          </a:p>
          <a:p>
            <a:r>
              <a:rPr lang="en-US" sz="2000" b="1" u="sng" dirty="0"/>
              <a:t>D</a:t>
            </a:r>
          </a:p>
          <a:p>
            <a:r>
              <a:rPr lang="en-US" sz="2000" b="1" u="sng" dirty="0"/>
              <a:t>A - intrusion</a:t>
            </a:r>
          </a:p>
          <a:p>
            <a:r>
              <a:rPr lang="en-US" sz="2000" b="1" u="sng" dirty="0"/>
              <a:t>T - fault</a:t>
            </a:r>
          </a:p>
          <a:p>
            <a:r>
              <a:rPr lang="en-US" sz="2000" b="1" u="sng" dirty="0"/>
              <a:t>F</a:t>
            </a:r>
          </a:p>
          <a:p>
            <a:r>
              <a:rPr lang="en-US" sz="2000" b="1" u="sng" dirty="0"/>
              <a:t>L</a:t>
            </a:r>
          </a:p>
          <a:p>
            <a:r>
              <a:rPr lang="en-US" sz="2000" b="1" u="sng" dirty="0"/>
              <a:t>G</a:t>
            </a:r>
          </a:p>
          <a:p>
            <a:r>
              <a:rPr lang="en-US" sz="2000" b="1" u="sng" dirty="0"/>
              <a:t>J</a:t>
            </a:r>
          </a:p>
          <a:p>
            <a:r>
              <a:rPr lang="en-US" sz="2000" b="1" u="sng" dirty="0"/>
              <a:t>Z</a:t>
            </a:r>
          </a:p>
          <a:p>
            <a:r>
              <a:rPr lang="en-US" sz="2000" b="1" u="sng" dirty="0"/>
              <a:t>S - intrusion</a:t>
            </a:r>
          </a:p>
          <a:p>
            <a:r>
              <a:rPr lang="en-US" sz="2000" b="1" u="sng" dirty="0"/>
              <a:t>B</a:t>
            </a:r>
          </a:p>
          <a:p>
            <a:r>
              <a:rPr lang="en-US" sz="2000" b="1" u="sng" dirty="0"/>
              <a:t>E - intrusion</a:t>
            </a:r>
          </a:p>
          <a:p>
            <a:r>
              <a:rPr lang="en-US" sz="2000" b="1" u="sng" dirty="0"/>
              <a:t>K - fault</a:t>
            </a:r>
          </a:p>
          <a:p>
            <a:r>
              <a:rPr lang="en-US" sz="2000" b="1" u="sng" dirty="0"/>
              <a:t>X</a:t>
            </a:r>
          </a:p>
          <a:p>
            <a:r>
              <a:rPr lang="en-US" sz="2000" b="1" u="sng" dirty="0"/>
              <a:t>M</a:t>
            </a:r>
          </a:p>
          <a:p>
            <a:r>
              <a:rPr lang="en-US" sz="2000" b="1" u="sng" dirty="0"/>
              <a:t>O</a:t>
            </a:r>
          </a:p>
          <a:p>
            <a:r>
              <a:rPr lang="en-US" sz="2000" b="1" u="sng" dirty="0"/>
              <a:t>C – fault</a:t>
            </a:r>
          </a:p>
          <a:p>
            <a:r>
              <a:rPr lang="en-US" sz="2000" b="1" u="sng" dirty="0"/>
              <a:t>V – Meta </a:t>
            </a:r>
            <a:r>
              <a:rPr lang="en-US" sz="2000" b="1" u="sng" dirty="0" err="1"/>
              <a:t>Rxs</a:t>
            </a:r>
            <a:endParaRPr lang="en-US" sz="2000" b="1" u="sng" dirty="0"/>
          </a:p>
          <a:p>
            <a:endParaRPr lang="en-US" sz="2000" b="1" u="sn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0656A3-4A5D-45D0-A41E-AEE35774A93D}"/>
              </a:ext>
            </a:extLst>
          </p:cNvPr>
          <p:cNvSpPr txBox="1"/>
          <p:nvPr/>
        </p:nvSpPr>
        <p:spPr>
          <a:xfrm rot="18133416">
            <a:off x="376443" y="308242"/>
            <a:ext cx="676160" cy="2616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FAULT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DE1D29-CDB3-4E05-82AC-618F7B524935}"/>
              </a:ext>
            </a:extLst>
          </p:cNvPr>
          <p:cNvCxnSpPr>
            <a:cxnSpLocks/>
            <a:stCxn id="27" idx="1"/>
          </p:cNvCxnSpPr>
          <p:nvPr/>
        </p:nvCxnSpPr>
        <p:spPr>
          <a:xfrm>
            <a:off x="534250" y="725054"/>
            <a:ext cx="47570" cy="600069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78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D428-5120-4572-8DA9-B6F7F86F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102315"/>
            <a:ext cx="10515600" cy="2852737"/>
          </a:xfrm>
        </p:spPr>
        <p:txBody>
          <a:bodyPr/>
          <a:lstStyle/>
          <a:p>
            <a:r>
              <a:rPr lang="en-US" dirty="0"/>
              <a:t>Geologic Age Determination From Index Fossils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766A-4B88-4075-B0FF-4E9E9656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955052"/>
            <a:ext cx="10515600" cy="1500187"/>
          </a:xfrm>
        </p:spPr>
        <p:txBody>
          <a:bodyPr/>
          <a:lstStyle/>
          <a:p>
            <a:r>
              <a:rPr lang="en-US" dirty="0"/>
              <a:t>Index Fossils and Geologic Time – BIOSTRATIGRAPHY (Post Lab)</a:t>
            </a:r>
          </a:p>
        </p:txBody>
      </p:sp>
      <p:pic>
        <p:nvPicPr>
          <p:cNvPr id="19458" name="Picture 2" descr="Image result for geologic time scale">
            <a:extLst>
              <a:ext uri="{FF2B5EF4-FFF2-40B4-BE49-F238E27FC236}">
                <a16:creationId xmlns:a16="http://schemas.microsoft.com/office/drawing/2014/main" id="{A7195503-F1C4-404E-9C73-ADCBD8398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709" y="224064"/>
            <a:ext cx="4512441" cy="3854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168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120782C-B52E-406F-98EF-2ADA500EC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606" y="1173480"/>
            <a:ext cx="9261707" cy="5557024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6A734F5-91B2-4A79-8C55-556C78CF4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496"/>
            <a:ext cx="1193292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Tabulata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(Ordovician to Permian); Graptolite/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Graptolithina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(Cambrian – Mississippian), these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OVERLAP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from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Ordovician to Mississippian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So Rocks containing both of these fossils represent this </a:t>
            </a:r>
            <a:r>
              <a:rPr kumimoji="0" lang="en-US" altLang="en-US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Geologic Age Range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085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39C19F-0556-419D-A512-FF451A4D7750}"/>
              </a:ext>
            </a:extLst>
          </p:cNvPr>
          <p:cNvSpPr txBox="1"/>
          <p:nvPr/>
        </p:nvSpPr>
        <p:spPr>
          <a:xfrm>
            <a:off x="1277256" y="329723"/>
            <a:ext cx="7997369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Phylum/Class/Order</a:t>
            </a:r>
            <a:r>
              <a:rPr lang="en-US" sz="2000" b="1" dirty="0"/>
              <a:t>		</a:t>
            </a:r>
            <a:r>
              <a:rPr lang="en-US" sz="2000" b="1" u="sng" dirty="0"/>
              <a:t>Age Range</a:t>
            </a:r>
            <a:endParaRPr lang="en-US" sz="2000" dirty="0"/>
          </a:p>
          <a:p>
            <a:r>
              <a:rPr lang="en-US" sz="2400" b="1" i="1" dirty="0"/>
              <a:t>Porifera</a:t>
            </a:r>
            <a:r>
              <a:rPr lang="en-US" sz="2000" b="1" dirty="0"/>
              <a:t>			</a:t>
            </a:r>
            <a:r>
              <a:rPr lang="en-US" sz="2000" dirty="0"/>
              <a:t>Proterozoic to Recent</a:t>
            </a:r>
          </a:p>
          <a:p>
            <a:r>
              <a:rPr lang="en-US" sz="2400" b="1" i="1" dirty="0"/>
              <a:t>Cnidaria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Rugosa 		</a:t>
            </a:r>
            <a:r>
              <a:rPr lang="en-US" sz="2000" dirty="0"/>
              <a:t>Ordovician to Permian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Scleractinia 		</a:t>
            </a:r>
            <a:r>
              <a:rPr lang="en-US" sz="2000" dirty="0"/>
              <a:t>Triassic to Recent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Tabulata</a:t>
            </a:r>
            <a:r>
              <a:rPr lang="en-US" sz="2000" b="1" dirty="0"/>
              <a:t> 		</a:t>
            </a:r>
            <a:r>
              <a:rPr lang="en-US" sz="2000" dirty="0"/>
              <a:t>Ordovician to Permian</a:t>
            </a:r>
          </a:p>
          <a:p>
            <a:r>
              <a:rPr lang="en-US" sz="2400" b="1" i="1" dirty="0" err="1"/>
              <a:t>Bryozoa</a:t>
            </a:r>
            <a:r>
              <a:rPr lang="en-US" sz="2400" b="1" i="1" dirty="0"/>
              <a:t> </a:t>
            </a:r>
            <a:r>
              <a:rPr lang="en-US" sz="2000" b="1" dirty="0"/>
              <a:t>		</a:t>
            </a:r>
            <a:r>
              <a:rPr lang="en-US" sz="2000" dirty="0"/>
              <a:t>Ordovician to Recent</a:t>
            </a:r>
          </a:p>
          <a:p>
            <a:r>
              <a:rPr lang="en-US" sz="2400" b="1" i="1" dirty="0" err="1"/>
              <a:t>Brachiopoda</a:t>
            </a:r>
            <a:r>
              <a:rPr lang="en-US" sz="2400" b="1" i="1" dirty="0"/>
              <a:t>	</a:t>
            </a:r>
            <a:r>
              <a:rPr lang="en-US" sz="2000" b="1" dirty="0"/>
              <a:t>	</a:t>
            </a:r>
            <a:r>
              <a:rPr lang="en-US" sz="2000" dirty="0"/>
              <a:t>Cambrian to Recent</a:t>
            </a:r>
          </a:p>
          <a:p>
            <a:r>
              <a:rPr lang="en-US" sz="2400" b="1" i="1" dirty="0"/>
              <a:t>Mollusca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Gastropoda</a:t>
            </a:r>
            <a:r>
              <a:rPr lang="en-US" sz="2000" b="1" dirty="0"/>
              <a:t>		</a:t>
            </a:r>
            <a:r>
              <a:rPr lang="en-US" sz="2000" dirty="0"/>
              <a:t>Cambrian to Recent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Bivalvia (</a:t>
            </a:r>
            <a:r>
              <a:rPr lang="en-US" sz="2000" b="1" dirty="0" err="1"/>
              <a:t>pelecypoda</a:t>
            </a:r>
            <a:r>
              <a:rPr lang="en-US" sz="2000" b="1" dirty="0"/>
              <a:t>) 	</a:t>
            </a:r>
            <a:r>
              <a:rPr lang="en-US" sz="2000" dirty="0"/>
              <a:t>Cambrian to Recent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Cephalopoda</a:t>
            </a:r>
            <a:endParaRPr lang="en-US" sz="2000" dirty="0"/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Ammonoidea	</a:t>
            </a:r>
            <a:r>
              <a:rPr lang="en-US" sz="2000" dirty="0"/>
              <a:t>Devonian to Cretaceous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b="1" dirty="0" err="1"/>
              <a:t>Nautiloidea</a:t>
            </a:r>
            <a:r>
              <a:rPr lang="en-US" sz="2000" b="1" dirty="0"/>
              <a:t>	</a:t>
            </a:r>
            <a:r>
              <a:rPr lang="en-US" sz="2000" dirty="0"/>
              <a:t>Cambrian to Recent</a:t>
            </a:r>
          </a:p>
          <a:p>
            <a:r>
              <a:rPr lang="en-US" sz="2400" b="1" i="1" dirty="0"/>
              <a:t>Arthropoda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Trilobita</a:t>
            </a:r>
            <a:r>
              <a:rPr lang="en-US" sz="2000" b="1" dirty="0"/>
              <a:t>		</a:t>
            </a:r>
            <a:r>
              <a:rPr lang="en-US" sz="2000" dirty="0"/>
              <a:t>Cambrian to Permian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Crustacea	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Ostracoda	</a:t>
            </a:r>
            <a:r>
              <a:rPr lang="en-US" sz="2000" dirty="0"/>
              <a:t>Cambrian to Recent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Insecta</a:t>
            </a:r>
            <a:r>
              <a:rPr lang="en-US" sz="2000" b="1" dirty="0"/>
              <a:t> (</a:t>
            </a:r>
            <a:r>
              <a:rPr lang="en-US" sz="2000" b="1" dirty="0" err="1"/>
              <a:t>uniramia</a:t>
            </a:r>
            <a:r>
              <a:rPr lang="en-US" sz="2000" b="1" dirty="0"/>
              <a:t>)	</a:t>
            </a:r>
            <a:r>
              <a:rPr lang="en-US" sz="2000" dirty="0"/>
              <a:t>Devonian to Recent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F717E-913C-4C36-AB85-0D3C246296E8}"/>
              </a:ext>
            </a:extLst>
          </p:cNvPr>
          <p:cNvSpPr txBox="1"/>
          <p:nvPr/>
        </p:nvSpPr>
        <p:spPr>
          <a:xfrm>
            <a:off x="8199120" y="624840"/>
            <a:ext cx="327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FOSSIL GEOLOGIC AGE RANGES </a:t>
            </a:r>
          </a:p>
          <a:p>
            <a:pPr algn="ctr"/>
            <a:r>
              <a:rPr lang="en-US" sz="3200" b="1" dirty="0"/>
              <a:t>TABLE #1</a:t>
            </a:r>
          </a:p>
        </p:txBody>
      </p:sp>
    </p:spTree>
    <p:extLst>
      <p:ext uri="{BB962C8B-B14F-4D97-AF65-F5344CB8AC3E}">
        <p14:creationId xmlns:p14="http://schemas.microsoft.com/office/powerpoint/2010/main" val="4251704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39C19F-0556-419D-A512-FF451A4D7750}"/>
              </a:ext>
            </a:extLst>
          </p:cNvPr>
          <p:cNvSpPr txBox="1"/>
          <p:nvPr/>
        </p:nvSpPr>
        <p:spPr>
          <a:xfrm>
            <a:off x="1204686" y="653144"/>
            <a:ext cx="915851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Phylum/Class/Order</a:t>
            </a:r>
            <a:r>
              <a:rPr lang="en-US" sz="2000" b="1" dirty="0"/>
              <a:t>		</a:t>
            </a:r>
            <a:r>
              <a:rPr lang="en-US" sz="2000" b="1" u="sng" dirty="0"/>
              <a:t>Age Range</a:t>
            </a:r>
          </a:p>
          <a:p>
            <a:endParaRPr lang="en-US" sz="2000" dirty="0"/>
          </a:p>
          <a:p>
            <a:r>
              <a:rPr lang="en-US" sz="2400" b="1" i="1" dirty="0"/>
              <a:t>Echinodermata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Crinoidea		</a:t>
            </a:r>
            <a:r>
              <a:rPr lang="en-US" sz="2000" dirty="0"/>
              <a:t>Cambrian to Recent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Blastoidea</a:t>
            </a:r>
            <a:r>
              <a:rPr lang="en-US" sz="2000" b="1" dirty="0"/>
              <a:t>		</a:t>
            </a:r>
            <a:r>
              <a:rPr lang="en-US" sz="2000" dirty="0"/>
              <a:t>Ordovician to Permian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Echinoidea</a:t>
            </a:r>
            <a:r>
              <a:rPr lang="en-US" sz="2000" b="1" dirty="0"/>
              <a:t>		</a:t>
            </a:r>
            <a:r>
              <a:rPr lang="en-US" sz="2000" dirty="0"/>
              <a:t>Ordovician to Recent</a:t>
            </a:r>
          </a:p>
          <a:p>
            <a:r>
              <a:rPr lang="en-US" sz="2000" b="1" dirty="0"/>
              <a:t> </a:t>
            </a:r>
            <a:endParaRPr lang="en-US" sz="2000" dirty="0"/>
          </a:p>
          <a:p>
            <a:r>
              <a:rPr lang="en-US" sz="2400" b="1" i="1" dirty="0" err="1"/>
              <a:t>Hemichordata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Graptolithina</a:t>
            </a:r>
            <a:r>
              <a:rPr lang="en-US" sz="2000" b="1" dirty="0"/>
              <a:t>		</a:t>
            </a:r>
            <a:r>
              <a:rPr lang="en-US" sz="2000" dirty="0"/>
              <a:t>Cambrian to Mississippian (Early Carboniferous)</a:t>
            </a:r>
          </a:p>
          <a:p>
            <a:r>
              <a:rPr lang="en-US" sz="2400" b="1" dirty="0"/>
              <a:t> </a:t>
            </a:r>
            <a:endParaRPr lang="en-US" sz="2400" dirty="0"/>
          </a:p>
          <a:p>
            <a:r>
              <a:rPr lang="en-US" sz="2400" b="1" i="1" dirty="0"/>
              <a:t>Chordata</a:t>
            </a:r>
            <a:endParaRPr lang="en-US" sz="2000" dirty="0"/>
          </a:p>
          <a:p>
            <a:pPr lvl="0"/>
            <a:r>
              <a:rPr lang="en-US" sz="2000" b="1" dirty="0"/>
              <a:t>Vertebrata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Pisces (fish)	</a:t>
            </a:r>
            <a:r>
              <a:rPr lang="en-US" sz="2000" dirty="0"/>
              <a:t>Ordovician to Recent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Amphibia		</a:t>
            </a:r>
            <a:r>
              <a:rPr lang="en-US" sz="2000" dirty="0"/>
              <a:t>Devonian to Recent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Reptilia</a:t>
            </a:r>
            <a:r>
              <a:rPr lang="en-US" sz="2000" b="1" dirty="0"/>
              <a:t>		</a:t>
            </a:r>
            <a:r>
              <a:rPr lang="en-US" sz="2000" dirty="0"/>
              <a:t>Pennsylvanian (Late Carboniferous) to Recent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Mammalia	</a:t>
            </a:r>
            <a:r>
              <a:rPr lang="en-US" sz="2000" dirty="0"/>
              <a:t>Triassic to Recent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Aves		</a:t>
            </a:r>
            <a:r>
              <a:rPr lang="en-US" sz="2000" dirty="0"/>
              <a:t>Jurassic to Recent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45521-4EDA-435A-9EA6-F6BD2123C91D}"/>
              </a:ext>
            </a:extLst>
          </p:cNvPr>
          <p:cNvSpPr txBox="1"/>
          <p:nvPr/>
        </p:nvSpPr>
        <p:spPr>
          <a:xfrm>
            <a:off x="8351520" y="777240"/>
            <a:ext cx="327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FOSSIL GEOLOGIC AGE RANGES </a:t>
            </a:r>
          </a:p>
          <a:p>
            <a:pPr algn="ctr"/>
            <a:r>
              <a:rPr lang="en-US" sz="3200" b="1" dirty="0"/>
              <a:t>TABLE #2</a:t>
            </a:r>
          </a:p>
        </p:txBody>
      </p:sp>
    </p:spTree>
    <p:extLst>
      <p:ext uri="{BB962C8B-B14F-4D97-AF65-F5344CB8AC3E}">
        <p14:creationId xmlns:p14="http://schemas.microsoft.com/office/powerpoint/2010/main" val="4047969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A8350-2F3B-40A4-844F-8CFA0C1062F7}"/>
              </a:ext>
            </a:extLst>
          </p:cNvPr>
          <p:cNvSpPr txBox="1"/>
          <p:nvPr/>
        </p:nvSpPr>
        <p:spPr>
          <a:xfrm>
            <a:off x="275492" y="148471"/>
            <a:ext cx="11641016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Please provide the geologic age range for the following assemblages, note that a fossil assemblage is a group of fossils found together in the same layer(s):</a:t>
            </a:r>
            <a:endParaRPr lang="en-US" sz="2800" b="1" dirty="0"/>
          </a:p>
          <a:p>
            <a:r>
              <a:rPr lang="en-US" sz="2000" b="1" dirty="0"/>
              <a:t> </a:t>
            </a:r>
          </a:p>
          <a:p>
            <a:r>
              <a:rPr lang="en-US" sz="2400" b="1" dirty="0"/>
              <a:t>Assemblage One: </a:t>
            </a:r>
            <a:r>
              <a:rPr lang="en-US" sz="2000" b="1" dirty="0"/>
              <a:t>Graptolite (</a:t>
            </a:r>
            <a:r>
              <a:rPr lang="en-US" sz="2000" b="1" dirty="0" err="1"/>
              <a:t>Hemichordata</a:t>
            </a:r>
            <a:r>
              <a:rPr lang="en-US" sz="2000" b="1" dirty="0"/>
              <a:t>), Trilobites, Ammonoids.</a:t>
            </a:r>
          </a:p>
          <a:p>
            <a:r>
              <a:rPr lang="en-US" sz="2000" b="1" dirty="0"/>
              <a:t> </a:t>
            </a:r>
          </a:p>
          <a:p>
            <a:pPr lvl="0"/>
            <a:r>
              <a:rPr lang="en-US" sz="2400" b="1" dirty="0"/>
              <a:t>Assemblage Two</a:t>
            </a:r>
            <a:r>
              <a:rPr lang="en-US" sz="2000" b="1" dirty="0"/>
              <a:t>: Articulate Brachiopods, Pelecypods (bivalves),  Bryozoans, Rugose Corals.</a:t>
            </a:r>
          </a:p>
          <a:p>
            <a:r>
              <a:rPr lang="en-US" sz="2000" b="1" dirty="0"/>
              <a:t> </a:t>
            </a:r>
          </a:p>
          <a:p>
            <a:pPr lvl="0"/>
            <a:r>
              <a:rPr lang="en-US" sz="2400" b="1" dirty="0"/>
              <a:t>Assemblage Three: </a:t>
            </a:r>
            <a:r>
              <a:rPr lang="en-US" sz="2000" b="1" dirty="0"/>
              <a:t>Gastropods, Pelecypods, </a:t>
            </a:r>
            <a:r>
              <a:rPr lang="en-US" sz="2000" b="1" dirty="0" err="1"/>
              <a:t>Scleractinian</a:t>
            </a:r>
            <a:r>
              <a:rPr lang="en-US" sz="2000" b="1" dirty="0"/>
              <a:t> Corals, Fish (Pisces).</a:t>
            </a:r>
          </a:p>
          <a:p>
            <a:r>
              <a:rPr lang="en-US" sz="2000" b="1" dirty="0"/>
              <a:t> </a:t>
            </a:r>
          </a:p>
          <a:p>
            <a:pPr lvl="0"/>
            <a:r>
              <a:rPr lang="en-US" sz="2400" b="1" dirty="0"/>
              <a:t>Assemblage Four: </a:t>
            </a:r>
            <a:r>
              <a:rPr lang="en-US" sz="2000" b="1" dirty="0" err="1"/>
              <a:t>Blastoidea</a:t>
            </a:r>
            <a:r>
              <a:rPr lang="en-US" sz="2000" b="1" dirty="0"/>
              <a:t>,  Ammonoidea, Reptile Skull, Tabulate Corals.</a:t>
            </a:r>
          </a:p>
          <a:p>
            <a:pPr lvl="0"/>
            <a:endParaRPr lang="en-US" sz="2000" b="1" dirty="0"/>
          </a:p>
          <a:p>
            <a:pPr lvl="0"/>
            <a:endParaRPr lang="en-US" sz="2000" b="1" dirty="0"/>
          </a:p>
          <a:p>
            <a:pPr lvl="0"/>
            <a:r>
              <a:rPr lang="en-US" sz="2800" b="1" dirty="0"/>
              <a:t>INSTRUCTIONS: Determine the age range of the fossils found in each assemblage, from “Fossil Geologic Age Ranges Tables #1 &amp; #1.  Use the Geologic Time Scale to determine where the ages OVERLAP.  The place where they overlap in geologic time is the age of the assemblage.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3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A8350-2F3B-40A4-844F-8CFA0C1062F7}"/>
              </a:ext>
            </a:extLst>
          </p:cNvPr>
          <p:cNvSpPr txBox="1"/>
          <p:nvPr/>
        </p:nvSpPr>
        <p:spPr>
          <a:xfrm>
            <a:off x="351692" y="351692"/>
            <a:ext cx="1164101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 </a:t>
            </a:r>
            <a:r>
              <a:rPr lang="en-US" sz="4000" b="1" dirty="0"/>
              <a:t>Assemblage One: </a:t>
            </a:r>
          </a:p>
          <a:p>
            <a:r>
              <a:rPr lang="en-US" sz="3600" b="1" dirty="0"/>
              <a:t>Graptolite (</a:t>
            </a:r>
            <a:r>
              <a:rPr lang="en-US" sz="3600" b="1" dirty="0" err="1"/>
              <a:t>Hemichordata</a:t>
            </a:r>
            <a:r>
              <a:rPr lang="en-US" sz="3600" b="1" dirty="0"/>
              <a:t>), Trilobites, Ammonoids.</a:t>
            </a:r>
          </a:p>
          <a:p>
            <a:r>
              <a:rPr lang="en-US" sz="4800" b="1" dirty="0"/>
              <a:t> </a:t>
            </a:r>
          </a:p>
          <a:p>
            <a:r>
              <a:rPr lang="en-US" sz="3200" b="1" dirty="0" err="1"/>
              <a:t>Hemichordata</a:t>
            </a:r>
            <a:r>
              <a:rPr lang="en-US" sz="3200" b="1" dirty="0"/>
              <a:t> – Cambrian to Mississippian (Early Carboniferous)</a:t>
            </a:r>
          </a:p>
          <a:p>
            <a:endParaRPr lang="en-US" sz="3200" b="1" dirty="0"/>
          </a:p>
          <a:p>
            <a:r>
              <a:rPr lang="en-US" sz="3200" b="1" dirty="0"/>
              <a:t>Trilobites - Cambrian to Permian</a:t>
            </a:r>
          </a:p>
          <a:p>
            <a:endParaRPr lang="en-US" sz="3200" b="1" dirty="0"/>
          </a:p>
          <a:p>
            <a:r>
              <a:rPr lang="en-US" sz="3200" b="1" dirty="0"/>
              <a:t>Ammonoids – Devonian to Cretaceous</a:t>
            </a:r>
            <a:endParaRPr lang="en-US" sz="3600" b="1" dirty="0"/>
          </a:p>
        </p:txBody>
      </p:sp>
      <p:pic>
        <p:nvPicPr>
          <p:cNvPr id="3" name="Picture 2" descr="Image result for geologic time scale">
            <a:extLst>
              <a:ext uri="{FF2B5EF4-FFF2-40B4-BE49-F238E27FC236}">
                <a16:creationId xmlns:a16="http://schemas.microsoft.com/office/drawing/2014/main" id="{19A9D9A2-42D5-4304-803E-AA743D2C54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8088282" y="3002280"/>
            <a:ext cx="2328145" cy="3856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090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geologic time scale">
            <a:extLst>
              <a:ext uri="{FF2B5EF4-FFF2-40B4-BE49-F238E27FC236}">
                <a16:creationId xmlns:a16="http://schemas.microsoft.com/office/drawing/2014/main" id="{1C4098B5-BB0C-498A-8B5D-7D7FF7CC8B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498762" y="-1"/>
            <a:ext cx="4051899" cy="671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B171E-42EB-44A0-93C9-D74613B3624D}"/>
              </a:ext>
            </a:extLst>
          </p:cNvPr>
          <p:cNvCxnSpPr>
            <a:cxnSpLocks/>
          </p:cNvCxnSpPr>
          <p:nvPr/>
        </p:nvCxnSpPr>
        <p:spPr>
          <a:xfrm>
            <a:off x="4399125" y="4157747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E8312A-C07B-4F71-B03F-9930F966210E}"/>
              </a:ext>
            </a:extLst>
          </p:cNvPr>
          <p:cNvCxnSpPr>
            <a:cxnSpLocks/>
          </p:cNvCxnSpPr>
          <p:nvPr/>
        </p:nvCxnSpPr>
        <p:spPr>
          <a:xfrm>
            <a:off x="5353396" y="6517178"/>
            <a:ext cx="119980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CAA3C1-43DE-4144-8CBC-03C0C89CFBC0}"/>
              </a:ext>
            </a:extLst>
          </p:cNvPr>
          <p:cNvCxnSpPr>
            <a:cxnSpLocks/>
          </p:cNvCxnSpPr>
          <p:nvPr/>
        </p:nvCxnSpPr>
        <p:spPr>
          <a:xfrm>
            <a:off x="5277196" y="3383280"/>
            <a:ext cx="119980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8B6D-35B0-4C3E-A15D-BB65476A124C}"/>
              </a:ext>
            </a:extLst>
          </p:cNvPr>
          <p:cNvCxnSpPr>
            <a:cxnSpLocks/>
          </p:cNvCxnSpPr>
          <p:nvPr/>
        </p:nvCxnSpPr>
        <p:spPr>
          <a:xfrm>
            <a:off x="6767505" y="5212401"/>
            <a:ext cx="119980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5C5EBC-00CC-4134-80CB-888CA7C9FBBB}"/>
              </a:ext>
            </a:extLst>
          </p:cNvPr>
          <p:cNvCxnSpPr>
            <a:cxnSpLocks/>
          </p:cNvCxnSpPr>
          <p:nvPr/>
        </p:nvCxnSpPr>
        <p:spPr>
          <a:xfrm>
            <a:off x="6664036" y="1366058"/>
            <a:ext cx="119980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5EA9E1-3DF9-4620-AB65-44B917443924}"/>
              </a:ext>
            </a:extLst>
          </p:cNvPr>
          <p:cNvSpPr txBox="1"/>
          <p:nvPr/>
        </p:nvSpPr>
        <p:spPr>
          <a:xfrm rot="16200000">
            <a:off x="4632995" y="4590049"/>
            <a:ext cx="3453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Trilobites - Cambrian to Permian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41FF8-A3B2-47BB-AE44-F8B85E9287BF}"/>
              </a:ext>
            </a:extLst>
          </p:cNvPr>
          <p:cNvSpPr txBox="1"/>
          <p:nvPr/>
        </p:nvSpPr>
        <p:spPr>
          <a:xfrm rot="16200000">
            <a:off x="6732160" y="3156207"/>
            <a:ext cx="1669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Ammonoids 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B6734-DB0D-4E5F-898E-54B41374BC6F}"/>
              </a:ext>
            </a:extLst>
          </p:cNvPr>
          <p:cNvSpPr txBox="1"/>
          <p:nvPr/>
        </p:nvSpPr>
        <p:spPr>
          <a:xfrm rot="16200000">
            <a:off x="4249594" y="5027722"/>
            <a:ext cx="1558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Hemichordata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300636C9-B43D-44F5-86FD-A4DA629982F6}"/>
              </a:ext>
            </a:extLst>
          </p:cNvPr>
          <p:cNvSpPr/>
          <p:nvPr/>
        </p:nvSpPr>
        <p:spPr>
          <a:xfrm rot="16200000">
            <a:off x="3628069" y="5052069"/>
            <a:ext cx="2297084" cy="508441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E5376F56-EA0F-4AE4-B2AB-7FCA3BBABE11}"/>
              </a:ext>
            </a:extLst>
          </p:cNvPr>
          <p:cNvSpPr/>
          <p:nvPr/>
        </p:nvSpPr>
        <p:spPr>
          <a:xfrm rot="16200000">
            <a:off x="4392161" y="4689772"/>
            <a:ext cx="3121427" cy="508441"/>
          </a:xfrm>
          <a:prstGeom prst="leftRightArrow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64FA55CF-A4AD-4ABB-9421-BF537BA7E089}"/>
              </a:ext>
            </a:extLst>
          </p:cNvPr>
          <p:cNvSpPr/>
          <p:nvPr/>
        </p:nvSpPr>
        <p:spPr>
          <a:xfrm rot="16200000">
            <a:off x="5363814" y="3050937"/>
            <a:ext cx="3814467" cy="508441"/>
          </a:xfrm>
          <a:prstGeom prst="left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7BD758-8B55-495A-BA07-268077981F6E}"/>
              </a:ext>
            </a:extLst>
          </p:cNvPr>
          <p:cNvCxnSpPr>
            <a:cxnSpLocks/>
          </p:cNvCxnSpPr>
          <p:nvPr/>
        </p:nvCxnSpPr>
        <p:spPr>
          <a:xfrm>
            <a:off x="9047453" y="5212391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C6C8BB-FBC9-4581-8CFC-72EE342E5E66}"/>
              </a:ext>
            </a:extLst>
          </p:cNvPr>
          <p:cNvCxnSpPr>
            <a:cxnSpLocks/>
          </p:cNvCxnSpPr>
          <p:nvPr/>
        </p:nvCxnSpPr>
        <p:spPr>
          <a:xfrm>
            <a:off x="9067268" y="4164781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2F82B2-7008-4527-8E80-A4DCB780A2C6}"/>
              </a:ext>
            </a:extLst>
          </p:cNvPr>
          <p:cNvCxnSpPr>
            <a:cxnSpLocks/>
          </p:cNvCxnSpPr>
          <p:nvPr/>
        </p:nvCxnSpPr>
        <p:spPr>
          <a:xfrm flipV="1">
            <a:off x="2179320" y="5240524"/>
            <a:ext cx="8244840" cy="13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4CDFDB-1291-4334-A4B2-5FC6992DF98A}"/>
              </a:ext>
            </a:extLst>
          </p:cNvPr>
          <p:cNvCxnSpPr>
            <a:cxnSpLocks/>
          </p:cNvCxnSpPr>
          <p:nvPr/>
        </p:nvCxnSpPr>
        <p:spPr>
          <a:xfrm flipV="1">
            <a:off x="2194560" y="4118741"/>
            <a:ext cx="8342142" cy="3271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BC2AFC-020B-4EF8-A8D8-5A57F7DA133F}"/>
              </a:ext>
            </a:extLst>
          </p:cNvPr>
          <p:cNvCxnSpPr>
            <a:cxnSpLocks/>
          </p:cNvCxnSpPr>
          <p:nvPr/>
        </p:nvCxnSpPr>
        <p:spPr>
          <a:xfrm>
            <a:off x="4368593" y="6517178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874A15F5-04E9-4429-8162-991F900160BD}"/>
              </a:ext>
            </a:extLst>
          </p:cNvPr>
          <p:cNvSpPr/>
          <p:nvPr/>
        </p:nvSpPr>
        <p:spPr>
          <a:xfrm rot="16200000">
            <a:off x="9058753" y="4418378"/>
            <a:ext cx="1079579" cy="508441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F06C6-86EC-449D-ACA9-1E206227639C}"/>
              </a:ext>
            </a:extLst>
          </p:cNvPr>
          <p:cNvSpPr txBox="1"/>
          <p:nvPr/>
        </p:nvSpPr>
        <p:spPr>
          <a:xfrm rot="16200000">
            <a:off x="10147744" y="4010878"/>
            <a:ext cx="16692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Where all three fossils occur together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13B12C-9C89-42C7-8A99-2A4E9DFD28BA}"/>
              </a:ext>
            </a:extLst>
          </p:cNvPr>
          <p:cNvSpPr txBox="1"/>
          <p:nvPr/>
        </p:nvSpPr>
        <p:spPr>
          <a:xfrm>
            <a:off x="8340855" y="61319"/>
            <a:ext cx="38864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r>
              <a:rPr lang="en-US" sz="2000" b="1" dirty="0"/>
              <a:t>Assemblage One: </a:t>
            </a:r>
          </a:p>
          <a:p>
            <a:r>
              <a:rPr lang="en-US" sz="1600" b="1" dirty="0" err="1"/>
              <a:t>Hemichordata</a:t>
            </a:r>
            <a:r>
              <a:rPr lang="en-US" sz="1600" b="1" dirty="0"/>
              <a:t> – Cambrian to Mississippian (Early Carboniferous)</a:t>
            </a:r>
          </a:p>
          <a:p>
            <a:r>
              <a:rPr lang="en-US" sz="1600" b="1" dirty="0"/>
              <a:t>Trilobites - Cambrian to Permian</a:t>
            </a:r>
          </a:p>
          <a:p>
            <a:r>
              <a:rPr lang="en-US" sz="1600" b="1" dirty="0"/>
              <a:t>Ammonoids – Devonian to Cretaceous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D17684-15B9-4C8E-865E-3C4959AC449B}"/>
              </a:ext>
            </a:extLst>
          </p:cNvPr>
          <p:cNvSpPr txBox="1"/>
          <p:nvPr/>
        </p:nvSpPr>
        <p:spPr>
          <a:xfrm>
            <a:off x="7881332" y="5546828"/>
            <a:ext cx="38349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Top of Mississippian to the bottom of the Devonian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RANGE: DEVONIAN TO MISSISSIPPIAN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944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A8350-2F3B-40A4-844F-8CFA0C1062F7}"/>
              </a:ext>
            </a:extLst>
          </p:cNvPr>
          <p:cNvSpPr txBox="1"/>
          <p:nvPr/>
        </p:nvSpPr>
        <p:spPr>
          <a:xfrm>
            <a:off x="351692" y="351692"/>
            <a:ext cx="81979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 </a:t>
            </a:r>
            <a:r>
              <a:rPr lang="en-US" sz="2800" b="1" i="1" dirty="0"/>
              <a:t>Assemblage One: </a:t>
            </a:r>
          </a:p>
          <a:p>
            <a:endParaRPr lang="en-US" sz="2800" b="1" i="1" dirty="0"/>
          </a:p>
          <a:p>
            <a:r>
              <a:rPr lang="en-US" sz="3200" b="1" dirty="0" err="1"/>
              <a:t>Hemichordata</a:t>
            </a:r>
            <a:r>
              <a:rPr lang="en-US" sz="3200" b="1" dirty="0"/>
              <a:t> – Cambrian to Mississippian (Early Carboniferous)</a:t>
            </a:r>
          </a:p>
          <a:p>
            <a:r>
              <a:rPr lang="en-US" sz="3200" b="1" dirty="0"/>
              <a:t>Trilobites - Cambrian to Permian</a:t>
            </a:r>
          </a:p>
          <a:p>
            <a:r>
              <a:rPr lang="en-US" sz="3200" b="1" dirty="0"/>
              <a:t>Ammonoids – Devonian to Cretaceous</a:t>
            </a:r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>
                <a:solidFill>
                  <a:srgbClr val="7030A0"/>
                </a:solidFill>
              </a:rPr>
              <a:t>The three fossils occur together from the </a:t>
            </a:r>
            <a:r>
              <a:rPr lang="en-US" sz="4000" b="1" i="1" dirty="0">
                <a:solidFill>
                  <a:srgbClr val="7030A0"/>
                </a:solidFill>
              </a:rPr>
              <a:t>Devonian to Mississippian</a:t>
            </a:r>
            <a:endParaRPr lang="en-US" sz="3600" b="1" i="1" dirty="0">
              <a:solidFill>
                <a:srgbClr val="7030A0"/>
              </a:solidFill>
            </a:endParaRPr>
          </a:p>
        </p:txBody>
      </p:sp>
      <p:pic>
        <p:nvPicPr>
          <p:cNvPr id="4" name="Picture 3" descr="Image result for geologic time scale">
            <a:extLst>
              <a:ext uri="{FF2B5EF4-FFF2-40B4-BE49-F238E27FC236}">
                <a16:creationId xmlns:a16="http://schemas.microsoft.com/office/drawing/2014/main" id="{74409B61-36D4-44EE-A025-DAF2FC3DC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8125884" y="121920"/>
            <a:ext cx="4066116" cy="673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5BE418BD-17B7-4323-B9C8-76182AE24EB3}"/>
              </a:ext>
            </a:extLst>
          </p:cNvPr>
          <p:cNvSpPr/>
          <p:nvPr/>
        </p:nvSpPr>
        <p:spPr>
          <a:xfrm rot="5400000">
            <a:off x="9252212" y="4543212"/>
            <a:ext cx="1063736" cy="586740"/>
          </a:xfrm>
          <a:prstGeom prst="left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4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A8350-2F3B-40A4-844F-8CFA0C1062F7}"/>
              </a:ext>
            </a:extLst>
          </p:cNvPr>
          <p:cNvSpPr txBox="1"/>
          <p:nvPr/>
        </p:nvSpPr>
        <p:spPr>
          <a:xfrm>
            <a:off x="275492" y="351692"/>
            <a:ext cx="116410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 </a:t>
            </a:r>
            <a:r>
              <a:rPr lang="en-US" sz="3600" b="1" i="1" dirty="0"/>
              <a:t>Assemblage Two</a:t>
            </a:r>
            <a:r>
              <a:rPr lang="en-US" sz="3200" b="1" i="1" dirty="0"/>
              <a:t>: </a:t>
            </a:r>
          </a:p>
          <a:p>
            <a:pPr lvl="0"/>
            <a:endParaRPr lang="en-US" sz="3200" b="1" dirty="0"/>
          </a:p>
          <a:p>
            <a:pPr lvl="0"/>
            <a:r>
              <a:rPr lang="en-US" sz="3200" b="1" dirty="0"/>
              <a:t>Articulate Brachiopods – Cambrian to Recent </a:t>
            </a:r>
          </a:p>
          <a:p>
            <a:pPr lvl="0"/>
            <a:r>
              <a:rPr lang="en-US" sz="3200" b="1" dirty="0"/>
              <a:t>Pelecypods (bivalves) – Cambrian to Recent</a:t>
            </a:r>
          </a:p>
          <a:p>
            <a:pPr lvl="0"/>
            <a:r>
              <a:rPr lang="en-US" sz="3200" b="1" dirty="0"/>
              <a:t>Bryozoans – Ordovician to Recent</a:t>
            </a:r>
          </a:p>
          <a:p>
            <a:pPr lvl="0"/>
            <a:r>
              <a:rPr lang="en-US" sz="3200" b="1" dirty="0"/>
              <a:t>Rugose Corals – Ordovician to Permian</a:t>
            </a:r>
          </a:p>
          <a:p>
            <a:r>
              <a:rPr lang="en-US" sz="2400" b="1" dirty="0"/>
              <a:t> </a:t>
            </a:r>
          </a:p>
          <a:p>
            <a:endParaRPr lang="en-US" sz="1400" dirty="0"/>
          </a:p>
        </p:txBody>
      </p:sp>
      <p:pic>
        <p:nvPicPr>
          <p:cNvPr id="3" name="Picture 2" descr="Image result for geologic time scale">
            <a:extLst>
              <a:ext uri="{FF2B5EF4-FFF2-40B4-BE49-F238E27FC236}">
                <a16:creationId xmlns:a16="http://schemas.microsoft.com/office/drawing/2014/main" id="{B9EC439F-E1BB-4D5B-9A6D-0DF33EB36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8560722" y="675821"/>
            <a:ext cx="3631278" cy="601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2304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geologic time scale">
            <a:extLst>
              <a:ext uri="{FF2B5EF4-FFF2-40B4-BE49-F238E27FC236}">
                <a16:creationId xmlns:a16="http://schemas.microsoft.com/office/drawing/2014/main" id="{1C4098B5-BB0C-498A-8B5D-7D7FF7CC8B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361566" y="-166327"/>
            <a:ext cx="4189096" cy="69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B171E-42EB-44A0-93C9-D74613B3624D}"/>
              </a:ext>
            </a:extLst>
          </p:cNvPr>
          <p:cNvCxnSpPr>
            <a:cxnSpLocks/>
          </p:cNvCxnSpPr>
          <p:nvPr/>
        </p:nvCxnSpPr>
        <p:spPr>
          <a:xfrm>
            <a:off x="4295317" y="515387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E8312A-C07B-4F71-B03F-9930F966210E}"/>
              </a:ext>
            </a:extLst>
          </p:cNvPr>
          <p:cNvCxnSpPr>
            <a:cxnSpLocks/>
          </p:cNvCxnSpPr>
          <p:nvPr/>
        </p:nvCxnSpPr>
        <p:spPr>
          <a:xfrm>
            <a:off x="5325021" y="5968538"/>
            <a:ext cx="119980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CAA3C1-43DE-4144-8CBC-03C0C89CFBC0}"/>
              </a:ext>
            </a:extLst>
          </p:cNvPr>
          <p:cNvCxnSpPr>
            <a:cxnSpLocks/>
          </p:cNvCxnSpPr>
          <p:nvPr/>
        </p:nvCxnSpPr>
        <p:spPr>
          <a:xfrm>
            <a:off x="5325021" y="515386"/>
            <a:ext cx="119980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8B6D-35B0-4C3E-A15D-BB65476A124C}"/>
              </a:ext>
            </a:extLst>
          </p:cNvPr>
          <p:cNvCxnSpPr>
            <a:cxnSpLocks/>
          </p:cNvCxnSpPr>
          <p:nvPr/>
        </p:nvCxnSpPr>
        <p:spPr>
          <a:xfrm>
            <a:off x="6724996" y="5978236"/>
            <a:ext cx="119980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5C5EBC-00CC-4134-80CB-888CA7C9FBBB}"/>
              </a:ext>
            </a:extLst>
          </p:cNvPr>
          <p:cNvCxnSpPr>
            <a:cxnSpLocks/>
          </p:cNvCxnSpPr>
          <p:nvPr/>
        </p:nvCxnSpPr>
        <p:spPr>
          <a:xfrm>
            <a:off x="6663480" y="3347256"/>
            <a:ext cx="119980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5EA9E1-3DF9-4620-AB65-44B917443924}"/>
              </a:ext>
            </a:extLst>
          </p:cNvPr>
          <p:cNvSpPr txBox="1"/>
          <p:nvPr/>
        </p:nvSpPr>
        <p:spPr>
          <a:xfrm rot="16200000">
            <a:off x="5264146" y="2776666"/>
            <a:ext cx="1658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Bryozoans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41FF8-A3B2-47BB-AE44-F8B85E9287BF}"/>
              </a:ext>
            </a:extLst>
          </p:cNvPr>
          <p:cNvSpPr txBox="1"/>
          <p:nvPr/>
        </p:nvSpPr>
        <p:spPr>
          <a:xfrm rot="16200000">
            <a:off x="6306489" y="4317527"/>
            <a:ext cx="2617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Rugose Corals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B6734-DB0D-4E5F-898E-54B41374BC6F}"/>
              </a:ext>
            </a:extLst>
          </p:cNvPr>
          <p:cNvSpPr txBox="1"/>
          <p:nvPr/>
        </p:nvSpPr>
        <p:spPr>
          <a:xfrm rot="16200000">
            <a:off x="3185220" y="3118912"/>
            <a:ext cx="356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Articulate Brachiopods &amp; </a:t>
            </a:r>
            <a:r>
              <a:rPr lang="en-US" b="1" dirty="0" err="1">
                <a:solidFill>
                  <a:srgbClr val="C00000"/>
                </a:solidFill>
              </a:rPr>
              <a:t>BIvalves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300636C9-B43D-44F5-86FD-A4DA629982F6}"/>
              </a:ext>
            </a:extLst>
          </p:cNvPr>
          <p:cNvSpPr/>
          <p:nvPr/>
        </p:nvSpPr>
        <p:spPr>
          <a:xfrm rot="16200000">
            <a:off x="1690988" y="3255822"/>
            <a:ext cx="5989313" cy="508441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E5376F56-EA0F-4AE4-B2AB-7FCA3BBABE11}"/>
              </a:ext>
            </a:extLst>
          </p:cNvPr>
          <p:cNvSpPr/>
          <p:nvPr/>
        </p:nvSpPr>
        <p:spPr>
          <a:xfrm rot="16200000">
            <a:off x="3116529" y="2987741"/>
            <a:ext cx="5453152" cy="508441"/>
          </a:xfrm>
          <a:prstGeom prst="leftRightArrow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64FA55CF-A4AD-4ABB-9421-BF537BA7E089}"/>
              </a:ext>
            </a:extLst>
          </p:cNvPr>
          <p:cNvSpPr/>
          <p:nvPr/>
        </p:nvSpPr>
        <p:spPr>
          <a:xfrm rot="16200000">
            <a:off x="5976068" y="4418915"/>
            <a:ext cx="2590803" cy="508441"/>
          </a:xfrm>
          <a:prstGeom prst="left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7BD758-8B55-495A-BA07-268077981F6E}"/>
              </a:ext>
            </a:extLst>
          </p:cNvPr>
          <p:cNvCxnSpPr>
            <a:cxnSpLocks/>
          </p:cNvCxnSpPr>
          <p:nvPr/>
        </p:nvCxnSpPr>
        <p:spPr>
          <a:xfrm>
            <a:off x="9053112" y="5987934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C6C8BB-FBC9-4581-8CFC-72EE342E5E66}"/>
              </a:ext>
            </a:extLst>
          </p:cNvPr>
          <p:cNvCxnSpPr>
            <a:cxnSpLocks/>
          </p:cNvCxnSpPr>
          <p:nvPr/>
        </p:nvCxnSpPr>
        <p:spPr>
          <a:xfrm>
            <a:off x="9117676" y="3383280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2F82B2-7008-4527-8E80-A4DCB780A2C6}"/>
              </a:ext>
            </a:extLst>
          </p:cNvPr>
          <p:cNvCxnSpPr>
            <a:cxnSpLocks/>
          </p:cNvCxnSpPr>
          <p:nvPr/>
        </p:nvCxnSpPr>
        <p:spPr>
          <a:xfrm>
            <a:off x="2082338" y="6024800"/>
            <a:ext cx="845169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4CDFDB-1291-4334-A4B2-5FC6992DF98A}"/>
              </a:ext>
            </a:extLst>
          </p:cNvPr>
          <p:cNvCxnSpPr>
            <a:cxnSpLocks/>
          </p:cNvCxnSpPr>
          <p:nvPr/>
        </p:nvCxnSpPr>
        <p:spPr>
          <a:xfrm flipV="1">
            <a:off x="2148840" y="3303579"/>
            <a:ext cx="8168640" cy="43679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BC2AFC-020B-4EF8-A8D8-5A57F7DA133F}"/>
              </a:ext>
            </a:extLst>
          </p:cNvPr>
          <p:cNvCxnSpPr>
            <a:cxnSpLocks/>
          </p:cNvCxnSpPr>
          <p:nvPr/>
        </p:nvCxnSpPr>
        <p:spPr>
          <a:xfrm>
            <a:off x="4368593" y="6517178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874A15F5-04E9-4429-8162-991F900160BD}"/>
              </a:ext>
            </a:extLst>
          </p:cNvPr>
          <p:cNvSpPr/>
          <p:nvPr/>
        </p:nvSpPr>
        <p:spPr>
          <a:xfrm rot="16200000">
            <a:off x="8357618" y="4418911"/>
            <a:ext cx="2590793" cy="508441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F06C6-86EC-449D-ACA9-1E206227639C}"/>
              </a:ext>
            </a:extLst>
          </p:cNvPr>
          <p:cNvSpPr txBox="1"/>
          <p:nvPr/>
        </p:nvSpPr>
        <p:spPr>
          <a:xfrm rot="16200000">
            <a:off x="8970523" y="4245781"/>
            <a:ext cx="3834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Where all four  fossils occur together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BEDD1A-74FC-48E3-A1FF-7B3228A2EEA4}"/>
              </a:ext>
            </a:extLst>
          </p:cNvPr>
          <p:cNvSpPr txBox="1"/>
          <p:nvPr/>
        </p:nvSpPr>
        <p:spPr>
          <a:xfrm>
            <a:off x="7525690" y="312390"/>
            <a:ext cx="449594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 </a:t>
            </a:r>
            <a:r>
              <a:rPr lang="en-US" sz="2000" b="1" i="1" dirty="0"/>
              <a:t>Assemblage Two</a:t>
            </a:r>
            <a:r>
              <a:rPr lang="en-US" b="1" i="1" dirty="0"/>
              <a:t>: 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Articulate Brachiopods – Cambrian to Recent </a:t>
            </a:r>
          </a:p>
          <a:p>
            <a:pPr lvl="0"/>
            <a:r>
              <a:rPr lang="en-US" b="1" dirty="0"/>
              <a:t>Pelecypods (bivalves) – Cambrian to Recent</a:t>
            </a:r>
          </a:p>
          <a:p>
            <a:pPr lvl="0"/>
            <a:r>
              <a:rPr lang="en-US" b="1" dirty="0"/>
              <a:t>Bryozoans – Ordovician to Recent</a:t>
            </a:r>
          </a:p>
          <a:p>
            <a:pPr lvl="0"/>
            <a:r>
              <a:rPr lang="en-US" b="1" dirty="0"/>
              <a:t>Rugose Corals – Ordovician to Permian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RANGE: ORDOVICIAN TO PERMIAN</a:t>
            </a:r>
          </a:p>
          <a:p>
            <a:r>
              <a:rPr lang="en-US" sz="2400" b="1" dirty="0"/>
              <a:t> </a:t>
            </a:r>
          </a:p>
          <a:p>
            <a:endParaRPr lang="en-US" sz="1400" dirty="0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A5352B03-A252-461E-8981-A9D4CE1538A6}"/>
              </a:ext>
            </a:extLst>
          </p:cNvPr>
          <p:cNvSpPr/>
          <p:nvPr/>
        </p:nvSpPr>
        <p:spPr>
          <a:xfrm rot="5400000">
            <a:off x="771526" y="4406572"/>
            <a:ext cx="2664949" cy="458963"/>
          </a:xfrm>
          <a:prstGeom prst="left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10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A8350-2F3B-40A4-844F-8CFA0C1062F7}"/>
              </a:ext>
            </a:extLst>
          </p:cNvPr>
          <p:cNvSpPr txBox="1"/>
          <p:nvPr/>
        </p:nvSpPr>
        <p:spPr>
          <a:xfrm>
            <a:off x="351692" y="351692"/>
            <a:ext cx="116410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b="1" i="1" dirty="0"/>
              <a:t>Assemblage Three: </a:t>
            </a:r>
          </a:p>
          <a:p>
            <a:endParaRPr lang="en-US" sz="3200" b="1" dirty="0"/>
          </a:p>
          <a:p>
            <a:r>
              <a:rPr lang="en-US" sz="3200" b="1" dirty="0"/>
              <a:t>Gastropods - Cambrian to Recent</a:t>
            </a:r>
          </a:p>
          <a:p>
            <a:pPr lvl="0"/>
            <a:r>
              <a:rPr lang="en-US" sz="3200" b="1" dirty="0"/>
              <a:t>Pelecypods (bivalves) – Cambrian to Recent</a:t>
            </a:r>
          </a:p>
          <a:p>
            <a:pPr lvl="0"/>
            <a:r>
              <a:rPr lang="en-US" sz="3200" b="1" dirty="0" err="1"/>
              <a:t>Scleractinian</a:t>
            </a:r>
            <a:r>
              <a:rPr lang="en-US" sz="3200" b="1" dirty="0"/>
              <a:t> Corals – Triassic to Recent</a:t>
            </a:r>
          </a:p>
          <a:p>
            <a:pPr lvl="0"/>
            <a:r>
              <a:rPr lang="en-US" sz="3200" b="1" dirty="0"/>
              <a:t>Fish (Pisces) – Ordovician to Recent</a:t>
            </a:r>
          </a:p>
          <a:p>
            <a:endParaRPr lang="en-US" sz="2400" b="1" dirty="0"/>
          </a:p>
        </p:txBody>
      </p:sp>
      <p:pic>
        <p:nvPicPr>
          <p:cNvPr id="3" name="Picture 2" descr="Image result for geologic time scale">
            <a:extLst>
              <a:ext uri="{FF2B5EF4-FFF2-40B4-BE49-F238E27FC236}">
                <a16:creationId xmlns:a16="http://schemas.microsoft.com/office/drawing/2014/main" id="{5E00FF8D-2052-49BA-AD1D-B9580B8B6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8560722" y="675821"/>
            <a:ext cx="3631278" cy="6015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5915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geologic time scale">
            <a:extLst>
              <a:ext uri="{FF2B5EF4-FFF2-40B4-BE49-F238E27FC236}">
                <a16:creationId xmlns:a16="http://schemas.microsoft.com/office/drawing/2014/main" id="{1C4098B5-BB0C-498A-8B5D-7D7FF7CC8B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361566" y="-166327"/>
            <a:ext cx="4189096" cy="69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B171E-42EB-44A0-93C9-D74613B3624D}"/>
              </a:ext>
            </a:extLst>
          </p:cNvPr>
          <p:cNvCxnSpPr>
            <a:cxnSpLocks/>
          </p:cNvCxnSpPr>
          <p:nvPr/>
        </p:nvCxnSpPr>
        <p:spPr>
          <a:xfrm>
            <a:off x="4295317" y="515387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E8312A-C07B-4F71-B03F-9930F966210E}"/>
              </a:ext>
            </a:extLst>
          </p:cNvPr>
          <p:cNvCxnSpPr>
            <a:cxnSpLocks/>
          </p:cNvCxnSpPr>
          <p:nvPr/>
        </p:nvCxnSpPr>
        <p:spPr>
          <a:xfrm flipV="1">
            <a:off x="5279162" y="3337550"/>
            <a:ext cx="820822" cy="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CAA3C1-43DE-4144-8CBC-03C0C89CFBC0}"/>
              </a:ext>
            </a:extLst>
          </p:cNvPr>
          <p:cNvCxnSpPr>
            <a:cxnSpLocks/>
          </p:cNvCxnSpPr>
          <p:nvPr/>
        </p:nvCxnSpPr>
        <p:spPr>
          <a:xfrm flipV="1">
            <a:off x="5325021" y="515385"/>
            <a:ext cx="769004" cy="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8B6D-35B0-4C3E-A15D-BB65476A124C}"/>
              </a:ext>
            </a:extLst>
          </p:cNvPr>
          <p:cNvCxnSpPr>
            <a:cxnSpLocks/>
          </p:cNvCxnSpPr>
          <p:nvPr/>
        </p:nvCxnSpPr>
        <p:spPr>
          <a:xfrm>
            <a:off x="6313516" y="5978236"/>
            <a:ext cx="119980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5C5EBC-00CC-4134-80CB-888CA7C9FBBB}"/>
              </a:ext>
            </a:extLst>
          </p:cNvPr>
          <p:cNvCxnSpPr>
            <a:cxnSpLocks/>
          </p:cNvCxnSpPr>
          <p:nvPr/>
        </p:nvCxnSpPr>
        <p:spPr>
          <a:xfrm>
            <a:off x="6219377" y="525081"/>
            <a:ext cx="119980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5EA9E1-3DF9-4620-AB65-44B917443924}"/>
              </a:ext>
            </a:extLst>
          </p:cNvPr>
          <p:cNvSpPr txBox="1"/>
          <p:nvPr/>
        </p:nvSpPr>
        <p:spPr>
          <a:xfrm rot="16200000">
            <a:off x="4439492" y="1768028"/>
            <a:ext cx="291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Scleractinian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Corals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41FF8-A3B2-47BB-AE44-F8B85E9287BF}"/>
              </a:ext>
            </a:extLst>
          </p:cNvPr>
          <p:cNvSpPr txBox="1"/>
          <p:nvPr/>
        </p:nvSpPr>
        <p:spPr>
          <a:xfrm rot="16200000">
            <a:off x="5606144" y="3295013"/>
            <a:ext cx="2617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Fish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B6734-DB0D-4E5F-898E-54B41374BC6F}"/>
              </a:ext>
            </a:extLst>
          </p:cNvPr>
          <p:cNvSpPr txBox="1"/>
          <p:nvPr/>
        </p:nvSpPr>
        <p:spPr>
          <a:xfrm rot="16200000">
            <a:off x="3170907" y="3459770"/>
            <a:ext cx="356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Gastropods &amp; </a:t>
            </a:r>
            <a:r>
              <a:rPr lang="en-US" b="1" dirty="0" err="1">
                <a:solidFill>
                  <a:srgbClr val="C00000"/>
                </a:solidFill>
              </a:rPr>
              <a:t>BIvalves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300636C9-B43D-44F5-86FD-A4DA629982F6}"/>
              </a:ext>
            </a:extLst>
          </p:cNvPr>
          <p:cNvSpPr/>
          <p:nvPr/>
        </p:nvSpPr>
        <p:spPr>
          <a:xfrm rot="16200000">
            <a:off x="1690988" y="3255822"/>
            <a:ext cx="5989313" cy="508441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E5376F56-EA0F-4AE4-B2AB-7FCA3BBABE11}"/>
              </a:ext>
            </a:extLst>
          </p:cNvPr>
          <p:cNvSpPr/>
          <p:nvPr/>
        </p:nvSpPr>
        <p:spPr>
          <a:xfrm rot="16200000">
            <a:off x="4181258" y="1618214"/>
            <a:ext cx="2822143" cy="616487"/>
          </a:xfrm>
          <a:prstGeom prst="leftRightArrow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64FA55CF-A4AD-4ABB-9421-BF537BA7E089}"/>
              </a:ext>
            </a:extLst>
          </p:cNvPr>
          <p:cNvSpPr/>
          <p:nvPr/>
        </p:nvSpPr>
        <p:spPr>
          <a:xfrm rot="16200000">
            <a:off x="3936961" y="2977350"/>
            <a:ext cx="5412980" cy="508441"/>
          </a:xfrm>
          <a:prstGeom prst="left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7BD758-8B55-495A-BA07-268077981F6E}"/>
              </a:ext>
            </a:extLst>
          </p:cNvPr>
          <p:cNvCxnSpPr>
            <a:cxnSpLocks/>
          </p:cNvCxnSpPr>
          <p:nvPr/>
        </p:nvCxnSpPr>
        <p:spPr>
          <a:xfrm>
            <a:off x="7513320" y="525080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C6C8BB-FBC9-4581-8CFC-72EE342E5E66}"/>
              </a:ext>
            </a:extLst>
          </p:cNvPr>
          <p:cNvCxnSpPr>
            <a:cxnSpLocks/>
          </p:cNvCxnSpPr>
          <p:nvPr/>
        </p:nvCxnSpPr>
        <p:spPr>
          <a:xfrm>
            <a:off x="7502236" y="3383280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2F82B2-7008-4527-8E80-A4DCB780A2C6}"/>
              </a:ext>
            </a:extLst>
          </p:cNvPr>
          <p:cNvCxnSpPr>
            <a:cxnSpLocks/>
          </p:cNvCxnSpPr>
          <p:nvPr/>
        </p:nvCxnSpPr>
        <p:spPr>
          <a:xfrm>
            <a:off x="2148840" y="509840"/>
            <a:ext cx="166531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4CDFDB-1291-4334-A4B2-5FC6992DF98A}"/>
              </a:ext>
            </a:extLst>
          </p:cNvPr>
          <p:cNvCxnSpPr>
            <a:cxnSpLocks/>
          </p:cNvCxnSpPr>
          <p:nvPr/>
        </p:nvCxnSpPr>
        <p:spPr>
          <a:xfrm>
            <a:off x="2148840" y="3347258"/>
            <a:ext cx="166531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BC2AFC-020B-4EF8-A8D8-5A57F7DA133F}"/>
              </a:ext>
            </a:extLst>
          </p:cNvPr>
          <p:cNvCxnSpPr>
            <a:cxnSpLocks/>
          </p:cNvCxnSpPr>
          <p:nvPr/>
        </p:nvCxnSpPr>
        <p:spPr>
          <a:xfrm>
            <a:off x="4368593" y="6517178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874A15F5-04E9-4429-8162-991F900160BD}"/>
              </a:ext>
            </a:extLst>
          </p:cNvPr>
          <p:cNvSpPr/>
          <p:nvPr/>
        </p:nvSpPr>
        <p:spPr>
          <a:xfrm rot="16200000">
            <a:off x="6595805" y="1692321"/>
            <a:ext cx="2812445" cy="508441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F06C6-86EC-449D-ACA9-1E206227639C}"/>
              </a:ext>
            </a:extLst>
          </p:cNvPr>
          <p:cNvSpPr txBox="1"/>
          <p:nvPr/>
        </p:nvSpPr>
        <p:spPr>
          <a:xfrm rot="16200000">
            <a:off x="7092269" y="1592598"/>
            <a:ext cx="3834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Where all four  fossils occur together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EA526-4311-462A-B062-B84DBD4E126B}"/>
              </a:ext>
            </a:extLst>
          </p:cNvPr>
          <p:cNvSpPr txBox="1"/>
          <p:nvPr/>
        </p:nvSpPr>
        <p:spPr>
          <a:xfrm>
            <a:off x="7440811" y="3821726"/>
            <a:ext cx="477722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i="1" dirty="0"/>
              <a:t>Assemblage Three: </a:t>
            </a:r>
          </a:p>
          <a:p>
            <a:endParaRPr lang="en-US" sz="2000" b="1" dirty="0"/>
          </a:p>
          <a:p>
            <a:r>
              <a:rPr lang="en-US" sz="2000" b="1" dirty="0"/>
              <a:t>Gastropods - Cambrian to Recent</a:t>
            </a:r>
          </a:p>
          <a:p>
            <a:pPr lvl="0"/>
            <a:r>
              <a:rPr lang="en-US" sz="2000" b="1" dirty="0"/>
              <a:t>Pelecypods (bivalves) – Cambrian to Recent</a:t>
            </a:r>
          </a:p>
          <a:p>
            <a:pPr lvl="0"/>
            <a:r>
              <a:rPr lang="en-US" sz="2000" b="1" dirty="0" err="1"/>
              <a:t>Scleractinian</a:t>
            </a:r>
            <a:r>
              <a:rPr lang="en-US" sz="2000" b="1" dirty="0"/>
              <a:t> Corals – Triassic to Recent</a:t>
            </a:r>
          </a:p>
          <a:p>
            <a:pPr lvl="0"/>
            <a:r>
              <a:rPr lang="en-US" sz="2000" b="1" dirty="0"/>
              <a:t>Fish (Pisces) – Ordovician to Recent</a:t>
            </a:r>
          </a:p>
          <a:p>
            <a:pPr lvl="0"/>
            <a:endParaRPr lang="en-US" sz="2000" b="1" dirty="0"/>
          </a:p>
          <a:p>
            <a:pPr lvl="0"/>
            <a:r>
              <a:rPr lang="en-US" sz="2000" b="1" dirty="0"/>
              <a:t>RANGE: TRIASSIC TO RECENT</a:t>
            </a:r>
          </a:p>
          <a:p>
            <a:endParaRPr lang="en-US" sz="2400" b="1" dirty="0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FDD5483C-9070-426A-B6EB-FA0B32DAFD51}"/>
              </a:ext>
            </a:extLst>
          </p:cNvPr>
          <p:cNvSpPr/>
          <p:nvPr/>
        </p:nvSpPr>
        <p:spPr>
          <a:xfrm rot="16200000">
            <a:off x="698653" y="1780661"/>
            <a:ext cx="2812445" cy="301290"/>
          </a:xfrm>
          <a:prstGeom prst="left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035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DA8350-2F3B-40A4-844F-8CFA0C1062F7}"/>
              </a:ext>
            </a:extLst>
          </p:cNvPr>
          <p:cNvSpPr txBox="1"/>
          <p:nvPr/>
        </p:nvSpPr>
        <p:spPr>
          <a:xfrm>
            <a:off x="351692" y="351692"/>
            <a:ext cx="116410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 </a:t>
            </a:r>
            <a:r>
              <a:rPr lang="en-US" sz="2800" b="1" dirty="0"/>
              <a:t>Assemblage Four: </a:t>
            </a:r>
          </a:p>
          <a:p>
            <a:endParaRPr lang="en-US" sz="3200" b="1" dirty="0"/>
          </a:p>
          <a:p>
            <a:r>
              <a:rPr lang="en-US" sz="3200" b="1" dirty="0" err="1"/>
              <a:t>Blastoidea</a:t>
            </a:r>
            <a:r>
              <a:rPr lang="en-US" sz="3200" b="1" dirty="0"/>
              <a:t> – Ordovician to Permian</a:t>
            </a:r>
          </a:p>
          <a:p>
            <a:r>
              <a:rPr lang="en-US" sz="3200" b="1" dirty="0"/>
              <a:t>Ammonoidea – Devonian to Cretaceous</a:t>
            </a:r>
          </a:p>
          <a:p>
            <a:r>
              <a:rPr lang="en-US" sz="3200" b="1" dirty="0"/>
              <a:t>Reptile Skull – Pennsylvanian </a:t>
            </a:r>
            <a:r>
              <a:rPr lang="en-US" sz="2400" b="1" dirty="0"/>
              <a:t>(late Carboniferous) </a:t>
            </a:r>
            <a:r>
              <a:rPr lang="en-US" sz="3200" b="1" dirty="0"/>
              <a:t>to Recent</a:t>
            </a:r>
          </a:p>
          <a:p>
            <a:r>
              <a:rPr lang="en-US" sz="3200" b="1" dirty="0"/>
              <a:t>Tabulate Corals – Ordovician to Permian</a:t>
            </a:r>
          </a:p>
          <a:p>
            <a:endParaRPr lang="en-US" sz="3200" b="1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48121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geologic time scale">
            <a:extLst>
              <a:ext uri="{FF2B5EF4-FFF2-40B4-BE49-F238E27FC236}">
                <a16:creationId xmlns:a16="http://schemas.microsoft.com/office/drawing/2014/main" id="{1C4098B5-BB0C-498A-8B5D-7D7FF7CC8B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4" b="8428"/>
          <a:stretch/>
        </p:blipFill>
        <p:spPr bwMode="auto">
          <a:xfrm>
            <a:off x="361566" y="-166327"/>
            <a:ext cx="4189096" cy="69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B171E-42EB-44A0-93C9-D74613B3624D}"/>
              </a:ext>
            </a:extLst>
          </p:cNvPr>
          <p:cNvCxnSpPr>
            <a:cxnSpLocks/>
          </p:cNvCxnSpPr>
          <p:nvPr/>
        </p:nvCxnSpPr>
        <p:spPr>
          <a:xfrm>
            <a:off x="4375978" y="3342992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E8312A-C07B-4F71-B03F-9930F966210E}"/>
              </a:ext>
            </a:extLst>
          </p:cNvPr>
          <p:cNvCxnSpPr>
            <a:cxnSpLocks/>
          </p:cNvCxnSpPr>
          <p:nvPr/>
        </p:nvCxnSpPr>
        <p:spPr>
          <a:xfrm flipV="1">
            <a:off x="5263922" y="5218892"/>
            <a:ext cx="820822" cy="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CAA3C1-43DE-4144-8CBC-03C0C89CFBC0}"/>
              </a:ext>
            </a:extLst>
          </p:cNvPr>
          <p:cNvCxnSpPr>
            <a:cxnSpLocks/>
          </p:cNvCxnSpPr>
          <p:nvPr/>
        </p:nvCxnSpPr>
        <p:spPr>
          <a:xfrm flipV="1">
            <a:off x="5252936" y="1262145"/>
            <a:ext cx="769004" cy="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8B6D-35B0-4C3E-A15D-BB65476A124C}"/>
              </a:ext>
            </a:extLst>
          </p:cNvPr>
          <p:cNvCxnSpPr>
            <a:cxnSpLocks/>
          </p:cNvCxnSpPr>
          <p:nvPr/>
        </p:nvCxnSpPr>
        <p:spPr>
          <a:xfrm>
            <a:off x="6216534" y="4149436"/>
            <a:ext cx="898542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5EA9E1-3DF9-4620-AB65-44B917443924}"/>
              </a:ext>
            </a:extLst>
          </p:cNvPr>
          <p:cNvSpPr txBox="1"/>
          <p:nvPr/>
        </p:nvSpPr>
        <p:spPr>
          <a:xfrm rot="16200000">
            <a:off x="4449899" y="3031515"/>
            <a:ext cx="291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Ammonoids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41FF8-A3B2-47BB-AE44-F8B85E9287BF}"/>
              </a:ext>
            </a:extLst>
          </p:cNvPr>
          <p:cNvSpPr txBox="1"/>
          <p:nvPr/>
        </p:nvSpPr>
        <p:spPr>
          <a:xfrm rot="16200000">
            <a:off x="5741726" y="1649140"/>
            <a:ext cx="2617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Reptile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B6734-DB0D-4E5F-898E-54B41374BC6F}"/>
              </a:ext>
            </a:extLst>
          </p:cNvPr>
          <p:cNvSpPr txBox="1"/>
          <p:nvPr/>
        </p:nvSpPr>
        <p:spPr>
          <a:xfrm rot="16200000">
            <a:off x="3296549" y="4505146"/>
            <a:ext cx="356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Blastoids</a:t>
            </a:r>
            <a:r>
              <a:rPr lang="en-US" b="1" dirty="0">
                <a:solidFill>
                  <a:srgbClr val="C00000"/>
                </a:solidFill>
              </a:rPr>
              <a:t> &amp; Tabulate Coral</a:t>
            </a: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300636C9-B43D-44F5-86FD-A4DA629982F6}"/>
              </a:ext>
            </a:extLst>
          </p:cNvPr>
          <p:cNvSpPr/>
          <p:nvPr/>
        </p:nvSpPr>
        <p:spPr>
          <a:xfrm rot="16200000">
            <a:off x="3372873" y="4401541"/>
            <a:ext cx="2625544" cy="508441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E5376F56-EA0F-4AE4-B2AB-7FCA3BBABE11}"/>
              </a:ext>
            </a:extLst>
          </p:cNvPr>
          <p:cNvSpPr/>
          <p:nvPr/>
        </p:nvSpPr>
        <p:spPr>
          <a:xfrm rot="16200000">
            <a:off x="3615536" y="2932262"/>
            <a:ext cx="3956724" cy="616487"/>
          </a:xfrm>
          <a:prstGeom prst="leftRightArrow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64FA55CF-A4AD-4ABB-9421-BF537BA7E089}"/>
              </a:ext>
            </a:extLst>
          </p:cNvPr>
          <p:cNvSpPr/>
          <p:nvPr/>
        </p:nvSpPr>
        <p:spPr>
          <a:xfrm rot="16200000">
            <a:off x="4831287" y="2083025"/>
            <a:ext cx="3624330" cy="508441"/>
          </a:xfrm>
          <a:prstGeom prst="left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7BD758-8B55-495A-BA07-268077981F6E}"/>
              </a:ext>
            </a:extLst>
          </p:cNvPr>
          <p:cNvCxnSpPr>
            <a:cxnSpLocks/>
          </p:cNvCxnSpPr>
          <p:nvPr/>
        </p:nvCxnSpPr>
        <p:spPr>
          <a:xfrm>
            <a:off x="7571024" y="3342989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C6C8BB-FBC9-4581-8CFC-72EE342E5E66}"/>
              </a:ext>
            </a:extLst>
          </p:cNvPr>
          <p:cNvCxnSpPr>
            <a:cxnSpLocks/>
          </p:cNvCxnSpPr>
          <p:nvPr/>
        </p:nvCxnSpPr>
        <p:spPr>
          <a:xfrm>
            <a:off x="7608376" y="4149411"/>
            <a:ext cx="1199804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2F82B2-7008-4527-8E80-A4DCB780A2C6}"/>
              </a:ext>
            </a:extLst>
          </p:cNvPr>
          <p:cNvCxnSpPr>
            <a:cxnSpLocks/>
          </p:cNvCxnSpPr>
          <p:nvPr/>
        </p:nvCxnSpPr>
        <p:spPr>
          <a:xfrm>
            <a:off x="2148840" y="3314853"/>
            <a:ext cx="684041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4CDFDB-1291-4334-A4B2-5FC6992DF98A}"/>
              </a:ext>
            </a:extLst>
          </p:cNvPr>
          <p:cNvCxnSpPr>
            <a:cxnSpLocks/>
          </p:cNvCxnSpPr>
          <p:nvPr/>
        </p:nvCxnSpPr>
        <p:spPr>
          <a:xfrm>
            <a:off x="2148840" y="4191615"/>
            <a:ext cx="6840415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BC2AFC-020B-4EF8-A8D8-5A57F7DA133F}"/>
              </a:ext>
            </a:extLst>
          </p:cNvPr>
          <p:cNvCxnSpPr>
            <a:cxnSpLocks/>
          </p:cNvCxnSpPr>
          <p:nvPr/>
        </p:nvCxnSpPr>
        <p:spPr>
          <a:xfrm>
            <a:off x="4369284" y="5968538"/>
            <a:ext cx="8780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874A15F5-04E9-4429-8162-991F900160BD}"/>
              </a:ext>
            </a:extLst>
          </p:cNvPr>
          <p:cNvSpPr/>
          <p:nvPr/>
        </p:nvSpPr>
        <p:spPr>
          <a:xfrm rot="16200000">
            <a:off x="7721974" y="3482255"/>
            <a:ext cx="825821" cy="508441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BF06C6-86EC-449D-ACA9-1E206227639C}"/>
              </a:ext>
            </a:extLst>
          </p:cNvPr>
          <p:cNvSpPr txBox="1"/>
          <p:nvPr/>
        </p:nvSpPr>
        <p:spPr>
          <a:xfrm rot="16200000">
            <a:off x="9076428" y="3199464"/>
            <a:ext cx="140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Where all four  fossils occur together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2F6766-7DF6-45ED-B027-2EE58A654DE0}"/>
              </a:ext>
            </a:extLst>
          </p:cNvPr>
          <p:cNvSpPr txBox="1"/>
          <p:nvPr/>
        </p:nvSpPr>
        <p:spPr>
          <a:xfrm>
            <a:off x="6850547" y="4564296"/>
            <a:ext cx="459309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 </a:t>
            </a:r>
            <a:r>
              <a:rPr lang="en-US" sz="1600" b="1" dirty="0"/>
              <a:t>Assemblage Four: </a:t>
            </a:r>
            <a:endParaRPr lang="en-US" b="1" dirty="0"/>
          </a:p>
          <a:p>
            <a:r>
              <a:rPr lang="en-US" b="1" dirty="0" err="1"/>
              <a:t>Blastoidea</a:t>
            </a:r>
            <a:r>
              <a:rPr lang="en-US" b="1" dirty="0"/>
              <a:t> – Ordovician to Permian</a:t>
            </a:r>
          </a:p>
          <a:p>
            <a:r>
              <a:rPr lang="en-US" b="1" dirty="0"/>
              <a:t>Ammonoidea – Devonian to Cretaceous</a:t>
            </a:r>
          </a:p>
          <a:p>
            <a:r>
              <a:rPr lang="en-US" b="1" dirty="0"/>
              <a:t>Reptile Skull – Pennsylvanian </a:t>
            </a:r>
            <a:r>
              <a:rPr lang="en-US" sz="1400" b="1" dirty="0"/>
              <a:t>(late Carboniferous) </a:t>
            </a:r>
            <a:r>
              <a:rPr lang="en-US" b="1" dirty="0"/>
              <a:t>to Recent</a:t>
            </a:r>
          </a:p>
          <a:p>
            <a:r>
              <a:rPr lang="en-US" b="1" dirty="0"/>
              <a:t>Tabulate Corals – Ordovician to Permian</a:t>
            </a:r>
          </a:p>
          <a:p>
            <a:r>
              <a:rPr lang="en-US" b="1" dirty="0"/>
              <a:t>RANGE: PENNSYLVANIAN TO PERMIAN</a:t>
            </a:r>
          </a:p>
          <a:p>
            <a:endParaRPr lang="en-US" b="1" dirty="0"/>
          </a:p>
          <a:p>
            <a:endParaRPr lang="en-US" sz="3200" b="1" dirty="0"/>
          </a:p>
          <a:p>
            <a:endParaRPr lang="en-US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88F7EC-BC33-474E-B1C2-7A28BB04C16F}"/>
              </a:ext>
            </a:extLst>
          </p:cNvPr>
          <p:cNvCxnSpPr>
            <a:cxnSpLocks/>
          </p:cNvCxnSpPr>
          <p:nvPr/>
        </p:nvCxnSpPr>
        <p:spPr>
          <a:xfrm>
            <a:off x="6216534" y="529235"/>
            <a:ext cx="898542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D7B7BA83-DB92-4CD9-AE2C-57E89C519DFB}"/>
              </a:ext>
            </a:extLst>
          </p:cNvPr>
          <p:cNvSpPr/>
          <p:nvPr/>
        </p:nvSpPr>
        <p:spPr>
          <a:xfrm rot="16200000">
            <a:off x="1690332" y="3641678"/>
            <a:ext cx="825818" cy="189593"/>
          </a:xfrm>
          <a:prstGeom prst="left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309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891</Words>
  <Application>Microsoft Office PowerPoint</Application>
  <PresentationFormat>Widescreen</PresentationFormat>
  <Paragraphs>406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Office Theme</vt:lpstr>
      <vt:lpstr>Stratigraphic Age Determination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Geologic Age Determination From Index Fossils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Stratigraphic Age Determination</dc:title>
  <dc:creator>Izold, Mark</dc:creator>
  <cp:lastModifiedBy>Izold, Mark</cp:lastModifiedBy>
  <cp:revision>14</cp:revision>
  <dcterms:created xsi:type="dcterms:W3CDTF">2020-04-22T23:17:36Z</dcterms:created>
  <dcterms:modified xsi:type="dcterms:W3CDTF">2020-04-23T19:56:20Z</dcterms:modified>
</cp:coreProperties>
</file>